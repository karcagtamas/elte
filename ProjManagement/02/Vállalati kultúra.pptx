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8" r:id="rId3"/>
    <p:sldId id="435" r:id="rId4"/>
    <p:sldId id="432" r:id="rId5"/>
    <p:sldId id="433" r:id="rId6"/>
    <p:sldId id="347" r:id="rId7"/>
    <p:sldId id="350" r:id="rId8"/>
    <p:sldId id="348" r:id="rId9"/>
    <p:sldId id="349" r:id="rId10"/>
    <p:sldId id="351" r:id="rId11"/>
    <p:sldId id="352" r:id="rId12"/>
    <p:sldId id="353" r:id="rId13"/>
    <p:sldId id="354" r:id="rId14"/>
    <p:sldId id="436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431" r:id="rId24"/>
    <p:sldId id="313" r:id="rId25"/>
    <p:sldId id="401" r:id="rId26"/>
    <p:sldId id="331" r:id="rId27"/>
    <p:sldId id="343" r:id="rId28"/>
    <p:sldId id="344" r:id="rId29"/>
    <p:sldId id="408" r:id="rId30"/>
  </p:sldIdLst>
  <p:sldSz cx="9144000" cy="6858000" type="screen4x3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niko Ilyes" initials="EI" lastIdx="1" clrIdx="0">
    <p:extLst>
      <p:ext uri="{19B8F6BF-5375-455C-9EA6-DF929625EA0E}">
        <p15:presenceInfo xmlns:p15="http://schemas.microsoft.com/office/powerpoint/2012/main" userId="073219e8400ee53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948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6" autoAdjust="0"/>
    <p:restoredTop sz="94591" autoAdjust="0"/>
  </p:normalViewPr>
  <p:slideViewPr>
    <p:cSldViewPr>
      <p:cViewPr varScale="1">
        <p:scale>
          <a:sx n="67" d="100"/>
          <a:sy n="67" d="100"/>
        </p:scale>
        <p:origin x="36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100" d="100"/>
          <a:sy n="100" d="100"/>
        </p:scale>
        <p:origin x="3115" y="-394"/>
      </p:cViewPr>
      <p:guideLst>
        <p:guide orient="horz" pos="3156"/>
        <p:guide pos="217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1009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1009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fld id="{C5480E4B-253C-4CAC-8645-D1B61B519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76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11-05T15:47:57.823"/>
    </inkml:context>
    <inkml:brush xml:id="br0">
      <inkml:brushProperty name="width" value="0.04" units="cm"/>
      <inkml:brushProperty name="height" value="0.04" units="cm"/>
      <inkml:brushProperty name="color" value="#E71224"/>
      <inkml:brushProperty name="ignorePressure" value="1"/>
    </inkml:brush>
  </inkml:definitions>
  <inkml:trace contextRef="#ctx0" brushRef="#br0">5129 2255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1009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1388" y="752475"/>
            <a:ext cx="5005387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7" y="4758157"/>
            <a:ext cx="5510211" cy="4508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1009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fld id="{747A745F-031D-4129-9C3D-4CC2DEC5AB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940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4682"/>
            <a:fld id="{4C522B52-1AD6-4857-B50D-D2E2420124D7}" type="slidenum">
              <a:rPr lang="en-US" smtClean="0"/>
              <a:pPr defTabSz="964682"/>
              <a:t>1</a:t>
            </a:fld>
            <a:endParaRPr lang="en-US" dirty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7985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25C83CDD-B582-4AE8-942B-06B8CD7890D7}" type="slidenum">
              <a:rPr lang="en-US" smtClean="0"/>
              <a:pPr defTabSz="989154"/>
              <a:t>2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hu-HU"/>
              <a:t>A projektek működése nem választható el a vállalat működésétől, a vállalat működése nem választható el a környező gazdaság működésétől.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06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25C83CDD-B582-4AE8-942B-06B8CD7890D7}" type="slidenum">
              <a:rPr lang="en-US" smtClean="0"/>
              <a:pPr defTabSz="989154"/>
              <a:t>3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hu-HU"/>
              <a:t>A projektek működése nem választható el a vállalat működésétől, a vállalat működése nem választható el a környező gazdaság működésétől.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2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C04073C7-8F62-4416-87EF-93BBAA18D13C}" type="slidenum">
              <a:rPr lang="en-US" smtClean="0"/>
              <a:pPr defTabSz="989154"/>
              <a:t>6</a:t>
            </a:fld>
            <a:endParaRPr lang="en-US" dirty="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37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08C93944-BB00-43C7-9706-218C96CBD864}" type="slidenum">
              <a:rPr lang="en-US" smtClean="0"/>
              <a:pPr defTabSz="989154"/>
              <a:t>7</a:t>
            </a:fld>
            <a:endParaRPr lang="en-US" dirty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13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FCD6F0B5-3911-4B30-8CB1-24EF1D69BE72}" type="slidenum">
              <a:rPr lang="en-US" smtClean="0"/>
              <a:pPr defTabSz="989154"/>
              <a:t>8</a:t>
            </a:fld>
            <a:endParaRPr lang="en-US" dirty="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5802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800DD995-1752-47F0-9A2E-4DD9BC0F5AFA}" type="slidenum">
              <a:rPr lang="en-US" smtClean="0"/>
              <a:pPr defTabSz="989154"/>
              <a:t>9</a:t>
            </a:fld>
            <a:endParaRPr lang="en-US" dirty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08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3443954A-FBAA-4404-A906-B34AFEE509B8}" type="slidenum">
              <a:rPr lang="en-US" smtClean="0"/>
              <a:pPr defTabSz="989154"/>
              <a:t>10</a:t>
            </a:fld>
            <a:endParaRPr lang="en-US" dirty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Az </a:t>
            </a:r>
            <a:r>
              <a:rPr lang="hu-HU"/>
              <a:t>Hosszzútávú orientáció </a:t>
            </a:r>
            <a:r>
              <a:rPr lang="en-US"/>
              <a:t>Index néhány gyakorlati következménye:</a:t>
            </a:r>
          </a:p>
          <a:p>
            <a:pPr eaLnBrk="1" hangingPunct="1"/>
            <a:r>
              <a:rPr lang="en-US"/>
              <a:t> </a:t>
            </a:r>
          </a:p>
          <a:p>
            <a:pPr eaLnBrk="1" hangingPunct="1"/>
            <a:r>
              <a:rPr lang="en-US"/>
              <a:t>Magas</a:t>
            </a:r>
            <a:r>
              <a:rPr lang="hu-HU"/>
              <a:t>			</a:t>
            </a:r>
            <a:r>
              <a:rPr lang="en-US"/>
              <a:t>Alacsony</a:t>
            </a:r>
            <a:endParaRPr lang="hu-HU"/>
          </a:p>
          <a:p>
            <a:pPr eaLnBrk="1" hangingPunct="1"/>
            <a:r>
              <a:rPr lang="en-US"/>
              <a:t>Pragmatikus</a:t>
            </a:r>
            <a:r>
              <a:rPr lang="hu-HU"/>
              <a:t>			</a:t>
            </a:r>
            <a:r>
              <a:rPr lang="en-US"/>
              <a:t>Hagyománytisztelő</a:t>
            </a:r>
            <a:br>
              <a:rPr lang="en-US"/>
            </a:br>
            <a:r>
              <a:rPr lang="en-US"/>
              <a:t>Hosszú távú orientáció</a:t>
            </a:r>
            <a:r>
              <a:rPr lang="hu-HU"/>
              <a:t>		 </a:t>
            </a:r>
            <a:r>
              <a:rPr lang="en-US"/>
              <a:t>Rövid távú orientáció</a:t>
            </a:r>
            <a:r>
              <a:rPr lang="hu-HU"/>
              <a:t> </a:t>
            </a:r>
            <a:br>
              <a:rPr lang="en-US"/>
            </a:br>
            <a:r>
              <a:rPr lang="en-US"/>
              <a:t>A változás elfogadása</a:t>
            </a:r>
            <a:r>
              <a:rPr lang="hu-HU"/>
              <a:t>		</a:t>
            </a:r>
            <a:r>
              <a:rPr lang="en-US"/>
              <a:t>Stabilitáskereső</a:t>
            </a:r>
            <a:br>
              <a:rPr lang="en-US"/>
            </a:br>
            <a:r>
              <a:rPr lang="en-US"/>
              <a:t>Állhatatosság</a:t>
            </a:r>
            <a:r>
              <a:rPr lang="hu-HU"/>
              <a:t>			</a:t>
            </a:r>
            <a:r>
              <a:rPr lang="en-US"/>
              <a:t>Gyors eredményeket vár</a:t>
            </a:r>
            <a:br>
              <a:rPr lang="en-US"/>
            </a:br>
            <a:r>
              <a:rPr lang="en-US"/>
              <a:t>Takarékos, hogy beruházzon</a:t>
            </a:r>
            <a:r>
              <a:rPr lang="hu-HU"/>
              <a:t>	</a:t>
            </a:r>
            <a:r>
              <a:rPr lang="en-US"/>
              <a:t>Éljünk a mának</a:t>
            </a:r>
          </a:p>
          <a:p>
            <a:pPr eaLnBrk="1" hangingPunct="1"/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81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A9FE6301-E2BE-4CBF-B34C-25A9C65B125D}" type="slidenum">
              <a:rPr lang="en-US" smtClean="0"/>
              <a:pPr defTabSz="989154"/>
              <a:t>11</a:t>
            </a:fld>
            <a:endParaRPr lang="en-US" dirty="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1153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747CA2AE-96A8-4B4A-9A5E-C23F2D63D4D8}" type="slidenum">
              <a:rPr lang="en-US" smtClean="0"/>
              <a:pPr defTabSz="989154"/>
              <a:t>12</a:t>
            </a:fld>
            <a:endParaRPr lang="en-US" dirty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3764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D451475E-E4F9-4DA7-B764-EDBBBF55D7FE}" type="slidenum">
              <a:rPr lang="en-US" smtClean="0"/>
              <a:pPr defTabSz="989154"/>
              <a:t>13</a:t>
            </a:fld>
            <a:endParaRPr lang="en-US" dirty="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49924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A38CEF34-467C-4F8E-B322-D27009885C0E}" type="slidenum">
              <a:rPr lang="en-US" smtClean="0"/>
              <a:pPr defTabSz="989154"/>
              <a:t>15</a:t>
            </a:fld>
            <a:endParaRPr lang="en-US" dirty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hu-HU" sz="800" dirty="0"/>
              <a:t>Egy </a:t>
            </a:r>
            <a:r>
              <a:rPr lang="hu-HU" sz="800" dirty="0" err="1"/>
              <a:t>definició</a:t>
            </a:r>
            <a:r>
              <a:rPr lang="hu-HU" sz="800" dirty="0"/>
              <a:t> az internetről </a:t>
            </a:r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http://www.humanmanagement.hu/hrszotar.htm</a:t>
            </a:r>
          </a:p>
          <a:p>
            <a:pPr eaLnBrk="1" hangingPunct="1">
              <a:lnSpc>
                <a:spcPct val="80000"/>
              </a:lnSpc>
            </a:pPr>
            <a:endParaRPr lang="hu-HU" sz="800" dirty="0"/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„Vállalati kultúra - </a:t>
            </a:r>
            <a:r>
              <a:rPr lang="hu-HU" sz="800" dirty="0" err="1"/>
              <a:t>Company</a:t>
            </a:r>
            <a:r>
              <a:rPr lang="hu-HU" sz="800" dirty="0"/>
              <a:t>/</a:t>
            </a:r>
            <a:r>
              <a:rPr lang="hu-HU" sz="800" dirty="0" err="1"/>
              <a:t>coorporate</a:t>
            </a:r>
            <a:r>
              <a:rPr lang="hu-HU" sz="800" dirty="0"/>
              <a:t> </a:t>
            </a:r>
            <a:r>
              <a:rPr lang="hu-HU" sz="800" dirty="0" err="1"/>
              <a:t>culture</a:t>
            </a:r>
            <a:endParaRPr lang="hu-HU" sz="800" dirty="0"/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egy adott csoport által a külső alkalmazkodás és a belső integráció érdekében kitalált, felfedezett és továbbfejlesztett alapelképzelések sora”</a:t>
            </a:r>
          </a:p>
          <a:p>
            <a:pPr eaLnBrk="1" hangingPunct="1">
              <a:lnSpc>
                <a:spcPct val="80000"/>
              </a:lnSpc>
            </a:pPr>
            <a:endParaRPr lang="hu-HU" sz="800" dirty="0"/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Az adott vállalat belső szokásrendje, elfogadott morálja és stílusa.</a:t>
            </a:r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Nehezen leírható, definiálható: benne van a levegőben. Láthatatlan körülmények.</a:t>
            </a:r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A vállalat együtt megélt és hivatkozott története, történelme. A vállalati legendárium. Anekdoták. Elvonulások. </a:t>
            </a:r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A feletteshez fűződő viszony, vagy a kollégák közötti kapcsolatok minősége és közelisége.</a:t>
            </a:r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Nem csupán céges pólóról, csütörtöki sörözésről vagy hétvégi kirándulásról van szó (bár arról is). A lényeg, ami elősegíti a hatékonyabb, </a:t>
            </a:r>
            <a:r>
              <a:rPr lang="hu-HU" sz="800" dirty="0" err="1"/>
              <a:t>minőségibb</a:t>
            </a:r>
            <a:r>
              <a:rPr lang="hu-HU" sz="800" dirty="0"/>
              <a:t> munkát az egymás iránti figyelem, a közös cselekvés, az összehangoltság. </a:t>
            </a:r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A szervezeti kultúrára irányuló kutatások körülbelül húsz évvel ezelőtt kaptak lendületet. Habár sok kutató megkísérelt egységes fogalmi rendszert létrehozni a témával kapcsolatban, általánosan elfogadott definíció még nem született. </a:t>
            </a:r>
          </a:p>
          <a:p>
            <a:pPr eaLnBrk="1" hangingPunct="1">
              <a:lnSpc>
                <a:spcPct val="80000"/>
              </a:lnSpc>
            </a:pPr>
            <a:endParaRPr lang="hu-HU" sz="800" dirty="0"/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Hegedüs Sára: http://www.palya.hu/dolgozat/dolgozat.cfm?id=1690:</a:t>
            </a:r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„Az egyik definíció szerint a vállalati kultúra azon hitek és értékek együttese, amelyeket a vállalati dolgozók egyes generációi átörökítenek egymásra. Ezek az értékek egyben viselkedési szabályokat is meghatároznak, vagyis azt, hogy mi tekinthető elfogadható magatartásnak a különböző beosztásokban. Mivel ebben az esetben nehezen mérhető fogalomról van szó, idézünk még néhány értelmezést, hogy közelebb kerülhessünk a vállalati kultúra méréséhez. </a:t>
            </a:r>
          </a:p>
          <a:p>
            <a:pPr eaLnBrk="1" hangingPunct="1">
              <a:lnSpc>
                <a:spcPct val="80000"/>
              </a:lnSpc>
            </a:pPr>
            <a:endParaRPr lang="hu-HU" sz="800" dirty="0"/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Egy másik megfogalmazás szerint a szervezeti kultúra a következő elemekből épül fel: </a:t>
            </a:r>
          </a:p>
          <a:p>
            <a:pPr eaLnBrk="1" hangingPunct="1">
              <a:lnSpc>
                <a:spcPct val="80000"/>
              </a:lnSpc>
            </a:pPr>
            <a:endParaRPr lang="hu-HU" sz="800" dirty="0"/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- a dolgozók magatartása a felmerülő problémákkal kapcsolatban</a:t>
            </a:r>
          </a:p>
          <a:p>
            <a:pPr eaLnBrk="1" hangingPunct="1">
              <a:lnSpc>
                <a:spcPct val="80000"/>
              </a:lnSpc>
            </a:pPr>
            <a:endParaRPr lang="hu-HU" sz="800" dirty="0"/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- a szervezeti tagok részvételének mértéke a vállalati problémák megoldásában</a:t>
            </a:r>
          </a:p>
          <a:p>
            <a:pPr eaLnBrk="1" hangingPunct="1">
              <a:lnSpc>
                <a:spcPct val="80000"/>
              </a:lnSpc>
            </a:pPr>
            <a:endParaRPr lang="hu-HU" sz="800" dirty="0"/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- a tagok közötti kapcsolat és kommunikáció milyensége</a:t>
            </a:r>
          </a:p>
          <a:p>
            <a:pPr eaLnBrk="1" hangingPunct="1">
              <a:lnSpc>
                <a:spcPct val="80000"/>
              </a:lnSpc>
            </a:pPr>
            <a:endParaRPr lang="hu-HU" sz="800" dirty="0"/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A legújabb definíció szerint a következő tényezőkből kell kiindulnunk:</a:t>
            </a:r>
          </a:p>
          <a:p>
            <a:pPr eaLnBrk="1" hangingPunct="1">
              <a:lnSpc>
                <a:spcPct val="80000"/>
              </a:lnSpc>
            </a:pPr>
            <a:endParaRPr lang="hu-HU" sz="800" dirty="0"/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- mindenki által elfogadott értékek létezése</a:t>
            </a:r>
          </a:p>
          <a:p>
            <a:pPr eaLnBrk="1" hangingPunct="1">
              <a:lnSpc>
                <a:spcPct val="80000"/>
              </a:lnSpc>
            </a:pPr>
            <a:endParaRPr lang="hu-HU" sz="800" dirty="0"/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- új munkatársak kiválasztásával kapcsolatos elvek</a:t>
            </a:r>
          </a:p>
          <a:p>
            <a:pPr eaLnBrk="1" hangingPunct="1">
              <a:lnSpc>
                <a:spcPct val="80000"/>
              </a:lnSpc>
            </a:pPr>
            <a:endParaRPr lang="hu-HU" sz="800" dirty="0"/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- a vállalaton belüli hatalom, döntési jog és státuszok elosztása</a:t>
            </a:r>
          </a:p>
          <a:p>
            <a:pPr eaLnBrk="1" hangingPunct="1">
              <a:lnSpc>
                <a:spcPct val="80000"/>
              </a:lnSpc>
            </a:pPr>
            <a:endParaRPr lang="hu-HU" sz="800" dirty="0"/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- teljesítmény értékelése</a:t>
            </a:r>
          </a:p>
          <a:p>
            <a:pPr eaLnBrk="1" hangingPunct="1">
              <a:lnSpc>
                <a:spcPct val="80000"/>
              </a:lnSpc>
            </a:pPr>
            <a:endParaRPr lang="hu-HU" sz="800" dirty="0"/>
          </a:p>
          <a:p>
            <a:pPr eaLnBrk="1" hangingPunct="1">
              <a:lnSpc>
                <a:spcPct val="80000"/>
              </a:lnSpc>
            </a:pPr>
            <a:r>
              <a:rPr lang="hu-HU" sz="800" dirty="0"/>
              <a:t>- a szervezeti tagok közötti kapcsolatok befolyásolása”</a:t>
            </a:r>
          </a:p>
          <a:p>
            <a:pPr eaLnBrk="1" hangingPunct="1">
              <a:lnSpc>
                <a:spcPct val="80000"/>
              </a:lnSpc>
            </a:pPr>
            <a:endParaRPr lang="hu-HU" sz="800" dirty="0"/>
          </a:p>
        </p:txBody>
      </p:sp>
    </p:spTree>
    <p:extLst>
      <p:ext uri="{BB962C8B-B14F-4D97-AF65-F5344CB8AC3E}">
        <p14:creationId xmlns:p14="http://schemas.microsoft.com/office/powerpoint/2010/main" val="2503446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A484C246-1504-420D-BAA6-FA0D1BF13D63}" type="slidenum">
              <a:rPr lang="en-US" smtClean="0"/>
              <a:pPr defTabSz="989154"/>
              <a:t>18</a:t>
            </a:fld>
            <a:endParaRPr lang="en-US" dirty="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793" y="4860692"/>
            <a:ext cx="5205715" cy="4605742"/>
          </a:xfrm>
          <a:noFill/>
          <a:ln/>
        </p:spPr>
        <p:txBody>
          <a:bodyPr/>
          <a:lstStyle/>
          <a:p>
            <a:pPr eaLnBrk="1" hangingPunct="1"/>
            <a:r>
              <a:rPr lang="hu-HU"/>
              <a:t>Ez némileg ellentmondásban van a vezetés grid elméletével, ahol a vezetők lehetnek egyszerre ember és munka orientáltak. Az ellentmondás úgy oldható fel, hogy az egyének lehetnek ember és munka orientácioóuka, de a szervezetek általában valamelyik irányban húznak.</a:t>
            </a:r>
          </a:p>
        </p:txBody>
      </p:sp>
    </p:spTree>
    <p:extLst>
      <p:ext uri="{BB962C8B-B14F-4D97-AF65-F5344CB8AC3E}">
        <p14:creationId xmlns:p14="http://schemas.microsoft.com/office/powerpoint/2010/main" val="35710498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F8B306B4-A5FD-45C5-9437-8B86BF0D515E}" type="slidenum">
              <a:rPr lang="en-US" smtClean="0"/>
              <a:pPr defTabSz="989154"/>
              <a:t>20</a:t>
            </a:fld>
            <a:endParaRPr lang="en-US" dirty="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793" y="4860692"/>
            <a:ext cx="5205715" cy="4605742"/>
          </a:xfrm>
          <a:noFill/>
          <a:ln/>
        </p:spPr>
        <p:txBody>
          <a:bodyPr/>
          <a:lstStyle/>
          <a:p>
            <a:pPr eaLnBrk="1" hangingPunct="1"/>
            <a:r>
              <a:rPr lang="hu-HU"/>
              <a:t>Ez a 6 dimenzió közül az egyetlen, amely korrelációban van a hordozó nemzettel: Dán vállalatok például nyitottabbak tűntek, mint a Hollandok. (De azért volt egy dán szervezet, amely nagyon zártnak bizonyult.)</a:t>
            </a:r>
          </a:p>
        </p:txBody>
      </p:sp>
    </p:spTree>
    <p:extLst>
      <p:ext uri="{BB962C8B-B14F-4D97-AF65-F5344CB8AC3E}">
        <p14:creationId xmlns:p14="http://schemas.microsoft.com/office/powerpoint/2010/main" val="4092295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154"/>
            <a:fld id="{29D9A3E1-7C6D-4AAD-907A-66AB39B706D5}" type="slidenum">
              <a:rPr lang="en-US" smtClean="0"/>
              <a:pPr defTabSz="989154"/>
              <a:t>21</a:t>
            </a:fld>
            <a:endParaRPr lang="en-US" dirty="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793" y="4860692"/>
            <a:ext cx="5205715" cy="4605742"/>
          </a:xfrm>
          <a:noFill/>
          <a:ln/>
        </p:spPr>
        <p:txBody>
          <a:bodyPr/>
          <a:lstStyle/>
          <a:p>
            <a:pPr eaLnBrk="1" hangingPunct="1"/>
            <a:r>
              <a:rPr lang="hu-HU"/>
              <a:t>A szoros irányítású vállalatoknál – legalábbis statisztikailag – szigorúbb íratlan öltözködési szabályok és tiszteletteljesebb viselkedés.</a:t>
            </a:r>
          </a:p>
        </p:txBody>
      </p:sp>
    </p:spTree>
    <p:extLst>
      <p:ext uri="{BB962C8B-B14F-4D97-AF65-F5344CB8AC3E}">
        <p14:creationId xmlns:p14="http://schemas.microsoft.com/office/powerpoint/2010/main" val="29685843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EC5939-0BC7-435E-ADAF-F22F51B5AF44}" type="slidenum">
              <a:rPr lang="en-US"/>
              <a:pPr/>
              <a:t>24</a:t>
            </a:fld>
            <a:endParaRPr lang="en-US"/>
          </a:p>
        </p:txBody>
      </p:sp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65563" y="5032376"/>
            <a:ext cx="2760662" cy="4605338"/>
          </a:xfrm>
        </p:spPr>
        <p:txBody>
          <a:bodyPr/>
          <a:lstStyle/>
          <a:p>
            <a:r>
              <a:rPr lang="hu-HU" sz="700" b="1" dirty="0"/>
              <a:t>Udvarlás- Rendhagyó:</a:t>
            </a:r>
          </a:p>
          <a:p>
            <a:r>
              <a:rPr lang="hu-HU" sz="700" dirty="0"/>
              <a:t>Az elkötelezettséget nem vetik alá valóságpróbának</a:t>
            </a:r>
          </a:p>
          <a:p>
            <a:r>
              <a:rPr lang="hu-HU" sz="700" dirty="0"/>
              <a:t>Túlzottan fanatikus alapító</a:t>
            </a:r>
          </a:p>
          <a:p>
            <a:r>
              <a:rPr lang="hu-HU" sz="700" dirty="0"/>
              <a:t>Kizárólag megtérülés, ill. hozamirányultság</a:t>
            </a:r>
          </a:p>
          <a:p>
            <a:r>
              <a:rPr lang="hu-HU" sz="700" dirty="0"/>
              <a:t>Az elkötelezettség nem áll arányban a kockázattal</a:t>
            </a:r>
          </a:p>
          <a:p>
            <a:r>
              <a:rPr lang="hu-HU" sz="700" dirty="0"/>
              <a:t>Az alapító irányító szerepe gyenge</a:t>
            </a:r>
          </a:p>
          <a:p>
            <a:r>
              <a:rPr lang="hu-HU" sz="700" b="1" dirty="0"/>
              <a:t>Csecsemőkorszak – rendhagyó</a:t>
            </a:r>
            <a:endParaRPr lang="hu-HU" sz="700" dirty="0"/>
          </a:p>
          <a:p>
            <a:r>
              <a:rPr lang="hu-HU" sz="700" dirty="0"/>
              <a:t>A nehézségek nyomán megszűnik  az elkötelezettség</a:t>
            </a:r>
          </a:p>
          <a:p>
            <a:r>
              <a:rPr lang="hu-HU" sz="700" dirty="0"/>
              <a:t>Krónikus negatív pénzáramlás</a:t>
            </a:r>
          </a:p>
          <a:p>
            <a:r>
              <a:rPr lang="hu-HU" sz="700" dirty="0"/>
              <a:t>Túlságosan korai hatáskör-átruházás</a:t>
            </a:r>
          </a:p>
          <a:p>
            <a:r>
              <a:rPr lang="hu-HU" sz="700" dirty="0"/>
              <a:t>Túlságosan korai szabályok, rendszerek, eljárások</a:t>
            </a:r>
          </a:p>
          <a:p>
            <a:r>
              <a:rPr lang="hu-HU" sz="700" dirty="0"/>
              <a:t>Az alapító kezéből kicsúszik az irányítás</a:t>
            </a:r>
          </a:p>
          <a:p>
            <a:r>
              <a:rPr lang="hu-HU" sz="700" dirty="0"/>
              <a:t>Semmi odafigyelés, </a:t>
            </a:r>
            <a:r>
              <a:rPr lang="hu-HU" sz="700" dirty="0" err="1"/>
              <a:t>fennhélyázás</a:t>
            </a:r>
            <a:endParaRPr lang="hu-HU" sz="700" dirty="0"/>
          </a:p>
          <a:p>
            <a:r>
              <a:rPr lang="hu-HU" sz="700" dirty="0"/>
              <a:t>Nincs helye a </a:t>
            </a:r>
            <a:r>
              <a:rPr lang="hu-HU" sz="700" dirty="0" err="1"/>
              <a:t>hibáknak.ű</a:t>
            </a:r>
            <a:endParaRPr lang="hu-HU" sz="700" dirty="0"/>
          </a:p>
          <a:p>
            <a:r>
              <a:rPr lang="hu-HU" sz="700" dirty="0"/>
              <a:t>Nincs támogatás a család részéről.</a:t>
            </a:r>
          </a:p>
          <a:p>
            <a:r>
              <a:rPr lang="hu-HU" sz="700" dirty="0"/>
              <a:t>Az alapító elidegeníti a külső beavatkozást</a:t>
            </a:r>
          </a:p>
          <a:p>
            <a:r>
              <a:rPr lang="hu-HU" sz="700" b="1" dirty="0"/>
              <a:t>Serdülőkor – kóros</a:t>
            </a:r>
          </a:p>
          <a:p>
            <a:r>
              <a:rPr lang="hu-HU" sz="700" dirty="0"/>
              <a:t>Vissza a gyerünk-gyerünk szakaszba és az alapítói kelepcébe</a:t>
            </a:r>
          </a:p>
          <a:p>
            <a:r>
              <a:rPr lang="hu-HU" sz="700" dirty="0"/>
              <a:t>Távoznak a vállalkozók, az irányítást az adminisztrátorok veszik át</a:t>
            </a:r>
          </a:p>
          <a:p>
            <a:r>
              <a:rPr lang="hu-HU" sz="700" dirty="0"/>
              <a:t>Kiszorítják az alapítót</a:t>
            </a:r>
          </a:p>
          <a:p>
            <a:r>
              <a:rPr lang="hu-HU" sz="700" dirty="0" err="1"/>
              <a:t>Azemberek</a:t>
            </a:r>
            <a:r>
              <a:rPr lang="hu-HU" sz="700" dirty="0"/>
              <a:t> prémiumot kapnak egyéni teljesítményükért, közben a vállalat veszteséges</a:t>
            </a:r>
          </a:p>
          <a:p>
            <a:r>
              <a:rPr lang="hu-HU" sz="700" dirty="0"/>
              <a:t>A hatalom egyik kézből a másikba csúszik, a vállalat megbénul</a:t>
            </a:r>
          </a:p>
          <a:p>
            <a:r>
              <a:rPr lang="hu-HU" sz="700" b="1" dirty="0"/>
              <a:t>Férfikor – kóros</a:t>
            </a:r>
          </a:p>
          <a:p>
            <a:r>
              <a:rPr lang="hu-HU" sz="700" dirty="0"/>
              <a:t>Önelégültség</a:t>
            </a:r>
          </a:p>
          <a:p>
            <a:r>
              <a:rPr lang="hu-HU" sz="700" dirty="0"/>
              <a:t>…</a:t>
            </a:r>
          </a:p>
          <a:p>
            <a:endParaRPr lang="hu-HU" sz="700" dirty="0"/>
          </a:p>
          <a:p>
            <a:endParaRPr lang="hu-HU" sz="700" dirty="0"/>
          </a:p>
          <a:p>
            <a:endParaRPr lang="en-US" sz="700" dirty="0"/>
          </a:p>
        </p:txBody>
      </p: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631826" y="5032376"/>
            <a:ext cx="3074988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9035" tIns="49517" rIns="99035" bIns="49517"/>
          <a:lstStyle/>
          <a:p>
            <a:pPr>
              <a:spcBef>
                <a:spcPct val="30000"/>
              </a:spcBef>
            </a:pPr>
            <a:r>
              <a:rPr lang="hu-HU" sz="800" b="1" dirty="0"/>
              <a:t>Udvarlás - Szokásos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Valóban tesztelt izgalom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Reálisan elkötelezett alapító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Termékközpontúság, hozzáadott érték iránti elkötelezettség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Kockázat iránti elkötelezettség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Az alapító kézben tartja az irányítást</a:t>
            </a:r>
          </a:p>
          <a:p>
            <a:pPr>
              <a:spcBef>
                <a:spcPct val="30000"/>
              </a:spcBef>
            </a:pPr>
            <a:r>
              <a:rPr lang="hu-HU" sz="800" b="1" dirty="0"/>
              <a:t>Csecsemőkorszak – szokásos</a:t>
            </a:r>
            <a:r>
              <a:rPr lang="hu-HU" sz="800" dirty="0"/>
              <a:t>: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A nehézségek nyomán nem szűnik meg az elkötelezettség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Negatív pénzáramlás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Nincs vállalati </a:t>
            </a:r>
            <a:r>
              <a:rPr lang="hu-HU" sz="800" dirty="0" err="1"/>
              <a:t>hierachia</a:t>
            </a:r>
            <a:endParaRPr lang="hu-HU" sz="800" dirty="0"/>
          </a:p>
          <a:p>
            <a:pPr>
              <a:spcBef>
                <a:spcPct val="30000"/>
              </a:spcBef>
            </a:pPr>
            <a:r>
              <a:rPr lang="hu-HU" sz="800" dirty="0"/>
              <a:t>Nincs hatáskör-átruházás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Egyszemélyes vezetés – de a vezető meghallgat másokat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Hibák elkövetése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Támogatás az otthon, a család részéről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Támogató külső beavatkozás</a:t>
            </a:r>
          </a:p>
          <a:p>
            <a:pPr>
              <a:spcBef>
                <a:spcPct val="30000"/>
              </a:spcBef>
            </a:pPr>
            <a:r>
              <a:rPr lang="hu-HU" sz="800" b="1" dirty="0"/>
              <a:t>Serdülőkor – szokásos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Konfliktusok az adminisztratív és vállalkozói típusok között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A perspektíva átmeneti elvesztése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Az alapító elfogadja a szervezet szuverenitását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A hatáskör-átruházás libikókája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Vállalatpolitikát dolgoznak ki, de nem tartják be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Az igazgatótanács új eszközökkel ellenőrzi a menedzsmentet</a:t>
            </a:r>
          </a:p>
          <a:p>
            <a:pPr>
              <a:spcBef>
                <a:spcPct val="30000"/>
              </a:spcBef>
            </a:pPr>
            <a:r>
              <a:rPr lang="hu-HU" sz="800" b="1" dirty="0"/>
              <a:t>Férfikor – szokásos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A menedzserek hiányos képzettsége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……..</a:t>
            </a:r>
          </a:p>
          <a:p>
            <a:pPr>
              <a:spcBef>
                <a:spcPct val="30000"/>
              </a:spcBef>
            </a:pPr>
            <a:endParaRPr lang="hu-HU" sz="800" dirty="0"/>
          </a:p>
          <a:p>
            <a:pPr>
              <a:spcBef>
                <a:spcPct val="30000"/>
              </a:spcBef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4568683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EC5939-0BC7-435E-ADAF-F22F51B5AF44}" type="slidenum">
              <a:rPr lang="en-US"/>
              <a:pPr/>
              <a:t>25</a:t>
            </a:fld>
            <a:endParaRPr lang="en-US"/>
          </a:p>
        </p:txBody>
      </p:sp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65563" y="5032376"/>
            <a:ext cx="2760662" cy="4605338"/>
          </a:xfrm>
        </p:spPr>
        <p:txBody>
          <a:bodyPr/>
          <a:lstStyle/>
          <a:p>
            <a:r>
              <a:rPr lang="hu-HU" sz="700" b="1" dirty="0"/>
              <a:t>Udvarlás- Rendhagyó:</a:t>
            </a:r>
          </a:p>
          <a:p>
            <a:r>
              <a:rPr lang="hu-HU" sz="700" dirty="0"/>
              <a:t>Az elkötelezettséget nem vetik alá valóságpróbának</a:t>
            </a:r>
          </a:p>
          <a:p>
            <a:r>
              <a:rPr lang="hu-HU" sz="700" dirty="0"/>
              <a:t>Túlzottan fanatikus alapító</a:t>
            </a:r>
          </a:p>
          <a:p>
            <a:r>
              <a:rPr lang="hu-HU" sz="700" dirty="0"/>
              <a:t>Kizárólag megtérülés, ill. hozamirányultság</a:t>
            </a:r>
          </a:p>
          <a:p>
            <a:r>
              <a:rPr lang="hu-HU" sz="700" dirty="0"/>
              <a:t>Az elkötelezettség nem áll arányban a kockázattal</a:t>
            </a:r>
          </a:p>
          <a:p>
            <a:r>
              <a:rPr lang="hu-HU" sz="700" dirty="0"/>
              <a:t>Az alapító irányító szerepe gyenge</a:t>
            </a:r>
          </a:p>
          <a:p>
            <a:r>
              <a:rPr lang="hu-HU" sz="700" b="1" dirty="0"/>
              <a:t>Csecsemőkorszak – rendhagyó</a:t>
            </a:r>
            <a:endParaRPr lang="hu-HU" sz="700" dirty="0"/>
          </a:p>
          <a:p>
            <a:r>
              <a:rPr lang="hu-HU" sz="700" dirty="0"/>
              <a:t>A nehézségek nyomán megszűnik  az elkötelezettség</a:t>
            </a:r>
          </a:p>
          <a:p>
            <a:r>
              <a:rPr lang="hu-HU" sz="700" dirty="0"/>
              <a:t>Krónikus negatív pénzáramlás</a:t>
            </a:r>
          </a:p>
          <a:p>
            <a:r>
              <a:rPr lang="hu-HU" sz="700" dirty="0"/>
              <a:t>Túlságosan korai hatáskör-átruházás</a:t>
            </a:r>
          </a:p>
          <a:p>
            <a:r>
              <a:rPr lang="hu-HU" sz="700" dirty="0"/>
              <a:t>Túlságosan korai szabályok, rendszerek, eljárások</a:t>
            </a:r>
          </a:p>
          <a:p>
            <a:r>
              <a:rPr lang="hu-HU" sz="700" dirty="0"/>
              <a:t>Az alapító kezéből kicsúszik az irányítás</a:t>
            </a:r>
          </a:p>
          <a:p>
            <a:r>
              <a:rPr lang="hu-HU" sz="700" dirty="0"/>
              <a:t>Semmi odafigyelés, </a:t>
            </a:r>
            <a:r>
              <a:rPr lang="hu-HU" sz="700" dirty="0" err="1"/>
              <a:t>fennhélyázás</a:t>
            </a:r>
            <a:endParaRPr lang="hu-HU" sz="700" dirty="0"/>
          </a:p>
          <a:p>
            <a:r>
              <a:rPr lang="hu-HU" sz="700" dirty="0"/>
              <a:t>Nincs helye a </a:t>
            </a:r>
            <a:r>
              <a:rPr lang="hu-HU" sz="700" dirty="0" err="1"/>
              <a:t>hibáknak.ű</a:t>
            </a:r>
            <a:endParaRPr lang="hu-HU" sz="700" dirty="0"/>
          </a:p>
          <a:p>
            <a:r>
              <a:rPr lang="hu-HU" sz="700" dirty="0"/>
              <a:t>Nincs támogatás a család részéről.</a:t>
            </a:r>
          </a:p>
          <a:p>
            <a:r>
              <a:rPr lang="hu-HU" sz="700" dirty="0"/>
              <a:t>Az alapító elidegeníti a külső beavatkozást</a:t>
            </a:r>
          </a:p>
          <a:p>
            <a:r>
              <a:rPr lang="hu-HU" sz="700" b="1" dirty="0"/>
              <a:t>Serdülőkor – kóros</a:t>
            </a:r>
          </a:p>
          <a:p>
            <a:r>
              <a:rPr lang="hu-HU" sz="700" dirty="0"/>
              <a:t>Vissza a gyerünk-gyerünk szakaszba és az alapítói kelepcébe</a:t>
            </a:r>
          </a:p>
          <a:p>
            <a:r>
              <a:rPr lang="hu-HU" sz="700" dirty="0"/>
              <a:t>Távoznak a vállalkozók, az irányítást az adminisztrátorok veszik át</a:t>
            </a:r>
          </a:p>
          <a:p>
            <a:r>
              <a:rPr lang="hu-HU" sz="700" dirty="0"/>
              <a:t>Kiszorítják az alapítót</a:t>
            </a:r>
          </a:p>
          <a:p>
            <a:r>
              <a:rPr lang="hu-HU" sz="700" dirty="0" err="1"/>
              <a:t>Azemberek</a:t>
            </a:r>
            <a:r>
              <a:rPr lang="hu-HU" sz="700" dirty="0"/>
              <a:t> prémiumot kapnak egyéni teljesítményükért, közben a vállalat veszteséges</a:t>
            </a:r>
          </a:p>
          <a:p>
            <a:r>
              <a:rPr lang="hu-HU" sz="700" dirty="0"/>
              <a:t>A hatalom egyik kézből a másikba csúszik, a vállalat megbénul</a:t>
            </a:r>
          </a:p>
          <a:p>
            <a:r>
              <a:rPr lang="hu-HU" sz="700" b="1" dirty="0"/>
              <a:t>Férfikor – kóros</a:t>
            </a:r>
          </a:p>
          <a:p>
            <a:r>
              <a:rPr lang="hu-HU" sz="700" dirty="0"/>
              <a:t>Önelégültség</a:t>
            </a:r>
          </a:p>
          <a:p>
            <a:r>
              <a:rPr lang="hu-HU" sz="700" dirty="0"/>
              <a:t>…</a:t>
            </a:r>
          </a:p>
          <a:p>
            <a:endParaRPr lang="hu-HU" sz="700" dirty="0"/>
          </a:p>
          <a:p>
            <a:endParaRPr lang="hu-HU" sz="700" dirty="0"/>
          </a:p>
          <a:p>
            <a:endParaRPr lang="en-US" sz="700" dirty="0"/>
          </a:p>
        </p:txBody>
      </p: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631826" y="5032376"/>
            <a:ext cx="3074988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9035" tIns="49517" rIns="99035" bIns="49517"/>
          <a:lstStyle/>
          <a:p>
            <a:pPr>
              <a:spcBef>
                <a:spcPct val="30000"/>
              </a:spcBef>
            </a:pPr>
            <a:r>
              <a:rPr lang="hu-HU" sz="800" b="1" dirty="0"/>
              <a:t>Udvarlás - Szokásos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Valóban tesztelt izgalom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Reálisan elkötelezett alapító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Termékközpontúság, hozzáadott érték iránti elkötelezettség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Kockázat iránti elkötelezettség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Az alapító kézben tartja az irányítást</a:t>
            </a:r>
          </a:p>
          <a:p>
            <a:pPr>
              <a:spcBef>
                <a:spcPct val="30000"/>
              </a:spcBef>
            </a:pPr>
            <a:r>
              <a:rPr lang="hu-HU" sz="800" b="1" dirty="0"/>
              <a:t>Csecsemőkorszak – szokásos</a:t>
            </a:r>
            <a:r>
              <a:rPr lang="hu-HU" sz="800" dirty="0"/>
              <a:t>: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A nehézségek nyomán nem szűnik meg az elkötelezettség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Negatív pénzáramlás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Nincs vállalati </a:t>
            </a:r>
            <a:r>
              <a:rPr lang="hu-HU" sz="800" dirty="0" err="1"/>
              <a:t>hierachia</a:t>
            </a:r>
            <a:endParaRPr lang="hu-HU" sz="800" dirty="0"/>
          </a:p>
          <a:p>
            <a:pPr>
              <a:spcBef>
                <a:spcPct val="30000"/>
              </a:spcBef>
            </a:pPr>
            <a:r>
              <a:rPr lang="hu-HU" sz="800" dirty="0"/>
              <a:t>Nincs hatáskör-átruházás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Egyszemélyes vezetés – de a vezető meghallgat másokat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Hibák elkövetése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Támogatás az otthon, a család részéről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Támogató külső beavatkozás</a:t>
            </a:r>
          </a:p>
          <a:p>
            <a:pPr>
              <a:spcBef>
                <a:spcPct val="30000"/>
              </a:spcBef>
            </a:pPr>
            <a:r>
              <a:rPr lang="hu-HU" sz="800" b="1" dirty="0"/>
              <a:t>Serdülőkor – szokásos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Konfliktusok az adminisztratív és vállalkozói típusok között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A perspektíva átmeneti elvesztése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Az alapító elfogadja a szervezet szuverenitását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A hatáskör-átruházás libikókája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Vállalatpolitikát dolgoznak ki, de nem tartják be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Az igazgatótanács új eszközökkel ellenőrzi a menedzsmentet</a:t>
            </a:r>
          </a:p>
          <a:p>
            <a:pPr>
              <a:spcBef>
                <a:spcPct val="30000"/>
              </a:spcBef>
            </a:pPr>
            <a:r>
              <a:rPr lang="hu-HU" sz="800" b="1" dirty="0"/>
              <a:t>Férfikor – szokásos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A menedzserek hiányos képzettsége</a:t>
            </a:r>
          </a:p>
          <a:p>
            <a:pPr>
              <a:spcBef>
                <a:spcPct val="30000"/>
              </a:spcBef>
            </a:pPr>
            <a:r>
              <a:rPr lang="hu-HU" sz="800" dirty="0"/>
              <a:t>……..</a:t>
            </a:r>
          </a:p>
          <a:p>
            <a:pPr>
              <a:spcBef>
                <a:spcPct val="30000"/>
              </a:spcBef>
            </a:pPr>
            <a:endParaRPr lang="hu-HU" sz="800" dirty="0"/>
          </a:p>
          <a:p>
            <a:pPr>
              <a:spcBef>
                <a:spcPct val="30000"/>
              </a:spcBef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092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F98CA8-2556-41E7-89E6-A78C1E0C77DA}" type="slidenum">
              <a:rPr lang="en-US"/>
              <a:pPr/>
              <a:t>26</a:t>
            </a:fld>
            <a:endParaRPr lang="en-US"/>
          </a:p>
        </p:txBody>
      </p:sp>
      <p:sp>
        <p:nvSpPr>
          <p:cNvPr id="190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90468" name="Rectangle 4"/>
          <p:cNvSpPr>
            <a:spLocks noChangeArrowheads="1"/>
          </p:cNvSpPr>
          <p:nvPr/>
        </p:nvSpPr>
        <p:spPr bwMode="auto">
          <a:xfrm>
            <a:off x="3865563" y="5032376"/>
            <a:ext cx="2760662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9035" tIns="49517" rIns="99035" bIns="49517"/>
          <a:lstStyle/>
          <a:p>
            <a:pPr>
              <a:spcBef>
                <a:spcPct val="30000"/>
              </a:spcBef>
            </a:pPr>
            <a:endParaRPr lang="hu-HU" sz="700" dirty="0"/>
          </a:p>
        </p:txBody>
      </p:sp>
      <p:sp>
        <p:nvSpPr>
          <p:cNvPr id="190469" name="Rectangle 5"/>
          <p:cNvSpPr>
            <a:spLocks noChangeArrowheads="1"/>
          </p:cNvSpPr>
          <p:nvPr/>
        </p:nvSpPr>
        <p:spPr bwMode="auto">
          <a:xfrm>
            <a:off x="631826" y="5032376"/>
            <a:ext cx="3074988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9035" tIns="49517" rIns="99035" bIns="49517"/>
          <a:lstStyle/>
          <a:p>
            <a:pPr>
              <a:spcBef>
                <a:spcPct val="30000"/>
              </a:spcBef>
            </a:pPr>
            <a:endParaRPr lang="hu-HU" sz="800" dirty="0"/>
          </a:p>
        </p:txBody>
      </p:sp>
      <p:sp>
        <p:nvSpPr>
          <p:cNvPr id="19047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022726" y="5202238"/>
            <a:ext cx="2760663" cy="4605337"/>
          </a:xfrm>
          <a:noFill/>
          <a:ln/>
        </p:spPr>
        <p:txBody>
          <a:bodyPr/>
          <a:lstStyle/>
          <a:p>
            <a:pPr marL="228569" indent="-228569"/>
            <a:r>
              <a:rPr lang="hu-HU" sz="800" b="1" dirty="0"/>
              <a:t>Öregedő vállalatok</a:t>
            </a:r>
          </a:p>
          <a:p>
            <a:pPr marL="228569" indent="-228569">
              <a:buFontTx/>
              <a:buAutoNum type="arabicPeriod"/>
            </a:pPr>
            <a:r>
              <a:rPr lang="hu-HU" sz="800" dirty="0"/>
              <a:t>Az egyéni siker a kockázat kerüléséből ered</a:t>
            </a:r>
          </a:p>
          <a:p>
            <a:pPr marL="228569" indent="-228569">
              <a:buFontTx/>
              <a:buAutoNum type="arabicPeriod"/>
            </a:pPr>
            <a:r>
              <a:rPr lang="hu-HU" sz="800" dirty="0"/>
              <a:t>Az eredmények meghaladják a várakozásokat</a:t>
            </a:r>
          </a:p>
          <a:p>
            <a:pPr marL="228569" indent="-228569">
              <a:buFontTx/>
              <a:buAutoNum type="arabicPeriod"/>
            </a:pPr>
            <a:r>
              <a:rPr lang="hu-HU" sz="800" dirty="0"/>
              <a:t>Sok a likvid tőke</a:t>
            </a:r>
          </a:p>
          <a:p>
            <a:pPr marL="228569" indent="-228569">
              <a:buFontTx/>
              <a:buAutoNum type="arabicPeriod"/>
            </a:pPr>
            <a:r>
              <a:rPr lang="hu-HU" sz="800" dirty="0"/>
              <a:t>A forma hangsúlyozása a funkcióval szemben</a:t>
            </a:r>
          </a:p>
          <a:p>
            <a:pPr marL="228569" indent="-228569">
              <a:buFontTx/>
              <a:buAutoNum type="arabicPeriod"/>
            </a:pPr>
            <a:r>
              <a:rPr lang="hu-HU" sz="800" dirty="0"/>
              <a:t>… a </a:t>
            </a:r>
            <a:r>
              <a:rPr lang="hu-HU" sz="800" i="1" dirty="0"/>
              <a:t>hogyan</a:t>
            </a:r>
            <a:r>
              <a:rPr lang="hu-HU" sz="800" dirty="0"/>
              <a:t> tegyük és </a:t>
            </a:r>
            <a:r>
              <a:rPr lang="hu-HU" sz="800" i="1" dirty="0"/>
              <a:t>ki </a:t>
            </a:r>
            <a:r>
              <a:rPr lang="hu-HU" sz="800" dirty="0"/>
              <a:t>tette felé</a:t>
            </a:r>
          </a:p>
          <a:p>
            <a:pPr marL="228569" indent="-228569">
              <a:buFontTx/>
              <a:buAutoNum type="arabicPeriod"/>
            </a:pPr>
            <a:r>
              <a:rPr lang="hu-HU" sz="800" dirty="0"/>
              <a:t>Az embereket az egyéniségük miatt tartják meg a szervezet érdekében végzett munkájuk ellenére</a:t>
            </a:r>
          </a:p>
          <a:p>
            <a:pPr marL="228569" indent="-228569">
              <a:buFontTx/>
              <a:buAutoNum type="arabicPeriod"/>
            </a:pPr>
            <a:r>
              <a:rPr lang="hu-HU" sz="800" dirty="0"/>
              <a:t>Minden tilos, kivéve, amit kifejezetten engedélyeznek</a:t>
            </a:r>
          </a:p>
          <a:p>
            <a:pPr marL="228569" indent="-228569">
              <a:buFontTx/>
              <a:buAutoNum type="arabicPeriod"/>
            </a:pPr>
            <a:r>
              <a:rPr lang="hu-HU" sz="800" dirty="0"/>
              <a:t>A lehetőségeket problémáknak tekintik</a:t>
            </a:r>
          </a:p>
          <a:p>
            <a:pPr marL="228569" indent="-228569">
              <a:buFontTx/>
              <a:buAutoNum type="arabicPeriod"/>
            </a:pPr>
            <a:r>
              <a:rPr lang="hu-HU" sz="800" dirty="0"/>
              <a:t>A vállalaton belüli hatalom a könyvelési, pénzügyi és jogi osztályoké</a:t>
            </a:r>
          </a:p>
          <a:p>
            <a:pPr marL="228569" indent="-228569">
              <a:buFontTx/>
              <a:buAutoNum type="arabicPeriod"/>
            </a:pPr>
            <a:r>
              <a:rPr lang="hu-HU" sz="800" dirty="0"/>
              <a:t>A vállalat irányító részlegei a döntő szó</a:t>
            </a:r>
          </a:p>
          <a:p>
            <a:pPr marL="228569" indent="-228569">
              <a:buFontTx/>
              <a:buAutoNum type="arabicPeriod"/>
            </a:pPr>
            <a:r>
              <a:rPr lang="hu-HU" sz="800" dirty="0"/>
              <a:t>A hatalommal nem jár elég felelősség</a:t>
            </a:r>
          </a:p>
          <a:p>
            <a:pPr marL="228569" indent="-228569">
              <a:buFontTx/>
              <a:buAutoNum type="arabicPeriod"/>
            </a:pPr>
            <a:r>
              <a:rPr lang="hu-HU" sz="800" dirty="0"/>
              <a:t>A szervezet irányítja a vállalatvezetést</a:t>
            </a:r>
          </a:p>
          <a:p>
            <a:pPr marL="228569" indent="-228569">
              <a:buFontTx/>
              <a:buAutoNum type="arabicPeriod"/>
            </a:pPr>
            <a:r>
              <a:rPr lang="hu-HU" sz="800" dirty="0"/>
              <a:t>A vállaltvezetőség munkáját a tehetetlenségi nyomaték szabja meg</a:t>
            </a:r>
          </a:p>
          <a:p>
            <a:pPr marL="228569" indent="-228569">
              <a:buFontTx/>
              <a:buAutoNum type="arabicPeriod"/>
            </a:pPr>
            <a:r>
              <a:rPr lang="hu-HU" sz="800" dirty="0"/>
              <a:t>A rendszerben való változás vezethet a szervezet magatartásának megváltozásához</a:t>
            </a:r>
          </a:p>
          <a:p>
            <a:pPr marL="228569" indent="-228569">
              <a:buFontTx/>
              <a:buAutoNum type="arabicPeriod"/>
            </a:pPr>
            <a:r>
              <a:rPr lang="hu-HU" sz="800" dirty="0"/>
              <a:t>„</a:t>
            </a:r>
            <a:r>
              <a:rPr lang="hu-HU" sz="800" dirty="0" err="1"/>
              <a:t>Inzultánsokra</a:t>
            </a:r>
            <a:r>
              <a:rPr lang="hu-HU" sz="800" dirty="0"/>
              <a:t>” van szükség</a:t>
            </a:r>
          </a:p>
          <a:p>
            <a:pPr marL="228569" indent="-228569">
              <a:buFontTx/>
              <a:buAutoNum type="arabicPeriod"/>
            </a:pPr>
            <a:r>
              <a:rPr lang="hu-HU" sz="800" dirty="0"/>
              <a:t>…”minden a profit” orientáció felé</a:t>
            </a:r>
          </a:p>
          <a:p>
            <a:pPr marL="228569" indent="-228569">
              <a:buFontTx/>
              <a:buAutoNum type="arabicPeriod"/>
            </a:pPr>
            <a:r>
              <a:rPr lang="hu-HU" sz="800" dirty="0"/>
              <a:t>… a politikai ügyeskedések felé.</a:t>
            </a:r>
          </a:p>
          <a:p>
            <a:pPr marL="228569" indent="-228569"/>
            <a:endParaRPr lang="hu-HU" sz="800" dirty="0"/>
          </a:p>
          <a:p>
            <a:pPr marL="228569" indent="-228569">
              <a:buFontTx/>
              <a:buAutoNum type="arabicPeriod"/>
            </a:pPr>
            <a:endParaRPr lang="hu-HU" sz="800" dirty="0"/>
          </a:p>
          <a:p>
            <a:pPr marL="228569" indent="-228569">
              <a:buFontTx/>
              <a:buAutoNum type="arabicPeriod"/>
            </a:pPr>
            <a:endParaRPr lang="hu-HU" sz="800" dirty="0"/>
          </a:p>
          <a:p>
            <a:pPr marL="228569" indent="-228569">
              <a:buFontTx/>
              <a:buAutoNum type="arabicPeriod"/>
            </a:pPr>
            <a:endParaRPr lang="hu-HU" sz="800" dirty="0"/>
          </a:p>
          <a:p>
            <a:pPr marL="228569" indent="-228569">
              <a:buFontTx/>
              <a:buAutoNum type="arabicPeriod"/>
            </a:pPr>
            <a:endParaRPr lang="hu-HU" sz="800" dirty="0"/>
          </a:p>
          <a:p>
            <a:pPr marL="228569" indent="-228569">
              <a:buFontTx/>
              <a:buAutoNum type="arabicPeriod"/>
            </a:pPr>
            <a:endParaRPr lang="en-US" sz="800" dirty="0"/>
          </a:p>
        </p:txBody>
      </p:sp>
      <p:sp>
        <p:nvSpPr>
          <p:cNvPr id="190471" name="Rectangle 7"/>
          <p:cNvSpPr>
            <a:spLocks noChangeArrowheads="1"/>
          </p:cNvSpPr>
          <p:nvPr/>
        </p:nvSpPr>
        <p:spPr bwMode="auto">
          <a:xfrm>
            <a:off x="788989" y="5202238"/>
            <a:ext cx="30765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9035" tIns="49517" rIns="99035" bIns="49517"/>
          <a:lstStyle/>
          <a:p>
            <a:pPr marL="228569" indent="-228569">
              <a:spcBef>
                <a:spcPct val="30000"/>
              </a:spcBef>
            </a:pPr>
            <a:r>
              <a:rPr lang="hu-HU" sz="800" b="1" dirty="0"/>
              <a:t>Növekvő vállalatok</a:t>
            </a:r>
          </a:p>
          <a:p>
            <a:pPr marL="228569" indent="-228569">
              <a:spcBef>
                <a:spcPct val="30000"/>
              </a:spcBef>
              <a:buFontTx/>
              <a:buAutoNum type="arabicPeriod"/>
            </a:pPr>
            <a:r>
              <a:rPr lang="hu-HU" sz="800" dirty="0"/>
              <a:t>Az egyéni siker a kockázatvállalásból ered</a:t>
            </a:r>
          </a:p>
          <a:p>
            <a:pPr marL="228569" indent="-228569">
              <a:spcBef>
                <a:spcPct val="30000"/>
              </a:spcBef>
              <a:buFontTx/>
              <a:buAutoNum type="arabicPeriod"/>
            </a:pPr>
            <a:r>
              <a:rPr lang="hu-HU" sz="800" dirty="0"/>
              <a:t>A várakozások </a:t>
            </a:r>
            <a:r>
              <a:rPr lang="hu-HU" sz="800" dirty="0" err="1"/>
              <a:t>meghaladjákaz</a:t>
            </a:r>
            <a:r>
              <a:rPr lang="hu-HU" sz="800" dirty="0"/>
              <a:t> eredményeket</a:t>
            </a:r>
          </a:p>
          <a:p>
            <a:pPr marL="228569" indent="-228569">
              <a:spcBef>
                <a:spcPct val="30000"/>
              </a:spcBef>
              <a:buFontTx/>
              <a:buAutoNum type="arabicPeriod"/>
            </a:pPr>
            <a:r>
              <a:rPr lang="hu-HU" sz="800" dirty="0"/>
              <a:t>Kevés a likvid tőke</a:t>
            </a:r>
          </a:p>
          <a:p>
            <a:pPr marL="228569" indent="-228569">
              <a:spcBef>
                <a:spcPct val="30000"/>
              </a:spcBef>
              <a:buFontTx/>
              <a:buAutoNum type="arabicPeriod"/>
            </a:pPr>
            <a:r>
              <a:rPr lang="hu-HU" sz="800" dirty="0"/>
              <a:t>A funkció hangsúlyozása a formával szemben</a:t>
            </a:r>
          </a:p>
          <a:p>
            <a:pPr marL="228569" indent="-228569">
              <a:spcBef>
                <a:spcPct val="30000"/>
              </a:spcBef>
              <a:buFontTx/>
              <a:buAutoNum type="arabicPeriod"/>
            </a:pPr>
            <a:r>
              <a:rPr lang="hu-HU" sz="800" dirty="0"/>
              <a:t>A </a:t>
            </a:r>
            <a:r>
              <a:rPr lang="hu-HU" sz="800" i="1" dirty="0"/>
              <a:t>miért</a:t>
            </a:r>
            <a:r>
              <a:rPr lang="hu-HU" sz="800" dirty="0"/>
              <a:t> és mit </a:t>
            </a:r>
            <a:r>
              <a:rPr lang="hu-HU" sz="800" dirty="0" err="1"/>
              <a:t>tegyünktől</a:t>
            </a:r>
            <a:r>
              <a:rPr lang="hu-HU" sz="800" dirty="0"/>
              <a:t>…</a:t>
            </a:r>
          </a:p>
          <a:p>
            <a:pPr marL="228569" indent="-228569">
              <a:spcBef>
                <a:spcPct val="30000"/>
              </a:spcBef>
              <a:buFontTx/>
              <a:buAutoNum type="arabicPeriod"/>
            </a:pPr>
            <a:r>
              <a:rPr lang="hu-HU" sz="800" dirty="0"/>
              <a:t>Az embereket a szervezet érdekében végzett munkájukért tartják meg, esetleg az egyéniségük ellenére</a:t>
            </a:r>
          </a:p>
          <a:p>
            <a:pPr marL="228569" indent="-228569">
              <a:spcBef>
                <a:spcPct val="30000"/>
              </a:spcBef>
              <a:buFontTx/>
              <a:buAutoNum type="arabicPeriod"/>
            </a:pPr>
            <a:r>
              <a:rPr lang="hu-HU" sz="800" dirty="0"/>
              <a:t>Minden engedélyezett, kivéve, amit kifejezetten tiltanak</a:t>
            </a:r>
          </a:p>
          <a:p>
            <a:pPr marL="228569" indent="-228569">
              <a:spcBef>
                <a:spcPct val="30000"/>
              </a:spcBef>
              <a:buFontTx/>
              <a:buAutoNum type="arabicPeriod"/>
            </a:pPr>
            <a:r>
              <a:rPr lang="hu-HU" sz="800" dirty="0"/>
              <a:t>A problémákat lehetőségeknek tekintik</a:t>
            </a:r>
          </a:p>
          <a:p>
            <a:pPr marL="228569" indent="-228569">
              <a:spcBef>
                <a:spcPct val="30000"/>
              </a:spcBef>
              <a:buFontTx/>
              <a:buAutoNum type="arabicPeriod"/>
            </a:pPr>
            <a:r>
              <a:rPr lang="hu-HU" sz="800" dirty="0"/>
              <a:t>A vállalaton belüli hatalom a piackutatási és értékesítési osztályoké</a:t>
            </a:r>
          </a:p>
          <a:p>
            <a:pPr marL="228569" indent="-228569">
              <a:spcBef>
                <a:spcPct val="30000"/>
              </a:spcBef>
              <a:buFontTx/>
              <a:buAutoNum type="arabicPeriod"/>
            </a:pPr>
            <a:r>
              <a:rPr lang="hu-HU" sz="800" dirty="0"/>
              <a:t>A gyakorlati munkát végző részlegeké a döntő szó</a:t>
            </a:r>
          </a:p>
          <a:p>
            <a:pPr marL="228569" indent="-228569">
              <a:spcBef>
                <a:spcPct val="30000"/>
              </a:spcBef>
              <a:buFontTx/>
              <a:buAutoNum type="arabicPeriod"/>
            </a:pPr>
            <a:r>
              <a:rPr lang="hu-HU" sz="800" dirty="0"/>
              <a:t>A felelősség nem jár elég hatalommal</a:t>
            </a:r>
          </a:p>
          <a:p>
            <a:pPr marL="228569" indent="-228569">
              <a:spcBef>
                <a:spcPct val="30000"/>
              </a:spcBef>
              <a:buFontTx/>
              <a:buAutoNum type="arabicPeriod"/>
            </a:pPr>
            <a:r>
              <a:rPr lang="hu-HU" sz="800" dirty="0"/>
              <a:t>A vállalatvezetőség irányítja a szervezetet</a:t>
            </a:r>
          </a:p>
          <a:p>
            <a:pPr marL="228569" indent="-228569">
              <a:spcBef>
                <a:spcPct val="30000"/>
              </a:spcBef>
              <a:buFontTx/>
              <a:buAutoNum type="arabicPeriod"/>
            </a:pPr>
            <a:r>
              <a:rPr lang="hu-HU" sz="800" dirty="0"/>
              <a:t>A vállalatvezetőség fokozza a lendületet</a:t>
            </a:r>
          </a:p>
          <a:p>
            <a:pPr marL="228569" indent="-228569">
              <a:spcBef>
                <a:spcPct val="30000"/>
              </a:spcBef>
              <a:buFontTx/>
              <a:buAutoNum type="arabicPeriod"/>
            </a:pPr>
            <a:r>
              <a:rPr lang="hu-HU" sz="800" dirty="0"/>
              <a:t>A vezetőségi változás képes a szervezet viselkedését megváltoztatni</a:t>
            </a:r>
          </a:p>
          <a:p>
            <a:pPr marL="228569" indent="-228569">
              <a:spcBef>
                <a:spcPct val="30000"/>
              </a:spcBef>
              <a:buFontTx/>
              <a:buAutoNum type="arabicPeriod"/>
            </a:pPr>
            <a:r>
              <a:rPr lang="hu-HU" sz="800" dirty="0"/>
              <a:t>Konzultánsokra van szükség</a:t>
            </a:r>
          </a:p>
          <a:p>
            <a:pPr marL="228569" indent="-228569">
              <a:spcBef>
                <a:spcPct val="30000"/>
              </a:spcBef>
              <a:buFontTx/>
              <a:buAutoNum type="arabicPeriod"/>
            </a:pPr>
            <a:r>
              <a:rPr lang="hu-HU" sz="800" dirty="0"/>
              <a:t>Értékesítési orientációtól…</a:t>
            </a:r>
          </a:p>
          <a:p>
            <a:pPr marL="228569" indent="-228569">
              <a:spcBef>
                <a:spcPct val="30000"/>
              </a:spcBef>
              <a:buFontTx/>
              <a:buAutoNum type="arabicPeriod"/>
            </a:pPr>
            <a:r>
              <a:rPr lang="hu-HU" sz="800" dirty="0"/>
              <a:t>A profit megtermelésétől…</a:t>
            </a:r>
          </a:p>
          <a:p>
            <a:pPr marL="228569" indent="-228569">
              <a:spcBef>
                <a:spcPct val="30000"/>
              </a:spcBef>
            </a:pPr>
            <a:endParaRPr lang="hu-HU" sz="800" dirty="0"/>
          </a:p>
          <a:p>
            <a:pPr marL="228569" indent="-228569">
              <a:spcBef>
                <a:spcPct val="30000"/>
              </a:spcBef>
              <a:buFontTx/>
              <a:buAutoNum type="arabicPeriod"/>
            </a:pPr>
            <a:endParaRPr lang="hu-HU" sz="800" dirty="0"/>
          </a:p>
          <a:p>
            <a:pPr marL="228569" indent="-228569">
              <a:spcBef>
                <a:spcPct val="30000"/>
              </a:spcBef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392579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2F4806-666B-459A-AA2B-B3B493567B84}" type="slidenum">
              <a:rPr lang="en-US"/>
              <a:pPr/>
              <a:t>27</a:t>
            </a:fld>
            <a:endParaRPr lang="en-US"/>
          </a:p>
        </p:txBody>
      </p:sp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73971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557E28-2A71-4491-ADFC-CD335F48A05F}" type="slidenum">
              <a:rPr lang="en-US"/>
              <a:pPr/>
              <a:t>28</a:t>
            </a:fld>
            <a:endParaRPr lang="en-US"/>
          </a:p>
        </p:txBody>
      </p:sp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A kihívás: </a:t>
            </a:r>
          </a:p>
          <a:p>
            <a:r>
              <a:rPr lang="hu-HU"/>
              <a:t>Az erősségeinkre támaszkodva és azt megőrizve, a gyengeségeinket a lehetőség szerint kiküszöbölve a lehetőségek kihasználása, a fenyegetések hatásaira felkészülni és lehetőség szerint csökkenteni.</a:t>
            </a:r>
          </a:p>
          <a:p>
            <a:endParaRPr lang="hu-HU"/>
          </a:p>
          <a:p>
            <a:r>
              <a:rPr lang="hu-HU"/>
              <a:t>A példában szereplő tényezők ellenkezőja (ha értelmes)  kerülhet a másik oldalra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9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5459" y="959313"/>
            <a:ext cx="5760741" cy="257189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5459" y="3531205"/>
            <a:ext cx="5760741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5459" y="329308"/>
            <a:ext cx="3392144" cy="30920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6200" y="131730"/>
            <a:ext cx="802005" cy="503578"/>
          </a:xfrm>
        </p:spPr>
        <p:txBody>
          <a:bodyPr/>
          <a:lstStyle/>
          <a:p>
            <a:pPr>
              <a:defRPr/>
            </a:pPr>
            <a:fld id="{E8FCCD30-07D4-41FE-9D57-5014BFD245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234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3B17E5-C457-4297-BDE7-E43B45805AC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246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1756130"/>
            <a:ext cx="5764142" cy="2050066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5460" y="3806196"/>
            <a:ext cx="576414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535314-2042-4B54-A736-61F6AD8671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443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959314"/>
            <a:ext cx="6564015" cy="10441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5459" y="2172548"/>
            <a:ext cx="3125871" cy="32789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3822" y="2172548"/>
            <a:ext cx="3125652" cy="327894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1BEFDA-E99A-4D41-8333-0C32F9551E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95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652" y="959903"/>
            <a:ext cx="6571344" cy="1044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131" y="2169094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8131" y="2973815"/>
            <a:ext cx="3125766" cy="24916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3822" y="2172548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3822" y="2971035"/>
            <a:ext cx="3125652" cy="24849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F47641-861F-4814-8B79-B97FA695A9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923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47B3DD-CEDE-49DD-AB86-4B06F19829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995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872202-3281-44D3-98CF-738D941B0C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51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041" y="959313"/>
            <a:ext cx="2425950" cy="224205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9877" y="960890"/>
            <a:ext cx="3828178" cy="449691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041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30A95A-CA8B-4B38-AB15-C91730F99A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462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077" y="1129512"/>
            <a:ext cx="3386166" cy="191848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1420" y="3057166"/>
            <a:ext cx="3390817" cy="2092568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4592" y="5469857"/>
            <a:ext cx="3393977" cy="320123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459" y="318641"/>
            <a:ext cx="2601032" cy="32093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726491" y="131730"/>
            <a:ext cx="795746" cy="503578"/>
          </a:xfrm>
        </p:spPr>
        <p:txBody>
          <a:bodyPr/>
          <a:lstStyle/>
          <a:p>
            <a:pPr>
              <a:defRPr/>
            </a:pPr>
            <a:fld id="{52DF02FD-BF36-43C3-AC94-7C918C2B66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70363" b="36435"/>
          <a:stretch/>
        </p:blipFill>
        <p:spPr>
          <a:xfrm>
            <a:off x="1125460" y="643464"/>
            <a:ext cx="339242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306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5213F2-8DD6-4C11-ADE4-B55F8C6389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1752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447" y="796298"/>
            <a:ext cx="1103027" cy="466256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1910" y="796298"/>
            <a:ext cx="5301095" cy="466256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4C950F-F20D-408C-9358-7E11B1877A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59215" b="36435"/>
          <a:stretch/>
        </p:blipFill>
        <p:spPr>
          <a:xfrm rot="5400000">
            <a:off x="5605390" y="3050294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3258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762000" y="533400"/>
            <a:ext cx="76962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0" y="1905000"/>
            <a:ext cx="37719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905000"/>
            <a:ext cx="37719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762000" y="4000500"/>
            <a:ext cx="37719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6300" y="4000500"/>
            <a:ext cx="37719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4DED9-5FFA-46AF-ADBA-5D419B603A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012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6962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762000" y="1905000"/>
            <a:ext cx="7696200" cy="4038600"/>
          </a:xfrm>
        </p:spPr>
        <p:txBody>
          <a:bodyPr/>
          <a:lstStyle/>
          <a:p>
            <a:pPr lvl="0"/>
            <a:endParaRPr lang="hu-HU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B2834A-F60C-4CCC-B708-03A504E22E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0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854"/>
            <a:ext cx="9144000" cy="7429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/>
          <p:cNvCxnSpPr/>
          <p:nvPr/>
        </p:nvCxnSpPr>
        <p:spPr>
          <a:xfrm>
            <a:off x="0" y="6121005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8684" y="956172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8684" y="2167385"/>
            <a:ext cx="6571343" cy="328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1309" y="330371"/>
            <a:ext cx="2368292" cy="30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8684" y="329308"/>
            <a:ext cx="3388498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3728" y="131730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C94613A-2D11-4185-B20E-220A3974BD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3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customXml" Target="../ink/ink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hu-HU" dirty="0"/>
              <a:t>Projektirányítás az informatikában </a:t>
            </a: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hu-HU" dirty="0"/>
              <a:t>Ilyés Enikő - </a:t>
            </a:r>
            <a:r>
              <a:rPr lang="hu-HU" dirty="0" err="1"/>
              <a:t>Langer</a:t>
            </a:r>
            <a:r>
              <a:rPr lang="hu-HU" dirty="0"/>
              <a:t> Tamás nyomán</a:t>
            </a:r>
            <a:endParaRPr lang="en-US" dirty="0"/>
          </a:p>
        </p:txBody>
      </p:sp>
      <p:sp>
        <p:nvSpPr>
          <p:cNvPr id="3074" name="Rectangle 9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42B7E0F-FFD2-4C52-9B66-C735489FAC4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74C22E-8F4A-4453-B8E6-A75F6A719F4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6388" name="Oval 5"/>
          <p:cNvSpPr>
            <a:spLocks noChangeArrowheads="1"/>
          </p:cNvSpPr>
          <p:nvPr/>
        </p:nvSpPr>
        <p:spPr bwMode="auto">
          <a:xfrm>
            <a:off x="1219200" y="1600200"/>
            <a:ext cx="6858000" cy="430162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hu-HU"/>
          </a:p>
        </p:txBody>
      </p:sp>
      <p:sp>
        <p:nvSpPr>
          <p:cNvPr id="16389" name="Oval 6"/>
          <p:cNvSpPr>
            <a:spLocks noChangeArrowheads="1"/>
          </p:cNvSpPr>
          <p:nvPr/>
        </p:nvSpPr>
        <p:spPr bwMode="auto">
          <a:xfrm>
            <a:off x="1752600" y="2438400"/>
            <a:ext cx="2133600" cy="1219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hu-HU"/>
          </a:p>
        </p:txBody>
      </p:sp>
      <p:sp>
        <p:nvSpPr>
          <p:cNvPr id="16390" name="Oval 7"/>
          <p:cNvSpPr>
            <a:spLocks noChangeArrowheads="1"/>
          </p:cNvSpPr>
          <p:nvPr/>
        </p:nvSpPr>
        <p:spPr bwMode="auto">
          <a:xfrm>
            <a:off x="4953000" y="2590800"/>
            <a:ext cx="2133600" cy="16764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391" name="Oval 8"/>
          <p:cNvSpPr>
            <a:spLocks noChangeArrowheads="1"/>
          </p:cNvSpPr>
          <p:nvPr/>
        </p:nvSpPr>
        <p:spPr bwMode="auto">
          <a:xfrm>
            <a:off x="2286000" y="4343400"/>
            <a:ext cx="3429000" cy="1219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392" name="Oval 9"/>
          <p:cNvSpPr>
            <a:spLocks noChangeArrowheads="1"/>
          </p:cNvSpPr>
          <p:nvPr/>
        </p:nvSpPr>
        <p:spPr bwMode="auto">
          <a:xfrm>
            <a:off x="2057400" y="2895600"/>
            <a:ext cx="685800" cy="609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393" name="Oval 10"/>
          <p:cNvSpPr>
            <a:spLocks noChangeArrowheads="1"/>
          </p:cNvSpPr>
          <p:nvPr/>
        </p:nvSpPr>
        <p:spPr bwMode="auto">
          <a:xfrm>
            <a:off x="2895600" y="2971800"/>
            <a:ext cx="6858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394" name="Oval 11"/>
          <p:cNvSpPr>
            <a:spLocks noChangeArrowheads="1"/>
          </p:cNvSpPr>
          <p:nvPr/>
        </p:nvSpPr>
        <p:spPr bwMode="auto">
          <a:xfrm>
            <a:off x="5181600" y="2971800"/>
            <a:ext cx="6858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395" name="Oval 12"/>
          <p:cNvSpPr>
            <a:spLocks noChangeArrowheads="1"/>
          </p:cNvSpPr>
          <p:nvPr/>
        </p:nvSpPr>
        <p:spPr bwMode="auto">
          <a:xfrm>
            <a:off x="6324600" y="2971800"/>
            <a:ext cx="685800" cy="838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396" name="Oval 13"/>
          <p:cNvSpPr>
            <a:spLocks noChangeArrowheads="1"/>
          </p:cNvSpPr>
          <p:nvPr/>
        </p:nvSpPr>
        <p:spPr bwMode="auto">
          <a:xfrm>
            <a:off x="5334000" y="3657600"/>
            <a:ext cx="1143000" cy="3810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397" name="Oval 14"/>
          <p:cNvSpPr>
            <a:spLocks noChangeArrowheads="1"/>
          </p:cNvSpPr>
          <p:nvPr/>
        </p:nvSpPr>
        <p:spPr bwMode="auto">
          <a:xfrm>
            <a:off x="2514600" y="4724400"/>
            <a:ext cx="914400" cy="3810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398" name="Oval 15"/>
          <p:cNvSpPr>
            <a:spLocks noChangeArrowheads="1"/>
          </p:cNvSpPr>
          <p:nvPr/>
        </p:nvSpPr>
        <p:spPr bwMode="auto">
          <a:xfrm>
            <a:off x="3581400" y="4495800"/>
            <a:ext cx="6858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399" name="Oval 16"/>
          <p:cNvSpPr>
            <a:spLocks noChangeArrowheads="1"/>
          </p:cNvSpPr>
          <p:nvPr/>
        </p:nvSpPr>
        <p:spPr bwMode="auto">
          <a:xfrm>
            <a:off x="4419600" y="4572000"/>
            <a:ext cx="685800" cy="7620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400" name="Oval 17"/>
          <p:cNvSpPr>
            <a:spLocks noChangeArrowheads="1"/>
          </p:cNvSpPr>
          <p:nvPr/>
        </p:nvSpPr>
        <p:spPr bwMode="auto">
          <a:xfrm>
            <a:off x="3962400" y="5105400"/>
            <a:ext cx="457200" cy="3048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401" name="Text Box 19"/>
          <p:cNvSpPr txBox="1">
            <a:spLocks noChangeArrowheads="1"/>
          </p:cNvSpPr>
          <p:nvPr/>
        </p:nvSpPr>
        <p:spPr bwMode="auto">
          <a:xfrm>
            <a:off x="4194175" y="1828800"/>
            <a:ext cx="3778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16402" name="Text Box 21"/>
          <p:cNvSpPr txBox="1">
            <a:spLocks noChangeArrowheads="1"/>
          </p:cNvSpPr>
          <p:nvPr/>
        </p:nvSpPr>
        <p:spPr bwMode="auto">
          <a:xfrm>
            <a:off x="2286000" y="2514600"/>
            <a:ext cx="3465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 dirty="0"/>
              <a:t>V</a:t>
            </a:r>
            <a:endParaRPr lang="en-US" dirty="0"/>
          </a:p>
        </p:txBody>
      </p:sp>
      <p:sp>
        <p:nvSpPr>
          <p:cNvPr id="16403" name="Text Box 22"/>
          <p:cNvSpPr txBox="1">
            <a:spLocks noChangeArrowheads="1"/>
          </p:cNvSpPr>
          <p:nvPr/>
        </p:nvSpPr>
        <p:spPr bwMode="auto">
          <a:xfrm>
            <a:off x="3273425" y="5149334"/>
            <a:ext cx="3465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 dirty="0"/>
              <a:t>V</a:t>
            </a:r>
            <a:endParaRPr lang="en-US" dirty="0"/>
          </a:p>
        </p:txBody>
      </p:sp>
      <p:sp>
        <p:nvSpPr>
          <p:cNvPr id="16404" name="Text Box 23"/>
          <p:cNvSpPr txBox="1">
            <a:spLocks noChangeArrowheads="1"/>
          </p:cNvSpPr>
          <p:nvPr/>
        </p:nvSpPr>
        <p:spPr bwMode="auto">
          <a:xfrm>
            <a:off x="5715000" y="2667000"/>
            <a:ext cx="3465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 dirty="0"/>
              <a:t>V</a:t>
            </a:r>
            <a:endParaRPr lang="en-US" dirty="0"/>
          </a:p>
        </p:txBody>
      </p:sp>
      <p:sp>
        <p:nvSpPr>
          <p:cNvPr id="16405" name="Text Box 24"/>
          <p:cNvSpPr txBox="1">
            <a:spLocks noChangeArrowheads="1"/>
          </p:cNvSpPr>
          <p:nvPr/>
        </p:nvSpPr>
        <p:spPr bwMode="auto">
          <a:xfrm>
            <a:off x="2971800" y="3008313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P</a:t>
            </a:r>
            <a:endParaRPr lang="en-US"/>
          </a:p>
        </p:txBody>
      </p:sp>
      <p:sp>
        <p:nvSpPr>
          <p:cNvPr id="16406" name="Text Box 25"/>
          <p:cNvSpPr txBox="1">
            <a:spLocks noChangeArrowheads="1"/>
          </p:cNvSpPr>
          <p:nvPr/>
        </p:nvSpPr>
        <p:spPr bwMode="auto">
          <a:xfrm>
            <a:off x="2209800" y="29718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P</a:t>
            </a:r>
            <a:endParaRPr lang="en-US"/>
          </a:p>
        </p:txBody>
      </p:sp>
      <p:sp>
        <p:nvSpPr>
          <p:cNvPr id="16407" name="Text Box 26"/>
          <p:cNvSpPr txBox="1">
            <a:spLocks noChangeArrowheads="1"/>
          </p:cNvSpPr>
          <p:nvPr/>
        </p:nvSpPr>
        <p:spPr bwMode="auto">
          <a:xfrm>
            <a:off x="5302250" y="29718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P</a:t>
            </a:r>
            <a:endParaRPr lang="en-US"/>
          </a:p>
        </p:txBody>
      </p:sp>
      <p:sp>
        <p:nvSpPr>
          <p:cNvPr id="16408" name="Text Box 27"/>
          <p:cNvSpPr txBox="1">
            <a:spLocks noChangeArrowheads="1"/>
          </p:cNvSpPr>
          <p:nvPr/>
        </p:nvSpPr>
        <p:spPr bwMode="auto">
          <a:xfrm>
            <a:off x="4038600" y="504348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P</a:t>
            </a:r>
            <a:endParaRPr lang="en-US"/>
          </a:p>
        </p:txBody>
      </p:sp>
      <p:sp>
        <p:nvSpPr>
          <p:cNvPr id="16409" name="Text Box 28"/>
          <p:cNvSpPr txBox="1">
            <a:spLocks noChangeArrowheads="1"/>
          </p:cNvSpPr>
          <p:nvPr/>
        </p:nvSpPr>
        <p:spPr bwMode="auto">
          <a:xfrm>
            <a:off x="3733800" y="451008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P</a:t>
            </a:r>
            <a:endParaRPr lang="en-US"/>
          </a:p>
        </p:txBody>
      </p:sp>
      <p:sp>
        <p:nvSpPr>
          <p:cNvPr id="16410" name="Text Box 29"/>
          <p:cNvSpPr txBox="1">
            <a:spLocks noChangeArrowheads="1"/>
          </p:cNvSpPr>
          <p:nvPr/>
        </p:nvSpPr>
        <p:spPr bwMode="auto">
          <a:xfrm>
            <a:off x="2787650" y="47244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P</a:t>
            </a:r>
            <a:endParaRPr lang="en-US"/>
          </a:p>
        </p:txBody>
      </p:sp>
      <p:sp>
        <p:nvSpPr>
          <p:cNvPr id="16411" name="Text Box 30"/>
          <p:cNvSpPr txBox="1">
            <a:spLocks noChangeArrowheads="1"/>
          </p:cNvSpPr>
          <p:nvPr/>
        </p:nvSpPr>
        <p:spPr bwMode="auto">
          <a:xfrm>
            <a:off x="4648200" y="473868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P</a:t>
            </a:r>
            <a:endParaRPr lang="en-US"/>
          </a:p>
        </p:txBody>
      </p:sp>
      <p:sp>
        <p:nvSpPr>
          <p:cNvPr id="16412" name="Text Box 31"/>
          <p:cNvSpPr txBox="1">
            <a:spLocks noChangeArrowheads="1"/>
          </p:cNvSpPr>
          <p:nvPr/>
        </p:nvSpPr>
        <p:spPr bwMode="auto">
          <a:xfrm>
            <a:off x="5683250" y="36576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P</a:t>
            </a:r>
            <a:endParaRPr lang="en-US"/>
          </a:p>
        </p:txBody>
      </p:sp>
      <p:sp>
        <p:nvSpPr>
          <p:cNvPr id="16413" name="Text Box 32"/>
          <p:cNvSpPr txBox="1">
            <a:spLocks noChangeArrowheads="1"/>
          </p:cNvSpPr>
          <p:nvPr/>
        </p:nvSpPr>
        <p:spPr bwMode="auto">
          <a:xfrm>
            <a:off x="6521450" y="32004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P</a:t>
            </a:r>
            <a:endParaRPr 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74C22E-8F4A-4453-B8E6-A75F6A719F4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/>
              <a:t>Ország, vállalat, projekt</a:t>
            </a:r>
            <a:endParaRPr lang="en-US"/>
          </a:p>
        </p:txBody>
      </p:sp>
      <p:sp>
        <p:nvSpPr>
          <p:cNvPr id="16388" name="Oval 5"/>
          <p:cNvSpPr>
            <a:spLocks noChangeArrowheads="1"/>
          </p:cNvSpPr>
          <p:nvPr/>
        </p:nvSpPr>
        <p:spPr bwMode="auto">
          <a:xfrm>
            <a:off x="1219200" y="1600200"/>
            <a:ext cx="6858000" cy="430162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hu-HU"/>
          </a:p>
        </p:txBody>
      </p:sp>
      <p:sp>
        <p:nvSpPr>
          <p:cNvPr id="16389" name="Oval 6"/>
          <p:cNvSpPr>
            <a:spLocks noChangeArrowheads="1"/>
          </p:cNvSpPr>
          <p:nvPr/>
        </p:nvSpPr>
        <p:spPr bwMode="auto">
          <a:xfrm>
            <a:off x="1752600" y="2438400"/>
            <a:ext cx="2133600" cy="1219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hu-HU"/>
          </a:p>
        </p:txBody>
      </p:sp>
      <p:sp>
        <p:nvSpPr>
          <p:cNvPr id="16390" name="Oval 7"/>
          <p:cNvSpPr>
            <a:spLocks noChangeArrowheads="1"/>
          </p:cNvSpPr>
          <p:nvPr/>
        </p:nvSpPr>
        <p:spPr bwMode="auto">
          <a:xfrm>
            <a:off x="4953000" y="2590800"/>
            <a:ext cx="2133600" cy="16764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391" name="Oval 8"/>
          <p:cNvSpPr>
            <a:spLocks noChangeArrowheads="1"/>
          </p:cNvSpPr>
          <p:nvPr/>
        </p:nvSpPr>
        <p:spPr bwMode="auto">
          <a:xfrm>
            <a:off x="2286000" y="4343400"/>
            <a:ext cx="3429000" cy="1219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392" name="Oval 9"/>
          <p:cNvSpPr>
            <a:spLocks noChangeArrowheads="1"/>
          </p:cNvSpPr>
          <p:nvPr/>
        </p:nvSpPr>
        <p:spPr bwMode="auto">
          <a:xfrm>
            <a:off x="2057400" y="2895600"/>
            <a:ext cx="685800" cy="609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393" name="Oval 10"/>
          <p:cNvSpPr>
            <a:spLocks noChangeArrowheads="1"/>
          </p:cNvSpPr>
          <p:nvPr/>
        </p:nvSpPr>
        <p:spPr bwMode="auto">
          <a:xfrm>
            <a:off x="2895600" y="2971800"/>
            <a:ext cx="6858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394" name="Oval 11"/>
          <p:cNvSpPr>
            <a:spLocks noChangeArrowheads="1"/>
          </p:cNvSpPr>
          <p:nvPr/>
        </p:nvSpPr>
        <p:spPr bwMode="auto">
          <a:xfrm>
            <a:off x="5181600" y="2971800"/>
            <a:ext cx="6858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395" name="Oval 12"/>
          <p:cNvSpPr>
            <a:spLocks noChangeArrowheads="1"/>
          </p:cNvSpPr>
          <p:nvPr/>
        </p:nvSpPr>
        <p:spPr bwMode="auto">
          <a:xfrm>
            <a:off x="6324600" y="2971800"/>
            <a:ext cx="685800" cy="838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396" name="Oval 13"/>
          <p:cNvSpPr>
            <a:spLocks noChangeArrowheads="1"/>
          </p:cNvSpPr>
          <p:nvPr/>
        </p:nvSpPr>
        <p:spPr bwMode="auto">
          <a:xfrm>
            <a:off x="5334000" y="3657600"/>
            <a:ext cx="1143000" cy="3810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397" name="Oval 14"/>
          <p:cNvSpPr>
            <a:spLocks noChangeArrowheads="1"/>
          </p:cNvSpPr>
          <p:nvPr/>
        </p:nvSpPr>
        <p:spPr bwMode="auto">
          <a:xfrm>
            <a:off x="2514600" y="4724400"/>
            <a:ext cx="914400" cy="3810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398" name="Oval 15"/>
          <p:cNvSpPr>
            <a:spLocks noChangeArrowheads="1"/>
          </p:cNvSpPr>
          <p:nvPr/>
        </p:nvSpPr>
        <p:spPr bwMode="auto">
          <a:xfrm>
            <a:off x="3581400" y="4495800"/>
            <a:ext cx="6858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399" name="Oval 16"/>
          <p:cNvSpPr>
            <a:spLocks noChangeArrowheads="1"/>
          </p:cNvSpPr>
          <p:nvPr/>
        </p:nvSpPr>
        <p:spPr bwMode="auto">
          <a:xfrm>
            <a:off x="4419600" y="4572000"/>
            <a:ext cx="685800" cy="7620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400" name="Oval 17"/>
          <p:cNvSpPr>
            <a:spLocks noChangeArrowheads="1"/>
          </p:cNvSpPr>
          <p:nvPr/>
        </p:nvSpPr>
        <p:spPr bwMode="auto">
          <a:xfrm>
            <a:off x="3962400" y="5105400"/>
            <a:ext cx="457200" cy="3048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u-HU"/>
          </a:p>
        </p:txBody>
      </p:sp>
      <p:sp>
        <p:nvSpPr>
          <p:cNvPr id="16401" name="Text Box 19"/>
          <p:cNvSpPr txBox="1">
            <a:spLocks noChangeArrowheads="1"/>
          </p:cNvSpPr>
          <p:nvPr/>
        </p:nvSpPr>
        <p:spPr bwMode="auto">
          <a:xfrm>
            <a:off x="4251325" y="1865313"/>
            <a:ext cx="920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Ország</a:t>
            </a:r>
            <a:endParaRPr lang="en-US"/>
          </a:p>
        </p:txBody>
      </p:sp>
      <p:sp>
        <p:nvSpPr>
          <p:cNvPr id="16402" name="Text Box 21"/>
          <p:cNvSpPr txBox="1">
            <a:spLocks noChangeArrowheads="1"/>
          </p:cNvSpPr>
          <p:nvPr/>
        </p:nvSpPr>
        <p:spPr bwMode="auto">
          <a:xfrm>
            <a:off x="2286000" y="2514600"/>
            <a:ext cx="933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Vállalat</a:t>
            </a:r>
            <a:endParaRPr lang="en-US"/>
          </a:p>
        </p:txBody>
      </p:sp>
      <p:sp>
        <p:nvSpPr>
          <p:cNvPr id="16403" name="Text Box 22"/>
          <p:cNvSpPr txBox="1">
            <a:spLocks noChangeArrowheads="1"/>
          </p:cNvSpPr>
          <p:nvPr/>
        </p:nvSpPr>
        <p:spPr bwMode="auto">
          <a:xfrm>
            <a:off x="2971800" y="5043488"/>
            <a:ext cx="933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Vállalat</a:t>
            </a:r>
            <a:endParaRPr lang="en-US"/>
          </a:p>
        </p:txBody>
      </p:sp>
      <p:sp>
        <p:nvSpPr>
          <p:cNvPr id="16404" name="Text Box 23"/>
          <p:cNvSpPr txBox="1">
            <a:spLocks noChangeArrowheads="1"/>
          </p:cNvSpPr>
          <p:nvPr/>
        </p:nvSpPr>
        <p:spPr bwMode="auto">
          <a:xfrm>
            <a:off x="5715000" y="2667000"/>
            <a:ext cx="933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Vállalat</a:t>
            </a:r>
            <a:endParaRPr lang="en-US"/>
          </a:p>
        </p:txBody>
      </p:sp>
      <p:sp>
        <p:nvSpPr>
          <p:cNvPr id="16405" name="Text Box 24"/>
          <p:cNvSpPr txBox="1">
            <a:spLocks noChangeArrowheads="1"/>
          </p:cNvSpPr>
          <p:nvPr/>
        </p:nvSpPr>
        <p:spPr bwMode="auto">
          <a:xfrm>
            <a:off x="2971800" y="3008313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P</a:t>
            </a:r>
            <a:endParaRPr lang="en-US"/>
          </a:p>
        </p:txBody>
      </p:sp>
      <p:sp>
        <p:nvSpPr>
          <p:cNvPr id="16406" name="Text Box 25"/>
          <p:cNvSpPr txBox="1">
            <a:spLocks noChangeArrowheads="1"/>
          </p:cNvSpPr>
          <p:nvPr/>
        </p:nvSpPr>
        <p:spPr bwMode="auto">
          <a:xfrm>
            <a:off x="2209800" y="29718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P</a:t>
            </a:r>
            <a:endParaRPr lang="en-US"/>
          </a:p>
        </p:txBody>
      </p:sp>
      <p:sp>
        <p:nvSpPr>
          <p:cNvPr id="16407" name="Text Box 26"/>
          <p:cNvSpPr txBox="1">
            <a:spLocks noChangeArrowheads="1"/>
          </p:cNvSpPr>
          <p:nvPr/>
        </p:nvSpPr>
        <p:spPr bwMode="auto">
          <a:xfrm>
            <a:off x="5302250" y="29718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P</a:t>
            </a:r>
            <a:endParaRPr lang="en-US"/>
          </a:p>
        </p:txBody>
      </p:sp>
      <p:sp>
        <p:nvSpPr>
          <p:cNvPr id="16408" name="Text Box 27"/>
          <p:cNvSpPr txBox="1">
            <a:spLocks noChangeArrowheads="1"/>
          </p:cNvSpPr>
          <p:nvPr/>
        </p:nvSpPr>
        <p:spPr bwMode="auto">
          <a:xfrm>
            <a:off x="4038600" y="504348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P</a:t>
            </a:r>
            <a:endParaRPr lang="en-US"/>
          </a:p>
        </p:txBody>
      </p:sp>
      <p:sp>
        <p:nvSpPr>
          <p:cNvPr id="16409" name="Text Box 28"/>
          <p:cNvSpPr txBox="1">
            <a:spLocks noChangeArrowheads="1"/>
          </p:cNvSpPr>
          <p:nvPr/>
        </p:nvSpPr>
        <p:spPr bwMode="auto">
          <a:xfrm>
            <a:off x="3733800" y="451008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P</a:t>
            </a:r>
            <a:endParaRPr lang="en-US"/>
          </a:p>
        </p:txBody>
      </p:sp>
      <p:sp>
        <p:nvSpPr>
          <p:cNvPr id="16410" name="Text Box 29"/>
          <p:cNvSpPr txBox="1">
            <a:spLocks noChangeArrowheads="1"/>
          </p:cNvSpPr>
          <p:nvPr/>
        </p:nvSpPr>
        <p:spPr bwMode="auto">
          <a:xfrm>
            <a:off x="2787650" y="47244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P</a:t>
            </a:r>
            <a:endParaRPr lang="en-US"/>
          </a:p>
        </p:txBody>
      </p:sp>
      <p:sp>
        <p:nvSpPr>
          <p:cNvPr id="16411" name="Text Box 30"/>
          <p:cNvSpPr txBox="1">
            <a:spLocks noChangeArrowheads="1"/>
          </p:cNvSpPr>
          <p:nvPr/>
        </p:nvSpPr>
        <p:spPr bwMode="auto">
          <a:xfrm>
            <a:off x="4648200" y="473868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P</a:t>
            </a:r>
            <a:endParaRPr lang="en-US"/>
          </a:p>
        </p:txBody>
      </p:sp>
      <p:sp>
        <p:nvSpPr>
          <p:cNvPr id="16412" name="Text Box 31"/>
          <p:cNvSpPr txBox="1">
            <a:spLocks noChangeArrowheads="1"/>
          </p:cNvSpPr>
          <p:nvPr/>
        </p:nvSpPr>
        <p:spPr bwMode="auto">
          <a:xfrm>
            <a:off x="5683250" y="36576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P</a:t>
            </a:r>
            <a:endParaRPr lang="en-US"/>
          </a:p>
        </p:txBody>
      </p:sp>
      <p:sp>
        <p:nvSpPr>
          <p:cNvPr id="16413" name="Text Box 32"/>
          <p:cNvSpPr txBox="1">
            <a:spLocks noChangeArrowheads="1"/>
          </p:cNvSpPr>
          <p:nvPr/>
        </p:nvSpPr>
        <p:spPr bwMode="auto">
          <a:xfrm>
            <a:off x="6521450" y="32004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/>
              <a:t>P</a:t>
            </a:r>
            <a:endParaRPr lang="en-US"/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41DF4FF5-FFAE-4488-9556-8242FF7B0306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6130428"/>
            <a:ext cx="8915400" cy="3288635"/>
          </a:xfrm>
          <a:prstGeom prst="rect">
            <a:avLst/>
          </a:prstGeom>
        </p:spPr>
        <p:txBody>
          <a:bodyPr/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sz="1600" dirty="0">
                <a:solidFill>
                  <a:schemeClr val="bg1"/>
                </a:solidFill>
              </a:rPr>
              <a:t>A projekt működése nem választható el a vállalat működésétől, a vállalat működése pedig nem választható el a környező gazdaság működésétől.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29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BA1A0-2772-43BE-B9ED-22BB4CF4A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projekt politika</a:t>
            </a:r>
            <a:r>
              <a:rPr lang="en-US" dirty="0" err="1"/>
              <a:t>i</a:t>
            </a:r>
            <a:r>
              <a:rPr lang="hu-HU" dirty="0"/>
              <a:t>, gazdasági, jogi környezete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1E7568-9341-48B1-A6ED-25CBBD719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47B3DD-CEDE-49DD-AB86-4B06F198296E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B06396-3FAB-436A-9D2E-D7B886AB0563}"/>
              </a:ext>
            </a:extLst>
          </p:cNvPr>
          <p:cNvSpPr txBox="1">
            <a:spLocks noChangeArrowheads="1"/>
          </p:cNvSpPr>
          <p:nvPr/>
        </p:nvSpPr>
        <p:spPr>
          <a:xfrm>
            <a:off x="1128684" y="2167385"/>
            <a:ext cx="7177116" cy="3288635"/>
          </a:xfrm>
          <a:prstGeom prst="rect">
            <a:avLst/>
          </a:prstGeom>
        </p:spPr>
        <p:txBody>
          <a:bodyPr/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politikai stabilitás, politika beleszólása a gazdaságba, hatalmi ágak és azok együttműködése, politikai közhangulat, demokrácia erőssége, stb. </a:t>
            </a:r>
          </a:p>
          <a:p>
            <a:r>
              <a:rPr lang="hu-HU" dirty="0"/>
              <a:t>világgazdaság, hazai gazdasági helyzet, gazdasági növekedés, infláció, munkanélküliség, tőkemozgás, kamatok, árfolyamok, export-import arány, adók, infrastruktúra fejlettsége, korrupció, beruházási kedv, stb.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58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60683-4787-4596-85C1-A96B7E933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84" y="956172"/>
            <a:ext cx="6571343" cy="503579"/>
          </a:xfrm>
        </p:spPr>
        <p:txBody>
          <a:bodyPr>
            <a:normAutofit fontScale="90000"/>
          </a:bodyPr>
          <a:lstStyle/>
          <a:p>
            <a:r>
              <a:rPr lang="hu-HU" dirty="0"/>
              <a:t>A projekt kulturális környezete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F4B519-EC24-4D00-B701-80B9BA1E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47B3DD-CEDE-49DD-AB86-4B06F198296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C0D9EE-1E54-48E4-AD4F-3C9E85CC196E}"/>
              </a:ext>
            </a:extLst>
          </p:cNvPr>
          <p:cNvSpPr/>
          <p:nvPr/>
        </p:nvSpPr>
        <p:spPr>
          <a:xfrm>
            <a:off x="1128684" y="1780615"/>
            <a:ext cx="56531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2000" dirty="0"/>
              <a:t>A nemzeti kultúra dimenziói </a:t>
            </a:r>
            <a:r>
              <a:rPr lang="hu-HU" sz="2000" dirty="0" err="1"/>
              <a:t>Hofstede</a:t>
            </a:r>
            <a:r>
              <a:rPr lang="hu-HU" sz="2000" dirty="0"/>
              <a:t> szerint 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7D4C7C-00CE-467B-8A7A-5DB4EE0BFDAA}"/>
              </a:ext>
            </a:extLst>
          </p:cNvPr>
          <p:cNvSpPr/>
          <p:nvPr/>
        </p:nvSpPr>
        <p:spPr>
          <a:xfrm>
            <a:off x="1078686" y="2551837"/>
            <a:ext cx="737951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/>
              <a:t>Hatalmi távolság index (PDI)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/>
              <a:t>Individualizmus (vagy kollektivizmus) (IDV)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/>
              <a:t>Férfiasság (vagy nőiesség) (MAS)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/>
              <a:t>A bizonytalanság elkerülésére való hajlamot jelző index (UAI)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/>
              <a:t>Időorientáció  (LTO)</a:t>
            </a:r>
          </a:p>
        </p:txBody>
      </p:sp>
    </p:spTree>
    <p:extLst>
      <p:ext uri="{BB962C8B-B14F-4D97-AF65-F5344CB8AC3E}">
        <p14:creationId xmlns:p14="http://schemas.microsoft.com/office/powerpoint/2010/main" val="614356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69398A6-D58C-44EA-BC46-30288A6E9341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139468" name="Group 20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732354465"/>
              </p:ext>
            </p:extLst>
          </p:nvPr>
        </p:nvGraphicFramePr>
        <p:xfrm>
          <a:off x="4533900" y="1754220"/>
          <a:ext cx="3924300" cy="4191002"/>
        </p:xfrm>
        <a:graphic>
          <a:graphicData uri="http://schemas.openxmlformats.org/drawingml/2006/table">
            <a:tbl>
              <a:tblPr/>
              <a:tblGrid>
                <a:gridCol w="392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Magas hatalmi távolság ind.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Magas </a:t>
                      </a:r>
                      <a:r>
                        <a:rPr kumimoji="0" 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dependencia</a:t>
                      </a: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igény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6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Elfogadott egyenlőtlenség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főnökök elérhetetlenek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4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Akinek hatalma van, privilégiumai is vannak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576" name="Rectangle 4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hu-HU" sz="2900" dirty="0"/>
              <a:t>PDI index néhány gyakorlati jellemzője</a:t>
            </a:r>
          </a:p>
        </p:txBody>
      </p:sp>
      <p:sp>
        <p:nvSpPr>
          <p:cNvPr id="23577" name="Rectangle 196"/>
          <p:cNvSpPr>
            <a:spLocks noChangeArrowheads="1"/>
          </p:cNvSpPr>
          <p:nvPr/>
        </p:nvSpPr>
        <p:spPr bwMode="auto">
          <a:xfrm>
            <a:off x="4268787" y="5930106"/>
            <a:ext cx="44545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 sz="1200" dirty="0"/>
              <a:t>http://www.scope.co.hu/TevReszl/ICM/Elmeletek_Hofstede.htm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DEA802-6AA4-4F82-A2D4-3C9DD83C1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602518"/>
              </p:ext>
            </p:extLst>
          </p:nvPr>
        </p:nvGraphicFramePr>
        <p:xfrm>
          <a:off x="609600" y="1754220"/>
          <a:ext cx="3924300" cy="4191002"/>
        </p:xfrm>
        <a:graphic>
          <a:graphicData uri="http://schemas.openxmlformats.org/drawingml/2006/table">
            <a:tbl>
              <a:tblPr/>
              <a:tblGrid>
                <a:gridCol w="3924300">
                  <a:extLst>
                    <a:ext uri="{9D8B030D-6E8A-4147-A177-3AD203B41FA5}">
                      <a16:colId xmlns:a16="http://schemas.microsoft.com/office/drawing/2014/main" val="137236385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Alacsony hatalmi távolság ind.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279001"/>
                  </a:ext>
                </a:extLst>
              </a:tr>
              <a:tr h="636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Alacsony </a:t>
                      </a:r>
                      <a:r>
                        <a:rPr kumimoji="0" 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dependencia</a:t>
                      </a: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igény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014979"/>
                  </a:ext>
                </a:extLst>
              </a:tr>
              <a:tr h="906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Minimalizálják az egyenlőtlenséget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590741"/>
                  </a:ext>
                </a:extLst>
              </a:tr>
              <a:tr h="731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főnökök elérhetőek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553919"/>
                  </a:ext>
                </a:extLst>
              </a:tr>
              <a:tr h="1274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Mindenkinek egyenlő jogai vannak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7096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E17CF0F-5FA3-4B11-B489-A24C47181007}"/>
              </a:ext>
            </a:extLst>
          </p:cNvPr>
          <p:cNvSpPr txBox="1"/>
          <p:nvPr/>
        </p:nvSpPr>
        <p:spPr>
          <a:xfrm>
            <a:off x="609600" y="6204744"/>
            <a:ext cx="853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(Power distance, PDI): </a:t>
            </a:r>
            <a:r>
              <a:rPr lang="en-US" dirty="0" err="1"/>
              <a:t>mennyire</a:t>
            </a:r>
            <a:r>
              <a:rPr lang="en-US" dirty="0"/>
              <a:t> </a:t>
            </a:r>
            <a:r>
              <a:rPr lang="en-US" dirty="0" err="1"/>
              <a:t>fogadják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társadalom</a:t>
            </a:r>
            <a:r>
              <a:rPr lang="en-US" dirty="0"/>
              <a:t> </a:t>
            </a:r>
            <a:r>
              <a:rPr lang="en-US" dirty="0" err="1"/>
              <a:t>kevesebb</a:t>
            </a:r>
            <a:r>
              <a:rPr lang="en-US" dirty="0"/>
              <a:t> </a:t>
            </a:r>
            <a:r>
              <a:rPr lang="en-US" dirty="0" err="1"/>
              <a:t>hatalommal</a:t>
            </a:r>
            <a:r>
              <a:rPr lang="en-US" dirty="0"/>
              <a:t> </a:t>
            </a:r>
            <a:r>
              <a:rPr lang="en-US" dirty="0" err="1"/>
              <a:t>rendelkező</a:t>
            </a:r>
            <a:r>
              <a:rPr lang="en-US" dirty="0"/>
              <a:t> </a:t>
            </a:r>
            <a:r>
              <a:rPr lang="en-US" dirty="0" err="1"/>
              <a:t>tagjai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egyenlőtlen</a:t>
            </a:r>
            <a:r>
              <a:rPr lang="en-US" dirty="0"/>
              <a:t> </a:t>
            </a:r>
            <a:r>
              <a:rPr lang="en-US" dirty="0" err="1"/>
              <a:t>hatalmi</a:t>
            </a:r>
            <a:r>
              <a:rPr lang="en-US" dirty="0"/>
              <a:t> </a:t>
            </a:r>
            <a:r>
              <a:rPr lang="en-US" dirty="0" err="1"/>
              <a:t>megoszlást</a:t>
            </a:r>
            <a:r>
              <a:rPr lang="hu-HU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81714BB-0C96-45C4-AE0A-8976B9DF6D4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6628" name="Rectangle 26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hu-HU" sz="2900" dirty="0"/>
              <a:t>IDV index néhány gyakorlati jellemzője</a:t>
            </a:r>
          </a:p>
        </p:txBody>
      </p:sp>
      <p:graphicFrame>
        <p:nvGraphicFramePr>
          <p:cNvPr id="171106" name="Group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292062"/>
              </p:ext>
            </p:extLst>
          </p:nvPr>
        </p:nvGraphicFramePr>
        <p:xfrm>
          <a:off x="4572000" y="1438274"/>
          <a:ext cx="3467100" cy="3971926"/>
        </p:xfrm>
        <a:graphic>
          <a:graphicData uri="http://schemas.openxmlformats.org/drawingml/2006/table">
            <a:tbl>
              <a:tblPr/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2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Individualizmus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2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„Én” tudatos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1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Magánvélemény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hu-H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2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Önmaga felé vannak kötelezettségei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Önbecsülés elvesztése, bűntudat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49" name="Rectangle 96"/>
          <p:cNvSpPr>
            <a:spLocks noChangeArrowheads="1"/>
          </p:cNvSpPr>
          <p:nvPr/>
        </p:nvSpPr>
        <p:spPr bwMode="auto">
          <a:xfrm>
            <a:off x="4267200" y="5653881"/>
            <a:ext cx="44545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 sz="1200" dirty="0"/>
              <a:t>http://www.scope.co.hu/TevReszl/ICM/Elmeletek_Hofstede.htm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5B8C1-042B-4108-8A8A-E5A20EE3E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096084"/>
              </p:ext>
            </p:extLst>
          </p:nvPr>
        </p:nvGraphicFramePr>
        <p:xfrm>
          <a:off x="1104900" y="1447800"/>
          <a:ext cx="3467100" cy="4000500"/>
        </p:xfrm>
        <a:graphic>
          <a:graphicData uri="http://schemas.openxmlformats.org/drawingml/2006/table">
            <a:tbl>
              <a:tblPr/>
              <a:tblGrid>
                <a:gridCol w="3467100">
                  <a:extLst>
                    <a:ext uri="{9D8B030D-6E8A-4147-A177-3AD203B41FA5}">
                      <a16:colId xmlns:a16="http://schemas.microsoft.com/office/drawing/2014/main" val="361222630"/>
                    </a:ext>
                  </a:extLst>
                </a:gridCol>
              </a:tblGrid>
              <a:tr h="568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Kollektivizmus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760417"/>
                  </a:ext>
                </a:extLst>
              </a:tr>
              <a:tr h="2501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„Mi” tudatos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757239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Kapcsolat fontosabb a feladatnál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28041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csoport felé vannak kötelezettségei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461786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Becsület elvesztése, szégyen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63765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BE2506F-8067-429F-B69A-92743599BB62}"/>
              </a:ext>
            </a:extLst>
          </p:cNvPr>
          <p:cNvSpPr txBox="1"/>
          <p:nvPr/>
        </p:nvSpPr>
        <p:spPr>
          <a:xfrm>
            <a:off x="152400" y="6134100"/>
            <a:ext cx="876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(Individualism, IDV):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egyén</a:t>
            </a:r>
            <a:r>
              <a:rPr lang="en-US" dirty="0"/>
              <a:t> </a:t>
            </a:r>
            <a:r>
              <a:rPr lang="en-US" dirty="0" err="1"/>
              <a:t>mennyire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önmagához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családhoz</a:t>
            </a:r>
            <a:r>
              <a:rPr lang="en-US" dirty="0"/>
              <a:t> </a:t>
            </a:r>
            <a:r>
              <a:rPr lang="en-US" dirty="0" err="1"/>
              <a:t>kötődik</a:t>
            </a:r>
            <a:r>
              <a:rPr lang="en-US" dirty="0"/>
              <a:t>, </a:t>
            </a:r>
            <a:r>
              <a:rPr lang="en-US" dirty="0" err="1"/>
              <a:t>illetve</a:t>
            </a:r>
            <a:r>
              <a:rPr lang="en-US" dirty="0"/>
              <a:t> </a:t>
            </a:r>
            <a:r>
              <a:rPr lang="en-US" dirty="0" err="1"/>
              <a:t>mennyire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ennél</a:t>
            </a:r>
            <a:r>
              <a:rPr lang="en-US" dirty="0"/>
              <a:t> </a:t>
            </a:r>
            <a:r>
              <a:rPr lang="en-US" dirty="0" err="1"/>
              <a:t>tágabb</a:t>
            </a:r>
            <a:r>
              <a:rPr lang="en-US" dirty="0"/>
              <a:t> </a:t>
            </a:r>
            <a:r>
              <a:rPr lang="en-US" dirty="0" err="1"/>
              <a:t>valamely</a:t>
            </a:r>
            <a:r>
              <a:rPr lang="en-US" dirty="0"/>
              <a:t> </a:t>
            </a:r>
            <a:r>
              <a:rPr lang="en-US" dirty="0" err="1"/>
              <a:t>csoporthoz</a:t>
            </a:r>
            <a:r>
              <a:rPr lang="hu-HU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6211435-B16E-4EFF-A3E6-EFC4D88BB52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4580" name="Rectangle 26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hu-HU" sz="2900" dirty="0"/>
              <a:t>MAS index néhány gyakorlati jellemzője</a:t>
            </a:r>
          </a:p>
        </p:txBody>
      </p:sp>
      <p:graphicFrame>
        <p:nvGraphicFramePr>
          <p:cNvPr id="167010" name="Group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447016"/>
              </p:ext>
            </p:extLst>
          </p:nvPr>
        </p:nvGraphicFramePr>
        <p:xfrm>
          <a:off x="4562475" y="1447800"/>
          <a:ext cx="3829050" cy="4312604"/>
        </p:xfrm>
        <a:graphic>
          <a:graphicData uri="http://schemas.openxmlformats.org/drawingml/2006/table">
            <a:tbl>
              <a:tblPr/>
              <a:tblGrid>
                <a:gridCol w="382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Férfiasság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hu-H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Ambiciózus, kiválóságra törekszik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Polarizálás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Azért élünk, hogy dolgozzunk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Az a szép, ami nagy és gyors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győztes dicsőítése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Határozottság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607" name="Rectangle 96"/>
          <p:cNvSpPr>
            <a:spLocks noChangeArrowheads="1"/>
          </p:cNvSpPr>
          <p:nvPr/>
        </p:nvSpPr>
        <p:spPr bwMode="auto">
          <a:xfrm>
            <a:off x="4419600" y="5827079"/>
            <a:ext cx="44545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 sz="1200" dirty="0"/>
              <a:t>http://www.scope.co.hu/TevReszl/ICM/Elmeletek_Hofstede.htm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E57136-5D9C-41E4-9ED9-865109615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768049"/>
              </p:ext>
            </p:extLst>
          </p:nvPr>
        </p:nvGraphicFramePr>
        <p:xfrm>
          <a:off x="733424" y="1447801"/>
          <a:ext cx="3838575" cy="4345941"/>
        </p:xfrm>
        <a:graphic>
          <a:graphicData uri="http://schemas.openxmlformats.org/drawingml/2006/table">
            <a:tbl>
              <a:tblPr/>
              <a:tblGrid>
                <a:gridCol w="3838575">
                  <a:extLst>
                    <a:ext uri="{9D8B030D-6E8A-4147-A177-3AD203B41FA5}">
                      <a16:colId xmlns:a16="http://schemas.microsoft.com/office/drawing/2014/main" val="725322031"/>
                    </a:ext>
                  </a:extLst>
                </a:gridCol>
              </a:tblGrid>
              <a:tr h="7117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Nőiesség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37551"/>
                  </a:ext>
                </a:extLst>
              </a:tr>
              <a:tr h="7175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Életünket mások szolgálatában töltjük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181627"/>
                  </a:ext>
                </a:extLst>
              </a:tr>
              <a:tr h="6158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Konszenzuskereső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70161"/>
                  </a:ext>
                </a:extLst>
              </a:tr>
              <a:tr h="6174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Azért dolgozunk, hogy éljünk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349005"/>
                  </a:ext>
                </a:extLst>
              </a:tr>
              <a:tr h="5540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Az a szép, ami kicsi és lassú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9334"/>
                  </a:ext>
                </a:extLst>
              </a:tr>
              <a:tr h="5557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Szánjuk a szenvedőt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535062"/>
                  </a:ext>
                </a:extLst>
              </a:tr>
              <a:tr h="573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Intuíció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2907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604B3EC-B07B-428B-91DB-02EC38C4D3DA}"/>
              </a:ext>
            </a:extLst>
          </p:cNvPr>
          <p:cNvSpPr txBox="1"/>
          <p:nvPr/>
        </p:nvSpPr>
        <p:spPr>
          <a:xfrm>
            <a:off x="304800" y="6044566"/>
            <a:ext cx="883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(Masculinity-femininity, MAS): </a:t>
            </a:r>
            <a:r>
              <a:rPr lang="en-US" dirty="0" err="1"/>
              <a:t>férfias</a:t>
            </a:r>
            <a:r>
              <a:rPr lang="en-US" dirty="0"/>
              <a:t> </a:t>
            </a:r>
            <a:r>
              <a:rPr lang="en-US" dirty="0" err="1"/>
              <a:t>kultúrákra</a:t>
            </a:r>
            <a:r>
              <a:rPr lang="en-US" dirty="0"/>
              <a:t> </a:t>
            </a:r>
            <a:r>
              <a:rPr lang="en-US" dirty="0" err="1"/>
              <a:t>inkább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öntudatosság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anyagi</a:t>
            </a:r>
            <a:r>
              <a:rPr lang="en-US" dirty="0"/>
              <a:t> </a:t>
            </a:r>
            <a:r>
              <a:rPr lang="en-US" dirty="0" err="1"/>
              <a:t>sikerre</a:t>
            </a:r>
            <a:r>
              <a:rPr lang="en-US" dirty="0"/>
              <a:t> </a:t>
            </a:r>
            <a:r>
              <a:rPr lang="en-US" dirty="0" err="1"/>
              <a:t>való</a:t>
            </a:r>
            <a:r>
              <a:rPr lang="en-US" dirty="0"/>
              <a:t> </a:t>
            </a:r>
            <a:r>
              <a:rPr lang="en-US" dirty="0" err="1"/>
              <a:t>törekvés</a:t>
            </a:r>
            <a:r>
              <a:rPr lang="en-US" dirty="0"/>
              <a:t> a </a:t>
            </a:r>
            <a:r>
              <a:rPr lang="en-US" dirty="0" err="1"/>
              <a:t>jellemző</a:t>
            </a:r>
            <a:r>
              <a:rPr lang="en-US" dirty="0"/>
              <a:t>, a </a:t>
            </a:r>
            <a:r>
              <a:rPr lang="en-US" dirty="0" err="1"/>
              <a:t>nőiesre</a:t>
            </a:r>
            <a:r>
              <a:rPr lang="en-US" dirty="0"/>
              <a:t> </a:t>
            </a:r>
            <a:r>
              <a:rPr lang="en-US" dirty="0" err="1"/>
              <a:t>pedig</a:t>
            </a:r>
            <a:r>
              <a:rPr lang="en-US" dirty="0"/>
              <a:t> </a:t>
            </a:r>
            <a:r>
              <a:rPr lang="en-US" dirty="0" err="1"/>
              <a:t>inkább</a:t>
            </a:r>
            <a:r>
              <a:rPr lang="en-US" dirty="0"/>
              <a:t> </a:t>
            </a:r>
            <a:r>
              <a:rPr lang="en-US" dirty="0" err="1"/>
              <a:t>olyan</a:t>
            </a:r>
            <a:r>
              <a:rPr lang="en-US" dirty="0"/>
              <a:t> </a:t>
            </a:r>
            <a:r>
              <a:rPr lang="en-US" dirty="0" err="1"/>
              <a:t>fogalmak</a:t>
            </a:r>
            <a:r>
              <a:rPr lang="en-US" dirty="0"/>
              <a:t>, mint a </a:t>
            </a:r>
            <a:r>
              <a:rPr lang="en-US" dirty="0" err="1"/>
              <a:t>szerénység</a:t>
            </a:r>
            <a:r>
              <a:rPr lang="en-US" dirty="0"/>
              <a:t>, a </a:t>
            </a:r>
            <a:r>
              <a:rPr lang="en-US" dirty="0" err="1"/>
              <a:t>gyengédség</a:t>
            </a:r>
            <a:r>
              <a:rPr lang="en-US" dirty="0"/>
              <a:t>,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élet</a:t>
            </a:r>
            <a:r>
              <a:rPr lang="en-US" dirty="0"/>
              <a:t> </a:t>
            </a:r>
            <a:r>
              <a:rPr lang="en-US" dirty="0" err="1"/>
              <a:t>minősége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980746D-1477-433A-9B5D-95F17E8BCD1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5604" name="Rectangle 26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hu-HU" sz="2900" dirty="0"/>
              <a:t>UAI index néhány gyakorlati jellemzője</a:t>
            </a:r>
          </a:p>
        </p:txBody>
      </p:sp>
      <p:graphicFrame>
        <p:nvGraphicFramePr>
          <p:cNvPr id="169058" name="Group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377016"/>
              </p:ext>
            </p:extLst>
          </p:nvPr>
        </p:nvGraphicFramePr>
        <p:xfrm>
          <a:off x="4460875" y="1447800"/>
          <a:ext cx="3657600" cy="4409441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Magas bizonytalanságkerülés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Szorongás, magas stressz szint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Belső késztetés a kemény munkára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Ki lehet mutatni az érzelmeket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konfliktus fenyegető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Sok törvény és szabály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628" name="Rectangle 96"/>
          <p:cNvSpPr>
            <a:spLocks noChangeArrowheads="1"/>
          </p:cNvSpPr>
          <p:nvPr/>
        </p:nvSpPr>
        <p:spPr bwMode="auto">
          <a:xfrm>
            <a:off x="4267200" y="5857241"/>
            <a:ext cx="44545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 sz="1200"/>
              <a:t>http://www.scope.co.hu/TevReszl/ICM/Elmeletek_Hofstede.htm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C9A2A4-393A-4B19-B66F-3E8ED3B2A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337757"/>
              </p:ext>
            </p:extLst>
          </p:nvPr>
        </p:nvGraphicFramePr>
        <p:xfrm>
          <a:off x="812800" y="1447800"/>
          <a:ext cx="3657600" cy="4409441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942277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Alacsony bizonytalanságkerülés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806899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Alacsony stressz szint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325333"/>
                  </a:ext>
                </a:extLst>
              </a:tr>
              <a:tr h="760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kemény munka önmagában nem érdem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797247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Az érzelmeket elrejtik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545333"/>
                  </a:ext>
                </a:extLst>
              </a:tr>
              <a:tr h="760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konfliktus és a verseny megengedett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23665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Kevés törvény és szabály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99400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6F61613-F38F-41D0-8A98-204FD26F9073}"/>
              </a:ext>
            </a:extLst>
          </p:cNvPr>
          <p:cNvSpPr txBox="1"/>
          <p:nvPr/>
        </p:nvSpPr>
        <p:spPr>
          <a:xfrm>
            <a:off x="742950" y="6079939"/>
            <a:ext cx="88161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(Uncertainty avoidance, UAI):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kultúra</a:t>
            </a:r>
            <a:r>
              <a:rPr lang="en-US" dirty="0"/>
              <a:t> </a:t>
            </a:r>
            <a:r>
              <a:rPr lang="en-US" dirty="0" err="1"/>
              <a:t>tagjai</a:t>
            </a:r>
            <a:r>
              <a:rPr lang="en-US" dirty="0"/>
              <a:t> </a:t>
            </a:r>
            <a:r>
              <a:rPr lang="en-US" dirty="0" err="1"/>
              <a:t>mennyire</a:t>
            </a:r>
            <a:r>
              <a:rPr lang="en-US" dirty="0"/>
              <a:t> </a:t>
            </a:r>
            <a:r>
              <a:rPr lang="en-US" dirty="0" err="1"/>
              <a:t>félnek</a:t>
            </a:r>
            <a:r>
              <a:rPr lang="en-US" dirty="0"/>
              <a:t> a </a:t>
            </a:r>
            <a:r>
              <a:rPr lang="en-US" dirty="0" err="1"/>
              <a:t>bizonytalanságtól</a:t>
            </a:r>
            <a:r>
              <a:rPr lang="en-US" dirty="0"/>
              <a:t>,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ismeretlen</a:t>
            </a:r>
            <a:r>
              <a:rPr lang="en-US" dirty="0"/>
              <a:t> </a:t>
            </a:r>
            <a:r>
              <a:rPr lang="en-US" dirty="0" err="1"/>
              <a:t>helyzettől</a:t>
            </a:r>
            <a:r>
              <a:rPr lang="hu-HU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45FBFF5-E10E-4B34-A53C-D3EEB1741E92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175173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199006"/>
              </p:ext>
            </p:extLst>
          </p:nvPr>
        </p:nvGraphicFramePr>
        <p:xfrm>
          <a:off x="4572000" y="1419224"/>
          <a:ext cx="3467100" cy="4019552"/>
        </p:xfrm>
        <a:graphic>
          <a:graphicData uri="http://schemas.openxmlformats.org/drawingml/2006/table">
            <a:tbl>
              <a:tblPr/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Magas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Pragmatikus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Hosszú távú orientáció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változás elfogadása	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Állhatatosság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Takarékos, hogy beruházzon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675" name="Rectangle 3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hu-HU" sz="2900" dirty="0"/>
              <a:t>LTO index néhány gyakorlati jellemzője</a:t>
            </a:r>
          </a:p>
        </p:txBody>
      </p:sp>
      <p:sp>
        <p:nvSpPr>
          <p:cNvPr id="27676" name="Rectangle 24"/>
          <p:cNvSpPr>
            <a:spLocks noChangeArrowheads="1"/>
          </p:cNvSpPr>
          <p:nvPr/>
        </p:nvSpPr>
        <p:spPr bwMode="auto">
          <a:xfrm>
            <a:off x="3244474" y="5638800"/>
            <a:ext cx="44545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 sz="1200" dirty="0"/>
              <a:t>http://www.scope.co.hu/TevReszl/ICM/Elmeletek_Hofstede.htm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EA4CD0-BB03-41BB-B00C-ECAF67E45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678809"/>
              </p:ext>
            </p:extLst>
          </p:nvPr>
        </p:nvGraphicFramePr>
        <p:xfrm>
          <a:off x="1104900" y="1419224"/>
          <a:ext cx="3467100" cy="4037967"/>
        </p:xfrm>
        <a:graphic>
          <a:graphicData uri="http://schemas.openxmlformats.org/drawingml/2006/table">
            <a:tbl>
              <a:tblPr/>
              <a:tblGrid>
                <a:gridCol w="3467100">
                  <a:extLst>
                    <a:ext uri="{9D8B030D-6E8A-4147-A177-3AD203B41FA5}">
                      <a16:colId xmlns:a16="http://schemas.microsoft.com/office/drawing/2014/main" val="1746347610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Alacsony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169589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Hagyománytisztelő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51315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Rövid távú orientáció </a:t>
                      </a:r>
                      <a:b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</a:br>
                      <a:endParaRPr kumimoji="0" 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198877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Stabilitáskereső</a:t>
                      </a:r>
                      <a:b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</a:br>
                      <a:endParaRPr kumimoji="0" 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053726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Gyors eredményeket vár</a:t>
                      </a:r>
                      <a:b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</a:b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	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313054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Éljünk a </a:t>
                      </a:r>
                      <a:r>
                        <a:rPr kumimoji="0" 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mának</a:t>
                      </a:r>
                      <a:endParaRPr kumimoji="0" 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6899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B40B557-8174-4ACA-825F-8E218AC31B90}"/>
              </a:ext>
            </a:extLst>
          </p:cNvPr>
          <p:cNvSpPr txBox="1"/>
          <p:nvPr/>
        </p:nvSpPr>
        <p:spPr>
          <a:xfrm>
            <a:off x="152400" y="6113462"/>
            <a:ext cx="8915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(Long-term versus short-term orientation, LTO):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adott</a:t>
            </a:r>
            <a:r>
              <a:rPr lang="en-US" dirty="0"/>
              <a:t> </a:t>
            </a:r>
            <a:r>
              <a:rPr lang="en-US" dirty="0" err="1"/>
              <a:t>kultúrában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egyének</a:t>
            </a:r>
            <a:r>
              <a:rPr lang="en-US" dirty="0"/>
              <a:t> </a:t>
            </a:r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időtávban</a:t>
            </a:r>
            <a:r>
              <a:rPr lang="en-US" dirty="0"/>
              <a:t> </a:t>
            </a:r>
            <a:r>
              <a:rPr lang="en-US" dirty="0" err="1"/>
              <a:t>gondolkodnak</a:t>
            </a:r>
            <a:r>
              <a:rPr lang="en-US" dirty="0"/>
              <a:t>, </a:t>
            </a:r>
            <a:r>
              <a:rPr lang="en-US" dirty="0" err="1"/>
              <a:t>rövidben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inkább</a:t>
            </a:r>
            <a:r>
              <a:rPr lang="en-US" dirty="0"/>
              <a:t> </a:t>
            </a:r>
            <a:r>
              <a:rPr lang="en-US" dirty="0" err="1"/>
              <a:t>hosszabban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9ECF97D-3AD7-4855-B340-8CF8A6ABB23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dirty="0"/>
              <a:t>Néhány ország </a:t>
            </a:r>
            <a:r>
              <a:rPr lang="hu-HU" dirty="0" err="1"/>
              <a:t>Hofstede</a:t>
            </a:r>
            <a:r>
              <a:rPr lang="hu-HU" dirty="0"/>
              <a:t> szerint 1</a:t>
            </a:r>
            <a:endParaRPr lang="en-US" dirty="0"/>
          </a:p>
        </p:txBody>
      </p:sp>
      <p:pic>
        <p:nvPicPr>
          <p:cNvPr id="28676" name="Picture 4" descr="hofstede_united_kingd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447800"/>
            <a:ext cx="3356627" cy="2292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6210300" y="6107113"/>
            <a:ext cx="22479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/>
              <a:t>http://www.geert-hofstede.com</a:t>
            </a:r>
          </a:p>
        </p:txBody>
      </p:sp>
      <p:pic>
        <p:nvPicPr>
          <p:cNvPr id="28678" name="Picture 6" descr="hofstede_german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00600" y="1438878"/>
            <a:ext cx="3369690" cy="2301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9" name="Picture 7" descr="hofstede_sweden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25137" y="3740280"/>
            <a:ext cx="3369690" cy="2301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0" name="Picture 9" descr="hofstede_united_state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800600" y="3701893"/>
            <a:ext cx="3369690" cy="2301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E9916392-FE7A-4911-873F-FA6225EA00DE}"/>
              </a:ext>
            </a:extLst>
          </p:cNvPr>
          <p:cNvSpPr txBox="1"/>
          <p:nvPr/>
        </p:nvSpPr>
        <p:spPr>
          <a:xfrm>
            <a:off x="7543800" y="2136903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rgbClr val="FF0000"/>
                </a:solidFill>
              </a:rPr>
              <a:t>2015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4EC99013-676F-4AB7-93F0-7FDA38D60EC3}"/>
              </a:ext>
            </a:extLst>
          </p:cNvPr>
          <p:cNvSpPr txBox="1"/>
          <p:nvPr/>
        </p:nvSpPr>
        <p:spPr>
          <a:xfrm>
            <a:off x="3581400" y="2650495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rgbClr val="FF0000"/>
                </a:solidFill>
              </a:rPr>
              <a:t>2015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9A0A706D-3557-42A9-8849-BA34ECF532CC}"/>
              </a:ext>
            </a:extLst>
          </p:cNvPr>
          <p:cNvSpPr txBox="1"/>
          <p:nvPr/>
        </p:nvSpPr>
        <p:spPr>
          <a:xfrm>
            <a:off x="3454037" y="4804606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rgbClr val="FF0000"/>
                </a:solidFill>
              </a:rPr>
              <a:t>2015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88B5C77-40A0-4B44-AA15-C2411A9DB9A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dirty="0"/>
              <a:t>Néhány ország </a:t>
            </a:r>
            <a:r>
              <a:rPr lang="hu-HU" dirty="0" err="1"/>
              <a:t>Hofstede</a:t>
            </a:r>
            <a:r>
              <a:rPr lang="hu-HU" dirty="0"/>
              <a:t> szerint (62 adatból)</a:t>
            </a: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072016"/>
              </p:ext>
            </p:extLst>
          </p:nvPr>
        </p:nvGraphicFramePr>
        <p:xfrm>
          <a:off x="1128684" y="2043507"/>
          <a:ext cx="7558116" cy="398885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56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2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9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073"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solidFill>
                            <a:schemeClr val="tx1"/>
                          </a:solidFill>
                        </a:rPr>
                        <a:t>Dimenzió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solidFill>
                            <a:schemeClr val="tx1"/>
                          </a:solidFill>
                        </a:rPr>
                        <a:t>Első öt (magas)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solidFill>
                            <a:schemeClr val="tx1"/>
                          </a:solidFill>
                        </a:rPr>
                        <a:t>Utolsó öt (alacsony)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073">
                <a:tc>
                  <a:txBody>
                    <a:bodyPr/>
                    <a:lstStyle/>
                    <a:p>
                      <a:r>
                        <a:rPr lang="hu-HU" dirty="0">
                          <a:solidFill>
                            <a:schemeClr val="tx1"/>
                          </a:solidFill>
                        </a:rPr>
                        <a:t>PDI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/>
                        </a:rPr>
                        <a:t>Malayzia</a:t>
                      </a:r>
                      <a:r>
                        <a:rPr lang="hu-HU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/>
                        </a:rPr>
                        <a:t>, </a:t>
                      </a:r>
                      <a:r>
                        <a:rPr lang="hu-HU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+mn-cs"/>
                        </a:rPr>
                        <a:t>Guatemala, Panama, Fülöp-szigetek, arab világ</a:t>
                      </a:r>
                      <a:endParaRPr lang="hu-HU" sz="1800" b="0" i="0" u="none" strike="noStrike" dirty="0"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sz="18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Ausztria, Izrael, Dánia, Új-Zéland, Írország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73">
                <a:tc>
                  <a:txBody>
                    <a:bodyPr/>
                    <a:lstStyle/>
                    <a:p>
                      <a:r>
                        <a:rPr lang="hu-HU" dirty="0">
                          <a:solidFill>
                            <a:schemeClr val="tx1"/>
                          </a:solidFill>
                        </a:rPr>
                        <a:t>IDV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Egyesült Államok, Ausztrália, Egyesült Királyság, Hollandia, Kanada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Guatemala, Panama, Ecuador, Venezuela, Indonézia</a:t>
                      </a:r>
                    </a:p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073">
                <a:tc>
                  <a:txBody>
                    <a:bodyPr/>
                    <a:lstStyle/>
                    <a:p>
                      <a:r>
                        <a:rPr lang="hu-HU" dirty="0">
                          <a:solidFill>
                            <a:schemeClr val="tx1"/>
                          </a:solidFill>
                        </a:rPr>
                        <a:t>MAS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Japán, Ausztria,</a:t>
                      </a:r>
                      <a:r>
                        <a:rPr lang="hu-HU" sz="18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hu-H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Venezuela,</a:t>
                      </a:r>
                      <a:r>
                        <a:rPr lang="hu-HU" sz="18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hu-H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Olaszország,</a:t>
                      </a:r>
                      <a:r>
                        <a:rPr lang="hu-HU" sz="18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hu-H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Mexikó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Svédország, Norvégia, </a:t>
                      </a:r>
                      <a:r>
                        <a:rPr lang="hu-HU" sz="1800" b="1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Skandinávia</a:t>
                      </a:r>
                      <a:r>
                        <a:rPr lang="hu-H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, Dánia, Hollandia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073">
                <a:tc>
                  <a:txBody>
                    <a:bodyPr/>
                    <a:lstStyle/>
                    <a:p>
                      <a:r>
                        <a:rPr lang="hu-HU" dirty="0">
                          <a:solidFill>
                            <a:schemeClr val="tx1"/>
                          </a:solidFill>
                        </a:rPr>
                        <a:t>UAI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Görögország, Portugália,</a:t>
                      </a:r>
                      <a:r>
                        <a:rPr lang="hu-HU" sz="18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hu-H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Guatemala, Uruguay, Salvador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Szingapur</a:t>
                      </a:r>
                      <a:r>
                        <a:rPr lang="hu-H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, Jamaica, Dánia, Svédország, Hong Kong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073">
                <a:tc>
                  <a:txBody>
                    <a:bodyPr/>
                    <a:lstStyle/>
                    <a:p>
                      <a:r>
                        <a:rPr lang="hu-HU" dirty="0">
                          <a:solidFill>
                            <a:schemeClr val="tx1"/>
                          </a:solidFill>
                        </a:rPr>
                        <a:t>LTO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Kina</a:t>
                      </a:r>
                      <a:r>
                        <a:rPr lang="hu-H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, Hong Kong, </a:t>
                      </a:r>
                      <a:r>
                        <a:rPr lang="hu-HU" sz="1800" b="1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Ázsia</a:t>
                      </a:r>
                      <a:r>
                        <a:rPr lang="hu-H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, Tajvan, Japán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Fülöp-szigetek, Kanada, </a:t>
                      </a:r>
                      <a:r>
                        <a:rPr lang="hu-HU" sz="1800" b="1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Kelet Afrika</a:t>
                      </a:r>
                      <a:r>
                        <a:rPr lang="hu-HU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, Egyesült Királyság, Egyesült Államok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5A3F31B-6286-4C68-A607-8FF1098A8AFC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30723" name="Picture 5" descr="hofstede_hungar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1600200"/>
            <a:ext cx="6571343" cy="4486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dirty="0"/>
              <a:t>Néhány ország </a:t>
            </a:r>
            <a:r>
              <a:rPr lang="hu-HU" dirty="0" err="1"/>
              <a:t>Hofstede</a:t>
            </a:r>
            <a:r>
              <a:rPr lang="hu-HU" dirty="0"/>
              <a:t> szerint 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Szabadkéz 1">
                <a:extLst>
                  <a:ext uri="{FF2B5EF4-FFF2-40B4-BE49-F238E27FC236}">
                    <a16:creationId xmlns:a16="http://schemas.microsoft.com/office/drawing/2014/main" id="{7070DE2D-622B-492D-8782-07D713D65871}"/>
                  </a:ext>
                </a:extLst>
              </p14:cNvPr>
              <p14:cNvContentPartPr/>
              <p14:nvPr/>
            </p14:nvContentPartPr>
            <p14:xfrm>
              <a:off x="3563749" y="3153415"/>
              <a:ext cx="288" cy="288"/>
            </p14:xfrm>
          </p:contentPart>
        </mc:Choice>
        <mc:Fallback xmlns="">
          <p:pic>
            <p:nvPicPr>
              <p:cNvPr id="2" name="Szabadkéz 1">
                <a:extLst>
                  <a:ext uri="{FF2B5EF4-FFF2-40B4-BE49-F238E27FC236}">
                    <a16:creationId xmlns:a16="http://schemas.microsoft.com/office/drawing/2014/main" id="{7070DE2D-622B-492D-8782-07D713D658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57989" y="3147655"/>
                <a:ext cx="11520" cy="1152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714CDCA-9F83-4EC8-A41E-B6B2A05FC5A7}"/>
              </a:ext>
            </a:extLst>
          </p:cNvPr>
          <p:cNvSpPr txBox="1"/>
          <p:nvPr/>
        </p:nvSpPr>
        <p:spPr>
          <a:xfrm>
            <a:off x="1752312" y="5573950"/>
            <a:ext cx="563505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B06C1B-A301-496E-891A-C595037CB495}"/>
              </a:ext>
            </a:extLst>
          </p:cNvPr>
          <p:cNvSpPr/>
          <p:nvPr/>
        </p:nvSpPr>
        <p:spPr>
          <a:xfrm>
            <a:off x="2171700" y="2196947"/>
            <a:ext cx="5177568" cy="33641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EEBC48-D1C5-413F-A640-C627C217F1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6766" y="5599657"/>
            <a:ext cx="5341077" cy="3829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callcentrehelper.com/images/stories/2010/2016/05/team-meeting-improve-760.jpg">
            <a:extLst>
              <a:ext uri="{FF2B5EF4-FFF2-40B4-BE49-F238E27FC236}">
                <a16:creationId xmlns:a16="http://schemas.microsoft.com/office/drawing/2014/main" id="{21F7D3D1-4366-4B82-BFB3-DCA8CCAB0A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2" r="1" b="1"/>
          <a:stretch/>
        </p:blipFill>
        <p:spPr bwMode="auto">
          <a:xfrm>
            <a:off x="-1067" y="-38100"/>
            <a:ext cx="914375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29E93F-9AC9-4BEE-80E6-8466CDFF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809" y="4919076"/>
            <a:ext cx="4199799" cy="503577"/>
          </a:xfrm>
          <a:solidFill>
            <a:schemeClr val="tx2"/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000" b="1" dirty="0">
                <a:solidFill>
                  <a:srgbClr val="FFFFFF"/>
                </a:solidFill>
              </a:rPr>
              <a:t>Mi a v</a:t>
            </a:r>
            <a:r>
              <a:rPr lang="hu-HU" sz="3000" b="1" dirty="0" err="1">
                <a:solidFill>
                  <a:srgbClr val="FFFFFF"/>
                </a:solidFill>
              </a:rPr>
              <a:t>állalati</a:t>
            </a:r>
            <a:r>
              <a:rPr lang="hu-HU" sz="3000" b="1" dirty="0">
                <a:solidFill>
                  <a:srgbClr val="FFFFFF"/>
                </a:solidFill>
              </a:rPr>
              <a:t> kultúra?</a:t>
            </a:r>
            <a:endParaRPr lang="en-US" sz="3000" b="1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F805D-D4E7-4987-974E-3ED0E09A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14350" y="4919075"/>
            <a:ext cx="608264" cy="50357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753B17E5-C457-4297-BDE7-E43B45805AC6}" type="slidenum">
              <a:rPr lang="en-US">
                <a:solidFill>
                  <a:srgbClr val="FFFFFE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14</a:t>
            </a:fld>
            <a:endParaRPr lang="en-US" dirty="0">
              <a:solidFill>
                <a:srgbClr val="FFFF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07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AAE34C5-E041-4BD0-82B1-6762F0ABC09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/>
              <a:t>Vállalati kultúra</a:t>
            </a:r>
            <a:endParaRPr lang="en-US"/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41" y="1663610"/>
            <a:ext cx="7696200" cy="4038600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hu-HU" sz="2400" dirty="0" err="1"/>
              <a:t>Fons</a:t>
            </a:r>
            <a:r>
              <a:rPr lang="hu-HU" sz="2400" dirty="0"/>
              <a:t> </a:t>
            </a:r>
            <a:r>
              <a:rPr lang="hu-HU" sz="2400" dirty="0" err="1"/>
              <a:t>Trompenaars</a:t>
            </a:r>
            <a:r>
              <a:rPr lang="hu-HU" sz="2400" dirty="0"/>
              <a:t>: </a:t>
            </a:r>
            <a:r>
              <a:rPr lang="hu-HU" dirty="0"/>
              <a:t>A</a:t>
            </a:r>
            <a:r>
              <a:rPr lang="hu-HU" sz="2000" dirty="0"/>
              <a:t>z a mód, ahogy egy embercsoport megoldja a problémákat és úrrá lesz a nehézségeken.</a:t>
            </a:r>
          </a:p>
          <a:p>
            <a:pPr eaLnBrk="1" hangingPunct="1"/>
            <a:r>
              <a:rPr lang="hu-HU" sz="2400" dirty="0" err="1"/>
              <a:t>Geert</a:t>
            </a:r>
            <a:r>
              <a:rPr lang="hu-HU" sz="2400" dirty="0"/>
              <a:t> </a:t>
            </a:r>
            <a:r>
              <a:rPr lang="hu-HU" sz="2400" dirty="0" err="1"/>
              <a:t>Hofstede</a:t>
            </a:r>
            <a:r>
              <a:rPr lang="hu-HU" sz="2400" dirty="0"/>
              <a:t>: </a:t>
            </a:r>
            <a:r>
              <a:rPr lang="hu-HU" sz="2000" dirty="0"/>
              <a:t>A gondolkodás, a érzékelés és a cselekvés tanult mintái.</a:t>
            </a:r>
          </a:p>
          <a:p>
            <a:pPr eaLnBrk="1" hangingPunct="1"/>
            <a:r>
              <a:rPr lang="hu-HU" sz="2800" dirty="0"/>
              <a:t>Megjelenési módjai:</a:t>
            </a:r>
          </a:p>
          <a:p>
            <a:pPr lvl="1"/>
            <a:r>
              <a:rPr lang="hu-HU" sz="2000" dirty="0"/>
              <a:t>A vállalat története, hagyományok.</a:t>
            </a:r>
          </a:p>
          <a:p>
            <a:pPr lvl="1"/>
            <a:r>
              <a:rPr lang="hu-HU" sz="2000" dirty="0"/>
              <a:t>A vállalat küldetése.</a:t>
            </a:r>
          </a:p>
          <a:p>
            <a:pPr lvl="1"/>
            <a:r>
              <a:rPr lang="hu-HU" sz="2000" dirty="0"/>
              <a:t>A vezetés stílusa.</a:t>
            </a:r>
          </a:p>
          <a:p>
            <a:pPr lvl="1"/>
            <a:r>
              <a:rPr lang="hu-HU" sz="2000" dirty="0"/>
              <a:t>A munkatársak egymáshoz való </a:t>
            </a:r>
            <a:br>
              <a:rPr lang="hu-HU" sz="2000" dirty="0"/>
            </a:br>
            <a:r>
              <a:rPr lang="hu-HU" sz="2000" dirty="0"/>
              <a:t>viszonya.</a:t>
            </a:r>
          </a:p>
          <a:p>
            <a:pPr lvl="1"/>
            <a:r>
              <a:rPr lang="hu-HU" sz="2000" dirty="0"/>
              <a:t>A munkakörnyezet, dekoráció.</a:t>
            </a:r>
          </a:p>
          <a:p>
            <a:pPr lvl="1"/>
            <a:r>
              <a:rPr lang="hu-HU" sz="2000" dirty="0"/>
              <a:t>Öltözködés.</a:t>
            </a:r>
          </a:p>
          <a:p>
            <a:pPr eaLnBrk="1" hangingPunct="1"/>
            <a:endParaRPr lang="hu-HU" dirty="0"/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021474"/>
            <a:ext cx="3886200" cy="2914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4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4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4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4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4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40A98E-4804-4D0D-B25C-D5879420C25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52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sz="2900"/>
              <a:t>Vállalati kultúra Hofstede megközelítésében</a:t>
            </a:r>
            <a:endParaRPr lang="en-US" sz="2900"/>
          </a:p>
        </p:txBody>
      </p:sp>
      <p:sp>
        <p:nvSpPr>
          <p:cNvPr id="5530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/>
            <a:r>
              <a:rPr lang="hu-HU" sz="2700" dirty="0"/>
              <a:t>Nemzetek kulturális dimenziói korlátozottan alkalmazhatóak vállalatokra (szervezetekre).</a:t>
            </a:r>
          </a:p>
          <a:p>
            <a:pPr eaLnBrk="1" hangingPunct="1"/>
            <a:r>
              <a:rPr lang="hu-HU" sz="2700" dirty="0"/>
              <a:t>Vállalatokra hat más dimenziót azonosított:</a:t>
            </a:r>
          </a:p>
          <a:p>
            <a:pPr lvl="1" eaLnBrk="1" hangingPunct="1"/>
            <a:r>
              <a:rPr lang="hu-HU" sz="2200" dirty="0"/>
              <a:t>folyamat orientáció – eredmény orientáció</a:t>
            </a:r>
          </a:p>
          <a:p>
            <a:pPr lvl="1" eaLnBrk="1" hangingPunct="1"/>
            <a:r>
              <a:rPr lang="hu-HU" sz="2200" dirty="0"/>
              <a:t>munka orientáció – ember orientáció</a:t>
            </a:r>
          </a:p>
          <a:p>
            <a:pPr lvl="1" eaLnBrk="1" hangingPunct="1"/>
            <a:r>
              <a:rPr lang="hu-HU" sz="2200" dirty="0" err="1"/>
              <a:t>parókiális</a:t>
            </a:r>
            <a:r>
              <a:rPr lang="hu-HU" sz="2200" dirty="0"/>
              <a:t>  - professzionális (helyi – kozmopolita)</a:t>
            </a:r>
          </a:p>
          <a:p>
            <a:pPr lvl="1" eaLnBrk="1" hangingPunct="1"/>
            <a:r>
              <a:rPr lang="hu-HU" sz="2200" dirty="0"/>
              <a:t>nyitott – zárt </a:t>
            </a:r>
          </a:p>
          <a:p>
            <a:pPr lvl="1" eaLnBrk="1" hangingPunct="1"/>
            <a:r>
              <a:rPr lang="hu-HU" sz="2200" dirty="0"/>
              <a:t>szoros irányítású – laza irányítású</a:t>
            </a:r>
          </a:p>
          <a:p>
            <a:pPr lvl="1" eaLnBrk="1" hangingPunct="1"/>
            <a:r>
              <a:rPr lang="hu-HU" sz="2200" dirty="0"/>
              <a:t>normatív - pragmatikus </a:t>
            </a:r>
          </a:p>
        </p:txBody>
      </p:sp>
      <p:sp>
        <p:nvSpPr>
          <p:cNvPr id="55301" name="Text Box 6"/>
          <p:cNvSpPr txBox="1">
            <a:spLocks noChangeArrowheads="1"/>
          </p:cNvSpPr>
          <p:nvPr/>
        </p:nvSpPr>
        <p:spPr bwMode="auto">
          <a:xfrm>
            <a:off x="5486400" y="6049963"/>
            <a:ext cx="32289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hu-HU" sz="1200"/>
              <a:t>http://feweb.uvt.nl/center/hofstede/page4.htm</a:t>
            </a:r>
            <a:endParaRPr lang="en-US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5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5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5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5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3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3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B6C0463-3584-40CD-8065-1016C949EE7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/>
              <a:t>1. dimenzió néhány jellemző ismérve </a:t>
            </a:r>
          </a:p>
        </p:txBody>
      </p:sp>
      <p:graphicFrame>
        <p:nvGraphicFramePr>
          <p:cNvPr id="206872" name="Group 24"/>
          <p:cNvGraphicFramePr>
            <a:graphicFrameLocks noGrp="1"/>
          </p:cNvGraphicFramePr>
          <p:nvPr>
            <p:ph idx="1"/>
          </p:nvPr>
        </p:nvGraphicFramePr>
        <p:xfrm>
          <a:off x="627063" y="1973263"/>
          <a:ext cx="8135937" cy="2610168"/>
        </p:xfrm>
        <a:graphic>
          <a:graphicData uri="http://schemas.openxmlformats.org/drawingml/2006/table">
            <a:tbl>
              <a:tblPr/>
              <a:tblGrid>
                <a:gridCol w="4068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Folyamat orientáció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Eredmény orientáció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munkatársak kerülik a kockázatot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munkatársak jól érzik magukat ismeretlen helyzetekben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munkatársak általában korlátok között tartják a munkára fordított erőfeszítéseiket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munkatársak általában a maximumot nyújtják a cég érdekében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Minden nap nagyjából egyforma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Minden nap új kihívást hoz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EF9B77-DBF9-43FB-A068-2CCF6C41ABE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/>
              <a:t>2. dimenzió néhány jellemző ismérve </a:t>
            </a:r>
          </a:p>
        </p:txBody>
      </p:sp>
      <p:graphicFrame>
        <p:nvGraphicFramePr>
          <p:cNvPr id="207895" name="Group 2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7655225"/>
              </p:ext>
            </p:extLst>
          </p:nvPr>
        </p:nvGraphicFramePr>
        <p:xfrm>
          <a:off x="857250" y="2026920"/>
          <a:ext cx="7600950" cy="2804160"/>
        </p:xfrm>
        <a:graphic>
          <a:graphicData uri="http://schemas.openxmlformats.org/drawingml/2006/table">
            <a:tbl>
              <a:tblPr/>
              <a:tblGrid>
                <a:gridCol w="380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Ember orientáció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Munka orientáció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6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munka során tekintettel vannak az emberek személyes problémáira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Erős a nyomás a munka elvégzésére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Odafigyelnek a munkatársak boldogulására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Csak az az érdekes, hogy ki hogy végzi a munkáját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fontos döntéseket csoportok hozzák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fontos döntéseket egyének hozzák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06FBC2B-466A-4823-A872-9262A1A65D45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/>
              <a:t>3. dimenzió néhány jellemző ismérve </a:t>
            </a:r>
          </a:p>
        </p:txBody>
      </p:sp>
      <p:graphicFrame>
        <p:nvGraphicFramePr>
          <p:cNvPr id="209944" name="Group 24"/>
          <p:cNvGraphicFramePr>
            <a:graphicFrameLocks noGrp="1"/>
          </p:cNvGraphicFramePr>
          <p:nvPr>
            <p:ph idx="1"/>
          </p:nvPr>
        </p:nvGraphicFramePr>
        <p:xfrm>
          <a:off x="358775" y="1758950"/>
          <a:ext cx="8534400" cy="3730308"/>
        </p:xfrm>
        <a:graphic>
          <a:graphicData uri="http://schemas.openxmlformats.org/drawingml/2006/table">
            <a:tbl>
              <a:tblPr/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Parókiális (helyi, japán)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Professzionális (kozmopolita)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vállalati normák érintik a magánéleti viselkedést is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Úgy tekintik, hogy a magánélet csak az egyénre tartozik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munkatárs felvételénél a vállalat ugyanolyan mértékben figyelembe veszi a szociális és a családi hátteret is, mint a szakmai kompetenciát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felvételnél csak a szakmai kompetencia számít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munkatársak nem foglalkoznak a (szakmai) jövővel (mert feltételezik, hogy a vállalat megteszi helyettük)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munkatársak előre gondolkodnak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21E94E1-9CC1-4B2B-B7A4-E208FF8BDA7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hu-HU" sz="2900"/>
              <a:t>4. dimenzió (kommunikációs klima) néhány jellemző ismérve </a:t>
            </a:r>
          </a:p>
        </p:txBody>
      </p:sp>
      <p:graphicFrame>
        <p:nvGraphicFramePr>
          <p:cNvPr id="210947" name="Group 3"/>
          <p:cNvGraphicFramePr>
            <a:graphicFrameLocks noGrp="1"/>
          </p:cNvGraphicFramePr>
          <p:nvPr>
            <p:ph idx="1"/>
          </p:nvPr>
        </p:nvGraphicFramePr>
        <p:xfrm>
          <a:off x="390525" y="1973263"/>
          <a:ext cx="8534400" cy="2815908"/>
        </p:xfrm>
        <a:graphic>
          <a:graphicData uri="http://schemas.openxmlformats.org/drawingml/2006/table">
            <a:tbl>
              <a:tblPr/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Nyitott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Zárt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munkatársak nyitottak az új belépőkkel és a külsőkkel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munkatársak zárkózottak és titkolódzóak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Majdnem mindenki beillik a szervezetbe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Csak különleges emberek illenek a szervezetbe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Az új munkatársaknak néhány nap elég, hogy otthon érezzék magukat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Az új munkatársaknak akár több mint egy év is kell, hogy otthon érezzék magukat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453E02F-718C-4A5D-903E-249C3B6116A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/>
              <a:t>5. dimenzió néhány jellemző ismérve </a:t>
            </a:r>
          </a:p>
        </p:txBody>
      </p:sp>
      <p:graphicFrame>
        <p:nvGraphicFramePr>
          <p:cNvPr id="213016" name="Group 24"/>
          <p:cNvGraphicFramePr>
            <a:graphicFrameLocks noGrp="1"/>
          </p:cNvGraphicFramePr>
          <p:nvPr>
            <p:ph idx="1"/>
          </p:nvPr>
        </p:nvGraphicFramePr>
        <p:xfrm>
          <a:off x="762000" y="2398713"/>
          <a:ext cx="7696200" cy="2815908"/>
        </p:xfrm>
        <a:graphic>
          <a:graphicData uri="http://schemas.openxmlformats.org/drawingml/2006/table">
            <a:tbl>
              <a:tblPr/>
              <a:tblGrid>
                <a:gridCol w="384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Laza irányítású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Szoros irányítású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Senkit nem érdekelnek a költségek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munkakörnyezet nagyon költségtudatos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megbeszélésekre szánt időt csak hozzávetőlegesen tartják be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megbeszélésekre szánt időt pontosan betartják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vállalattal és a munkával kapcsolatos tréfálkozás gyakori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vállalattal és a munkával kapcsolatos tréfálkozás ritka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EF52960-08F7-4F28-A4BA-D1E1E9C827B5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/>
              <a:t>6. dimenzió néhány jellemző ismérve </a:t>
            </a:r>
          </a:p>
        </p:txBody>
      </p:sp>
      <p:graphicFrame>
        <p:nvGraphicFramePr>
          <p:cNvPr id="215064" name="Group 24"/>
          <p:cNvGraphicFramePr>
            <a:graphicFrameLocks noGrp="1"/>
          </p:cNvGraphicFramePr>
          <p:nvPr>
            <p:ph idx="1"/>
          </p:nvPr>
        </p:nvGraphicFramePr>
        <p:xfrm>
          <a:off x="390525" y="1973263"/>
          <a:ext cx="8534400" cy="3120708"/>
        </p:xfrm>
        <a:graphic>
          <a:graphicData uri="http://schemas.openxmlformats.org/drawingml/2006/table">
            <a:tbl>
              <a:tblPr/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Normatív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Pragmatikus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Szabályvezérelt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Piacvezérelt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fő hangsúly a kifogástalanul követett eljárásokon van, amelyek fontosabbak, mint az eredmény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hangsúly az vevő igényének kielégítésén van, és ez fontosabb mint a kifogástalan eljárás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Az üzleti etika és becsület magas értéknek tekintett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Az üzleti etika inkább pragmatikusan mint dogmatikusan értelmezendő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0">
            <a:extLst>
              <a:ext uri="{FF2B5EF4-FFF2-40B4-BE49-F238E27FC236}">
                <a16:creationId xmlns:a16="http://schemas.microsoft.com/office/drawing/2014/main" id="{6C4AC067-D504-471C-8EA7-D3CB990B8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9144000" cy="742950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C5725D68-8A0E-415C-AF7F-3771B66B9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BE714B4-F36E-4926-93B3-190E5EC13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Picture 76">
            <a:extLst>
              <a:ext uri="{FF2B5EF4-FFF2-40B4-BE49-F238E27FC236}">
                <a16:creationId xmlns:a16="http://schemas.microsoft.com/office/drawing/2014/main" id="{6C6CF9F7-5642-4F7B-8A15-C78EA0AB9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https://www.callcentrehelper.com/images/stories/2010/2016/05/team-meeting-improve-760.jpg">
            <a:extLst>
              <a:ext uri="{FF2B5EF4-FFF2-40B4-BE49-F238E27FC236}">
                <a16:creationId xmlns:a16="http://schemas.microsoft.com/office/drawing/2014/main" id="{21F7D3D1-4366-4B82-BFB3-DCA8CCAB0A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2" r="1" b="1"/>
          <a:stretch/>
        </p:blipFill>
        <p:spPr bwMode="auto">
          <a:xfrm>
            <a:off x="20" y="10"/>
            <a:ext cx="914375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719607D7-FF4E-44E3-9C3F-86AA4D44F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48014" y="4754483"/>
            <a:ext cx="4207985" cy="1601330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9E93F-9AC9-4BEE-80E6-8466CDFF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809" y="5321480"/>
            <a:ext cx="4199799" cy="96008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/>
            <a:r>
              <a:rPr lang="hu-HU" sz="3000" dirty="0">
                <a:solidFill>
                  <a:srgbClr val="FFFFFE"/>
                </a:solidFill>
              </a:rPr>
              <a:t>Legjobb tapasztalatod a vállalati kultúrát illetően?</a:t>
            </a:r>
            <a:endParaRPr lang="en-US" sz="3000" dirty="0">
              <a:solidFill>
                <a:srgbClr val="FFFFFE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F805D-D4E7-4987-974E-3ED0E09A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14350" y="4919075"/>
            <a:ext cx="608264" cy="50357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753B17E5-C457-4297-BDE7-E43B45805AC6}" type="slidenum">
              <a:rPr lang="en-US">
                <a:solidFill>
                  <a:srgbClr val="FFFFFE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23</a:t>
            </a:fld>
            <a:endParaRPr lang="en-US" dirty="0">
              <a:solidFill>
                <a:srgbClr val="FFFFFE"/>
              </a:solidFill>
            </a:endParaRP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CC3919EB-D15F-420D-ACCC-230A8D55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53440" b="36564"/>
          <a:stretch/>
        </p:blipFill>
        <p:spPr>
          <a:xfrm>
            <a:off x="4558107" y="4920257"/>
            <a:ext cx="399135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2369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4" name="Picture 4" descr="VallalatokEletciklusa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7896" y="1295400"/>
            <a:ext cx="6706604" cy="4759826"/>
          </a:xfrm>
          <a:prstGeom prst="rect">
            <a:avLst/>
          </a:prstGeom>
          <a:noFill/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FC946-6F11-48B1-8017-30BF80E657BF}" type="slidenum">
              <a:rPr lang="en-US"/>
              <a:pPr/>
              <a:t>24</a:t>
            </a:fld>
            <a:endParaRPr lang="en-US"/>
          </a:p>
        </p:txBody>
      </p:sp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Vállalatok életútja</a:t>
            </a:r>
            <a:endParaRPr lang="en-US" dirty="0"/>
          </a:p>
        </p:txBody>
      </p:sp>
      <p:sp>
        <p:nvSpPr>
          <p:cNvPr id="153605" name="Text Box 5"/>
          <p:cNvSpPr txBox="1">
            <a:spLocks noChangeArrowheads="1"/>
          </p:cNvSpPr>
          <p:nvPr/>
        </p:nvSpPr>
        <p:spPr bwMode="auto">
          <a:xfrm>
            <a:off x="4221162" y="6428119"/>
            <a:ext cx="34369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hu-HU" sz="1200" dirty="0" err="1"/>
              <a:t>Ichak</a:t>
            </a:r>
            <a:r>
              <a:rPr lang="hu-HU" sz="1200" dirty="0"/>
              <a:t> </a:t>
            </a:r>
            <a:r>
              <a:rPr lang="hu-HU" sz="1200" dirty="0" err="1"/>
              <a:t>Adizes</a:t>
            </a:r>
            <a:r>
              <a:rPr lang="hu-HU" sz="1200" dirty="0"/>
              <a:t>: Vállalatok életciklusai, HVG kiadó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25818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4" name="Picture 4" descr="VallalatokEletciklusa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780" y="1596367"/>
            <a:ext cx="7072732" cy="5019675"/>
          </a:xfrm>
          <a:prstGeom prst="rect">
            <a:avLst/>
          </a:prstGeom>
          <a:noFill/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FC946-6F11-48B1-8017-30BF80E657BF}" type="slidenum">
              <a:rPr lang="en-US"/>
              <a:pPr/>
              <a:t>25</a:t>
            </a:fld>
            <a:endParaRPr lang="en-US"/>
          </a:p>
        </p:txBody>
      </p:sp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Vállalatok életútja</a:t>
            </a:r>
            <a:endParaRPr lang="en-US" dirty="0"/>
          </a:p>
        </p:txBody>
      </p:sp>
      <p:sp>
        <p:nvSpPr>
          <p:cNvPr id="153605" name="Text Box 5"/>
          <p:cNvSpPr txBox="1">
            <a:spLocks noChangeArrowheads="1"/>
          </p:cNvSpPr>
          <p:nvPr/>
        </p:nvSpPr>
        <p:spPr bwMode="auto">
          <a:xfrm>
            <a:off x="4221162" y="6428119"/>
            <a:ext cx="34369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hu-HU" sz="1200" dirty="0" err="1"/>
              <a:t>Ichak</a:t>
            </a:r>
            <a:r>
              <a:rPr lang="hu-HU" sz="1200" dirty="0"/>
              <a:t> </a:t>
            </a:r>
            <a:r>
              <a:rPr lang="hu-HU" sz="1200" dirty="0" err="1"/>
              <a:t>Adizes</a:t>
            </a:r>
            <a:r>
              <a:rPr lang="hu-HU" sz="1200" dirty="0"/>
              <a:t>: Vállalatok életciklusai, HVG kiadó </a:t>
            </a:r>
            <a:endParaRPr lang="en-US" sz="1200" dirty="0"/>
          </a:p>
        </p:txBody>
      </p:sp>
      <p:sp>
        <p:nvSpPr>
          <p:cNvPr id="17" name="Szövegdoboz 16"/>
          <p:cNvSpPr txBox="1"/>
          <p:nvPr/>
        </p:nvSpPr>
        <p:spPr>
          <a:xfrm>
            <a:off x="169399" y="5939754"/>
            <a:ext cx="1470128" cy="7848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hu-HU" sz="900" dirty="0"/>
              <a:t>Izgatottság, </a:t>
            </a:r>
            <a:r>
              <a:rPr lang="hu-HU" sz="900" b="1" dirty="0"/>
              <a:t>termékközpontúság, hozzáadott érték </a:t>
            </a:r>
            <a:r>
              <a:rPr lang="hu-HU" sz="900" dirty="0"/>
              <a:t>iránti elkötelezettség, kockázatvállalás</a:t>
            </a:r>
          </a:p>
        </p:txBody>
      </p:sp>
      <p:sp>
        <p:nvSpPr>
          <p:cNvPr id="21" name="Szövegdoboz 20"/>
          <p:cNvSpPr txBox="1"/>
          <p:nvPr/>
        </p:nvSpPr>
        <p:spPr>
          <a:xfrm>
            <a:off x="148258" y="1401764"/>
            <a:ext cx="1763374" cy="10618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hu-HU" sz="900" dirty="0"/>
              <a:t>Intézményesített perspektíva</a:t>
            </a:r>
          </a:p>
          <a:p>
            <a:r>
              <a:rPr lang="hu-HU" sz="900" dirty="0"/>
              <a:t> és </a:t>
            </a:r>
            <a:r>
              <a:rPr lang="hu-HU" sz="900" b="1" dirty="0"/>
              <a:t>kreativitás,</a:t>
            </a:r>
            <a:r>
              <a:rPr lang="hu-HU" sz="900" dirty="0"/>
              <a:t> eredményre törekvés, a szervezet megjósolhatóan</a:t>
            </a:r>
          </a:p>
          <a:p>
            <a:r>
              <a:rPr lang="hu-HU" sz="900" dirty="0"/>
              <a:t> </a:t>
            </a:r>
            <a:r>
              <a:rPr lang="hu-HU" sz="900" b="1" dirty="0"/>
              <a:t>kiváló teljesítményt </a:t>
            </a:r>
            <a:r>
              <a:rPr lang="hu-HU" sz="900" dirty="0"/>
              <a:t>nyújt, mind a bevétel, mind </a:t>
            </a:r>
          </a:p>
          <a:p>
            <a:r>
              <a:rPr lang="hu-HU" sz="900" dirty="0"/>
              <a:t>  a nyereség növekszik.</a:t>
            </a:r>
          </a:p>
        </p:txBody>
      </p:sp>
      <p:sp>
        <p:nvSpPr>
          <p:cNvPr id="22" name="Szövegdoboz 21"/>
          <p:cNvSpPr txBox="1"/>
          <p:nvPr/>
        </p:nvSpPr>
        <p:spPr>
          <a:xfrm>
            <a:off x="7190121" y="897193"/>
            <a:ext cx="1942817" cy="10618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hu-HU" sz="900" dirty="0"/>
              <a:t>Kevéssé törekszik növekedésre, </a:t>
            </a:r>
            <a:r>
              <a:rPr lang="hu-HU" sz="900" b="1" dirty="0"/>
              <a:t>a jövő helyett a múltba néz</a:t>
            </a:r>
            <a:r>
              <a:rPr lang="hu-HU" sz="900" dirty="0"/>
              <a:t>, </a:t>
            </a:r>
            <a:r>
              <a:rPr lang="hu-HU" sz="900" b="1" dirty="0"/>
              <a:t>gyanakvással szemléli a változásokat</a:t>
            </a:r>
            <a:r>
              <a:rPr lang="hu-HU" sz="900" dirty="0"/>
              <a:t>, azokat jutalmazza, akik utasításokat hajtanak végre, hangsúly a</a:t>
            </a:r>
          </a:p>
          <a:p>
            <a:r>
              <a:rPr lang="hu-HU" sz="900" dirty="0"/>
              <a:t>   viszonyokra tevődik</a:t>
            </a:r>
          </a:p>
        </p:txBody>
      </p:sp>
      <p:sp>
        <p:nvSpPr>
          <p:cNvPr id="23" name="Szövegdoboz 22"/>
          <p:cNvSpPr txBox="1"/>
          <p:nvPr/>
        </p:nvSpPr>
        <p:spPr>
          <a:xfrm>
            <a:off x="7190123" y="1927776"/>
            <a:ext cx="1942815" cy="10618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hu-HU" sz="900" dirty="0"/>
              <a:t>A pénzt szabályozási-ellenőrzési </a:t>
            </a:r>
          </a:p>
          <a:p>
            <a:r>
              <a:rPr lang="hu-HU" sz="900" dirty="0"/>
              <a:t>   rendszerekre, bérekre költik, </a:t>
            </a:r>
            <a:r>
              <a:rPr lang="hu-HU" sz="900" b="1" dirty="0"/>
              <a:t>formalizmus uralkodik </a:t>
            </a:r>
            <a:r>
              <a:rPr lang="hu-HU" sz="900" dirty="0"/>
              <a:t>az </a:t>
            </a:r>
          </a:p>
          <a:p>
            <a:r>
              <a:rPr lang="hu-HU" sz="900" dirty="0"/>
              <a:t> öltözködésben, megszólításban.</a:t>
            </a:r>
          </a:p>
          <a:p>
            <a:r>
              <a:rPr lang="hu-HU" sz="900" dirty="0"/>
              <a:t>rutinszerű munka folyik</a:t>
            </a:r>
          </a:p>
          <a:p>
            <a:r>
              <a:rPr lang="hu-HU" sz="900" dirty="0"/>
              <a:t>a belső újítás alacsony szintű.</a:t>
            </a:r>
          </a:p>
        </p:txBody>
      </p:sp>
      <p:sp>
        <p:nvSpPr>
          <p:cNvPr id="24" name="Szövegdoboz 23"/>
          <p:cNvSpPr txBox="1"/>
          <p:nvPr/>
        </p:nvSpPr>
        <p:spPr>
          <a:xfrm>
            <a:off x="7190121" y="2989605"/>
            <a:ext cx="1951862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hu-HU" sz="900" dirty="0"/>
              <a:t>Hangsúlyt arra helyezik, hogy </a:t>
            </a:r>
            <a:r>
              <a:rPr lang="hu-HU" sz="900" b="1" dirty="0"/>
              <a:t>ki okozta a  problémát, nem pedig arra, mit tegyünk ellene</a:t>
            </a:r>
            <a:r>
              <a:rPr lang="hu-HU" sz="900" dirty="0"/>
              <a:t>, sok a konfliktus, hátba döfés és a belviszály, az ügyfelet zavaró tényezőnek tekintik.</a:t>
            </a:r>
          </a:p>
        </p:txBody>
      </p:sp>
      <p:sp>
        <p:nvSpPr>
          <p:cNvPr id="25" name="Szövegdoboz 24"/>
          <p:cNvSpPr txBox="1"/>
          <p:nvPr/>
        </p:nvSpPr>
        <p:spPr>
          <a:xfrm>
            <a:off x="7324725" y="4879624"/>
            <a:ext cx="182880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hu-HU" sz="900" b="1" dirty="0"/>
              <a:t>Elhatárolódik a környezetétől,</a:t>
            </a:r>
          </a:p>
          <a:p>
            <a:r>
              <a:rPr lang="hu-HU" sz="900" b="1" dirty="0"/>
              <a:t>  leginkább  önmagára figyel</a:t>
            </a:r>
            <a:r>
              <a:rPr lang="hu-HU" sz="900" dirty="0"/>
              <a:t>, az irányítás-ellenőrzés alig működik, az ügyfél igen nehezen tud együtt-</a:t>
            </a:r>
          </a:p>
          <a:p>
            <a:r>
              <a:rPr lang="hu-HU" sz="900" dirty="0"/>
              <a:t>  működni a szervezettel.</a:t>
            </a:r>
          </a:p>
        </p:txBody>
      </p:sp>
      <p:cxnSp>
        <p:nvCxnSpPr>
          <p:cNvPr id="5" name="Egyenes összekötő nyíllal 4"/>
          <p:cNvCxnSpPr/>
          <p:nvPr/>
        </p:nvCxnSpPr>
        <p:spPr>
          <a:xfrm>
            <a:off x="1911631" y="2113337"/>
            <a:ext cx="1364969" cy="401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nyíllal 9"/>
          <p:cNvCxnSpPr/>
          <p:nvPr/>
        </p:nvCxnSpPr>
        <p:spPr>
          <a:xfrm>
            <a:off x="1940860" y="3068667"/>
            <a:ext cx="739705" cy="139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gyenes összekötő nyíllal 25"/>
          <p:cNvCxnSpPr/>
          <p:nvPr/>
        </p:nvCxnSpPr>
        <p:spPr>
          <a:xfrm flipV="1">
            <a:off x="1675688" y="4990689"/>
            <a:ext cx="510828" cy="166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gyenes összekötő nyíllal 28"/>
          <p:cNvCxnSpPr>
            <a:cxnSpLocks/>
            <a:stCxn id="17" idx="3"/>
          </p:cNvCxnSpPr>
          <p:nvPr/>
        </p:nvCxnSpPr>
        <p:spPr>
          <a:xfrm flipV="1">
            <a:off x="1639527" y="5949743"/>
            <a:ext cx="187076" cy="382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gyenes összekötő nyíllal 30"/>
          <p:cNvCxnSpPr>
            <a:cxnSpLocks/>
          </p:cNvCxnSpPr>
          <p:nvPr/>
        </p:nvCxnSpPr>
        <p:spPr>
          <a:xfrm flipH="1">
            <a:off x="5791201" y="1459266"/>
            <a:ext cx="1389877" cy="494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601" name="Egyenes összekötő nyíllal 153600"/>
          <p:cNvCxnSpPr>
            <a:cxnSpLocks/>
          </p:cNvCxnSpPr>
          <p:nvPr/>
        </p:nvCxnSpPr>
        <p:spPr>
          <a:xfrm flipH="1" flipV="1">
            <a:off x="6629401" y="3518774"/>
            <a:ext cx="551677" cy="367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606" name="Egyenes összekötő nyíllal 153605"/>
          <p:cNvCxnSpPr>
            <a:cxnSpLocks/>
          </p:cNvCxnSpPr>
          <p:nvPr/>
        </p:nvCxnSpPr>
        <p:spPr>
          <a:xfrm flipH="1" flipV="1">
            <a:off x="7010400" y="4510057"/>
            <a:ext cx="679074" cy="398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zövegdoboz 39"/>
          <p:cNvSpPr txBox="1"/>
          <p:nvPr/>
        </p:nvSpPr>
        <p:spPr>
          <a:xfrm>
            <a:off x="155776" y="4613143"/>
            <a:ext cx="147224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hu-HU" sz="900" dirty="0"/>
              <a:t>Negatív pénzáramlás, </a:t>
            </a:r>
            <a:r>
              <a:rPr lang="hu-HU" sz="900" b="1" dirty="0"/>
              <a:t>nincs vállalati hierarchia, hibák elkövetése,</a:t>
            </a:r>
            <a:r>
              <a:rPr lang="hu-HU" sz="900" dirty="0"/>
              <a:t> támogatás a család részéről, külső támogatás</a:t>
            </a:r>
          </a:p>
        </p:txBody>
      </p:sp>
      <p:sp>
        <p:nvSpPr>
          <p:cNvPr id="41" name="Szövegdoboz 40"/>
          <p:cNvSpPr txBox="1"/>
          <p:nvPr/>
        </p:nvSpPr>
        <p:spPr>
          <a:xfrm>
            <a:off x="148257" y="3572655"/>
            <a:ext cx="1479759" cy="10618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hu-HU" sz="900" dirty="0"/>
              <a:t>Pénzügyi gondok megszűnnek, </a:t>
            </a:r>
            <a:r>
              <a:rPr lang="hu-HU" sz="900" b="1" dirty="0"/>
              <a:t>túl sok irányba indul el, hangsúly a „több”-ön </a:t>
            </a:r>
          </a:p>
          <a:p>
            <a:r>
              <a:rPr lang="hu-HU" sz="900" dirty="0"/>
              <a:t>az értékesítésben, gyors növekedés, vállalatpolitika hiánya</a:t>
            </a:r>
          </a:p>
        </p:txBody>
      </p:sp>
      <p:sp>
        <p:nvSpPr>
          <p:cNvPr id="43" name="Szövegdoboz 42"/>
          <p:cNvSpPr txBox="1"/>
          <p:nvPr/>
        </p:nvSpPr>
        <p:spPr>
          <a:xfrm>
            <a:off x="155000" y="2499624"/>
            <a:ext cx="1756630" cy="10618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hu-HU" sz="900" b="1" dirty="0"/>
              <a:t>Konfliktuso</a:t>
            </a:r>
            <a:r>
              <a:rPr lang="hu-HU" sz="900" dirty="0"/>
              <a:t>k az adminisztratív </a:t>
            </a:r>
          </a:p>
          <a:p>
            <a:r>
              <a:rPr lang="hu-HU" sz="900" dirty="0"/>
              <a:t>  és vállalkozói típusok között, a perspektíva átmeneti elvesztése, </a:t>
            </a:r>
            <a:r>
              <a:rPr lang="hu-HU" sz="900" b="1" dirty="0"/>
              <a:t>vállalatpolitikát</a:t>
            </a:r>
            <a:r>
              <a:rPr lang="hu-HU" sz="900" dirty="0"/>
              <a:t> dolgoznak ki, de nem tartják be.</a:t>
            </a:r>
          </a:p>
        </p:txBody>
      </p:sp>
    </p:spTree>
    <p:extLst>
      <p:ext uri="{BB962C8B-B14F-4D97-AF65-F5344CB8AC3E}">
        <p14:creationId xmlns:p14="http://schemas.microsoft.com/office/powerpoint/2010/main" val="3071704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626CD-5BEE-417D-AB00-F59A575AABB9}" type="slidenum">
              <a:rPr lang="en-US"/>
              <a:pPr/>
              <a:t>26</a:t>
            </a:fld>
            <a:endParaRPr lang="en-US"/>
          </a:p>
        </p:txBody>
      </p:sp>
      <p:sp>
        <p:nvSpPr>
          <p:cNvPr id="18842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A növekedés-öregedés természete</a:t>
            </a:r>
            <a:endParaRPr lang="en-US"/>
          </a:p>
        </p:txBody>
      </p:sp>
      <p:pic>
        <p:nvPicPr>
          <p:cNvPr id="188420" name="Picture 4" descr="NovekedesOregedesTermeszet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8684" y="1902443"/>
            <a:ext cx="6705600" cy="4118945"/>
          </a:xfrm>
          <a:prstGeom prst="rect">
            <a:avLst/>
          </a:prstGeom>
          <a:noFill/>
        </p:spPr>
      </p:pic>
      <p:sp>
        <p:nvSpPr>
          <p:cNvPr id="188422" name="Text Box 6"/>
          <p:cNvSpPr txBox="1">
            <a:spLocks noChangeArrowheads="1"/>
          </p:cNvSpPr>
          <p:nvPr/>
        </p:nvSpPr>
        <p:spPr bwMode="auto">
          <a:xfrm>
            <a:off x="5181600" y="6049963"/>
            <a:ext cx="34369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hu-HU" sz="1200"/>
              <a:t>Ichak Adizes: Vállalatok életciklusai, HVG kiadó 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631674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21DB-B9C5-4253-9AB9-E9821EC4AA69}" type="slidenum">
              <a:rPr lang="en-US"/>
              <a:pPr/>
              <a:t>27</a:t>
            </a:fld>
            <a:endParaRPr lang="en-US"/>
          </a:p>
        </p:txBody>
      </p:sp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SWOT értékelés</a:t>
            </a:r>
            <a:endParaRPr lang="en-US"/>
          </a:p>
        </p:txBody>
      </p:sp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2362200" y="1676400"/>
            <a:ext cx="2971800" cy="1828800"/>
          </a:xfrm>
          <a:prstGeom prst="rect">
            <a:avLst/>
          </a:prstGeom>
          <a:solidFill>
            <a:srgbClr val="85AAC1"/>
          </a:solidFill>
          <a:ln w="25400">
            <a:noFill/>
            <a:miter lim="800000"/>
            <a:headEnd/>
            <a:tailEnd type="none" w="lg" len="sm"/>
          </a:ln>
          <a:effectLst/>
        </p:spPr>
        <p:txBody>
          <a:bodyPr lIns="0" tIns="0" rIns="0" bIns="0"/>
          <a:lstStyle/>
          <a:p>
            <a:r>
              <a:rPr lang="hu-HU" sz="2000" dirty="0">
                <a:latin typeface="Futura Bk" charset="0"/>
              </a:rPr>
              <a:t>Erősségek </a:t>
            </a:r>
          </a:p>
          <a:p>
            <a:r>
              <a:rPr lang="hu-HU" sz="2000" dirty="0">
                <a:latin typeface="Futura Bk" charset="0"/>
              </a:rPr>
              <a:t>(</a:t>
            </a:r>
            <a:r>
              <a:rPr lang="en-GB" sz="2000" dirty="0">
                <a:latin typeface="Futura Bk" charset="0"/>
              </a:rPr>
              <a:t>Strengths</a:t>
            </a:r>
            <a:r>
              <a:rPr lang="hu-HU" sz="2000" dirty="0">
                <a:latin typeface="Futura Bk" charset="0"/>
              </a:rPr>
              <a:t>)</a:t>
            </a:r>
            <a:endParaRPr lang="en-US" sz="2000" dirty="0">
              <a:latin typeface="Futura Bk" charset="0"/>
            </a:endParaRPr>
          </a:p>
        </p:txBody>
      </p:sp>
      <p:sp>
        <p:nvSpPr>
          <p:cNvPr id="149509" name="Rectangle 5"/>
          <p:cNvSpPr>
            <a:spLocks noChangeArrowheads="1"/>
          </p:cNvSpPr>
          <p:nvPr/>
        </p:nvSpPr>
        <p:spPr bwMode="auto">
          <a:xfrm>
            <a:off x="5334000" y="1676400"/>
            <a:ext cx="2971800" cy="1828800"/>
          </a:xfrm>
          <a:prstGeom prst="rect">
            <a:avLst/>
          </a:prstGeom>
          <a:solidFill>
            <a:schemeClr val="accent2"/>
          </a:solidFill>
          <a:ln w="25400">
            <a:noFill/>
            <a:miter lim="800000"/>
            <a:headEnd/>
            <a:tailEnd type="none" w="lg" len="sm"/>
          </a:ln>
          <a:effectLst/>
        </p:spPr>
        <p:txBody>
          <a:bodyPr lIns="0" tIns="0" rIns="0" bIns="0"/>
          <a:lstStyle/>
          <a:p>
            <a:r>
              <a:rPr lang="hu-HU" sz="2000">
                <a:latin typeface="Futura Bk" charset="0"/>
              </a:rPr>
              <a:t>Gyengeségek (</a:t>
            </a:r>
            <a:r>
              <a:rPr lang="en-GB" sz="2000">
                <a:latin typeface="Futura Bk" charset="0"/>
              </a:rPr>
              <a:t>Weaknesses</a:t>
            </a:r>
            <a:r>
              <a:rPr lang="hu-HU" sz="2000">
                <a:latin typeface="Futura Bk" charset="0"/>
              </a:rPr>
              <a:t>)</a:t>
            </a:r>
            <a:endParaRPr lang="en-US" sz="2000">
              <a:latin typeface="Futura Bk" charset="0"/>
            </a:endParaRPr>
          </a:p>
        </p:txBody>
      </p:sp>
      <p:sp>
        <p:nvSpPr>
          <p:cNvPr id="149510" name="Rectangle 6"/>
          <p:cNvSpPr>
            <a:spLocks noChangeArrowheads="1"/>
          </p:cNvSpPr>
          <p:nvPr/>
        </p:nvSpPr>
        <p:spPr bwMode="auto">
          <a:xfrm>
            <a:off x="2362200" y="3505200"/>
            <a:ext cx="2971800" cy="1828800"/>
          </a:xfrm>
          <a:prstGeom prst="rect">
            <a:avLst/>
          </a:prstGeom>
          <a:solidFill>
            <a:schemeClr val="accent2"/>
          </a:solidFill>
          <a:ln w="25400">
            <a:noFill/>
            <a:miter lim="800000"/>
            <a:headEnd/>
            <a:tailEnd type="none" w="lg" len="sm"/>
          </a:ln>
          <a:effectLst/>
        </p:spPr>
        <p:txBody>
          <a:bodyPr lIns="0" tIns="0" rIns="0" bIns="0"/>
          <a:lstStyle/>
          <a:p>
            <a:r>
              <a:rPr lang="hu-HU" sz="2000">
                <a:latin typeface="Futura Bk" charset="0"/>
              </a:rPr>
              <a:t>Lehetőségek (</a:t>
            </a:r>
            <a:r>
              <a:rPr lang="en-GB" sz="2000">
                <a:latin typeface="Futura Bk" charset="0"/>
              </a:rPr>
              <a:t>Opportunities</a:t>
            </a:r>
            <a:r>
              <a:rPr lang="hu-HU" sz="2000">
                <a:latin typeface="Futura Bk" charset="0"/>
              </a:rPr>
              <a:t>)</a:t>
            </a:r>
            <a:endParaRPr lang="en-US" sz="2000">
              <a:latin typeface="Futura Bk" charset="0"/>
            </a:endParaRPr>
          </a:p>
        </p:txBody>
      </p:sp>
      <p:sp>
        <p:nvSpPr>
          <p:cNvPr id="149511" name="Rectangle 7"/>
          <p:cNvSpPr>
            <a:spLocks noChangeArrowheads="1"/>
          </p:cNvSpPr>
          <p:nvPr/>
        </p:nvSpPr>
        <p:spPr bwMode="auto">
          <a:xfrm>
            <a:off x="5334000" y="3505200"/>
            <a:ext cx="2971800" cy="1828800"/>
          </a:xfrm>
          <a:prstGeom prst="rect">
            <a:avLst/>
          </a:prstGeom>
          <a:solidFill>
            <a:srgbClr val="85AAC1"/>
          </a:solidFill>
          <a:ln w="25400">
            <a:noFill/>
            <a:miter lim="800000"/>
            <a:headEnd/>
            <a:tailEnd type="none" w="lg" len="sm"/>
          </a:ln>
          <a:effectLst/>
        </p:spPr>
        <p:txBody>
          <a:bodyPr lIns="0" tIns="0" rIns="0" bIns="0"/>
          <a:lstStyle/>
          <a:p>
            <a:r>
              <a:rPr lang="hu-HU" sz="2000" dirty="0">
                <a:latin typeface="Futura Bk" charset="0"/>
              </a:rPr>
              <a:t>Fenyegetések </a:t>
            </a:r>
          </a:p>
          <a:p>
            <a:r>
              <a:rPr lang="hu-HU" sz="2000" dirty="0">
                <a:latin typeface="Futura Bk" charset="0"/>
              </a:rPr>
              <a:t>(</a:t>
            </a:r>
            <a:r>
              <a:rPr lang="en-GB" sz="2000" dirty="0">
                <a:latin typeface="Futura Bk" charset="0"/>
              </a:rPr>
              <a:t>Threats</a:t>
            </a:r>
            <a:r>
              <a:rPr lang="hu-HU" sz="2000" dirty="0">
                <a:latin typeface="Futura Bk" charset="0"/>
              </a:rPr>
              <a:t>)</a:t>
            </a:r>
            <a:endParaRPr lang="en-US" sz="2000" dirty="0">
              <a:latin typeface="Futura Bk" charset="0"/>
            </a:endParaRPr>
          </a:p>
        </p:txBody>
      </p:sp>
      <p:sp>
        <p:nvSpPr>
          <p:cNvPr id="149512" name="Text Box 8"/>
          <p:cNvSpPr txBox="1">
            <a:spLocks noChangeArrowheads="1"/>
          </p:cNvSpPr>
          <p:nvPr/>
        </p:nvSpPr>
        <p:spPr bwMode="auto">
          <a:xfrm>
            <a:off x="517525" y="3922713"/>
            <a:ext cx="1733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hu-HU"/>
              <a:t>Külső tényezők</a:t>
            </a:r>
            <a:endParaRPr lang="en-US"/>
          </a:p>
        </p:txBody>
      </p:sp>
      <p:sp>
        <p:nvSpPr>
          <p:cNvPr id="149513" name="Text Box 9"/>
          <p:cNvSpPr txBox="1">
            <a:spLocks noChangeArrowheads="1"/>
          </p:cNvSpPr>
          <p:nvPr/>
        </p:nvSpPr>
        <p:spPr bwMode="auto">
          <a:xfrm>
            <a:off x="533400" y="2286000"/>
            <a:ext cx="1733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hu-HU"/>
              <a:t>Belső tényezők</a:t>
            </a:r>
            <a:endParaRPr lang="en-US"/>
          </a:p>
        </p:txBody>
      </p:sp>
      <p:sp>
        <p:nvSpPr>
          <p:cNvPr id="149514" name="Text Box 10"/>
          <p:cNvSpPr txBox="1">
            <a:spLocks noChangeArrowheads="1"/>
          </p:cNvSpPr>
          <p:nvPr/>
        </p:nvSpPr>
        <p:spPr bwMode="auto">
          <a:xfrm>
            <a:off x="3067050" y="5500688"/>
            <a:ext cx="1428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hu-HU"/>
              <a:t>Pozitívumok</a:t>
            </a:r>
            <a:endParaRPr lang="en-US"/>
          </a:p>
        </p:txBody>
      </p:sp>
      <p:sp>
        <p:nvSpPr>
          <p:cNvPr id="149515" name="Text Box 11"/>
          <p:cNvSpPr txBox="1">
            <a:spLocks noChangeArrowheads="1"/>
          </p:cNvSpPr>
          <p:nvPr/>
        </p:nvSpPr>
        <p:spPr bwMode="auto">
          <a:xfrm>
            <a:off x="6115050" y="5486400"/>
            <a:ext cx="1530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hu-HU"/>
              <a:t>Negatívumok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3081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351E3-6C27-4A78-A350-8BDE3C2577FC}" type="slidenum">
              <a:rPr lang="en-US"/>
              <a:pPr/>
              <a:t>28</a:t>
            </a:fld>
            <a:endParaRPr lang="en-US"/>
          </a:p>
        </p:txBody>
      </p:sp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Példa SWOT értékelésre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399236" y="1524000"/>
            <a:ext cx="8534400" cy="4876139"/>
            <a:chOff x="1496" y="1056"/>
            <a:chExt cx="3744" cy="2378"/>
          </a:xfrm>
        </p:grpSpPr>
        <p:sp>
          <p:nvSpPr>
            <p:cNvPr id="150531" name="Rectangle 3"/>
            <p:cNvSpPr>
              <a:spLocks noChangeArrowheads="1"/>
            </p:cNvSpPr>
            <p:nvPr/>
          </p:nvSpPr>
          <p:spPr bwMode="auto">
            <a:xfrm>
              <a:off x="1496" y="1056"/>
              <a:ext cx="1872" cy="1152"/>
            </a:xfrm>
            <a:prstGeom prst="rect">
              <a:avLst/>
            </a:prstGeom>
            <a:solidFill>
              <a:srgbClr val="85AAC1"/>
            </a:solidFill>
            <a:ln w="25400">
              <a:noFill/>
              <a:miter lim="800000"/>
              <a:headEnd/>
              <a:tailEnd type="none" w="lg" len="sm"/>
            </a:ln>
            <a:effectLst/>
          </p:spPr>
          <p:txBody>
            <a:bodyPr lIns="0" tIns="0" rIns="0" bIns="0"/>
            <a:lstStyle/>
            <a:p>
              <a:r>
                <a:rPr lang="hu-HU" sz="1400" dirty="0">
                  <a:latin typeface="Futura Bk" charset="0"/>
                </a:rPr>
                <a:t>Erősségek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Jó termék és projektstruktúra: a termékeink és szolgáltatásaink egymást erősítik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Jó üzleti kapcsolatok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Széleskörű technológiai ismeretek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Munkatársak üzleti referenciái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Jó hangulatú, összetartó csapat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Jól felépített minőségügyi rendszer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Széleskörű projekttapasztalat</a:t>
              </a:r>
            </a:p>
            <a:p>
              <a:pPr>
                <a:buFontTx/>
                <a:buChar char="•"/>
              </a:pPr>
              <a:endParaRPr lang="hu-HU" sz="1400" dirty="0">
                <a:latin typeface="Futura Bk" charset="0"/>
              </a:endParaRPr>
            </a:p>
            <a:p>
              <a:pPr>
                <a:buFontTx/>
                <a:buChar char="•"/>
              </a:pPr>
              <a:endParaRPr lang="hu-HU" sz="1400" dirty="0">
                <a:latin typeface="Futura Bk" charset="0"/>
              </a:endParaRPr>
            </a:p>
            <a:p>
              <a:pPr>
                <a:buFontTx/>
                <a:buChar char="•"/>
              </a:pPr>
              <a:endParaRPr lang="hu-HU" sz="1400" dirty="0">
                <a:latin typeface="Futura Bk" charset="0"/>
              </a:endParaRPr>
            </a:p>
          </p:txBody>
        </p:sp>
        <p:sp>
          <p:nvSpPr>
            <p:cNvPr id="150532" name="Rectangle 4"/>
            <p:cNvSpPr>
              <a:spLocks noChangeArrowheads="1"/>
            </p:cNvSpPr>
            <p:nvPr/>
          </p:nvSpPr>
          <p:spPr bwMode="auto">
            <a:xfrm>
              <a:off x="3368" y="1056"/>
              <a:ext cx="1872" cy="1152"/>
            </a:xfrm>
            <a:prstGeom prst="rect">
              <a:avLst/>
            </a:prstGeom>
            <a:solidFill>
              <a:schemeClr val="accent2"/>
            </a:solidFill>
            <a:ln w="25400">
              <a:noFill/>
              <a:miter lim="800000"/>
              <a:headEnd/>
              <a:tailEnd type="none" w="lg" len="sm"/>
            </a:ln>
            <a:effectLst/>
          </p:spPr>
          <p:txBody>
            <a:bodyPr lIns="0" tIns="0" rIns="0" bIns="0"/>
            <a:lstStyle/>
            <a:p>
              <a:r>
                <a:rPr lang="hu-HU" sz="1400" dirty="0">
                  <a:latin typeface="Futura Bk" charset="0"/>
                </a:rPr>
                <a:t>Gyengeségek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Relatív sok technológiai elemet vállalunk fel, így sok mögött nincs ott a  kritikus tudás tömeg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A vállalat új, kevéssé ismert még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Kevés projektvezető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Erőforrás hiány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Nem megfelelő programozási tudás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Alacsony újrafelhasználási arány</a:t>
              </a:r>
            </a:p>
            <a:p>
              <a:pPr>
                <a:buFontTx/>
                <a:buChar char="•"/>
              </a:pPr>
              <a:endParaRPr lang="hu-HU" sz="1400" dirty="0">
                <a:latin typeface="Futura Bk" charset="0"/>
              </a:endParaRPr>
            </a:p>
          </p:txBody>
        </p:sp>
        <p:sp>
          <p:nvSpPr>
            <p:cNvPr id="150533" name="Rectangle 5"/>
            <p:cNvSpPr>
              <a:spLocks noChangeArrowheads="1"/>
            </p:cNvSpPr>
            <p:nvPr/>
          </p:nvSpPr>
          <p:spPr bwMode="auto">
            <a:xfrm>
              <a:off x="1496" y="2208"/>
              <a:ext cx="1872" cy="1226"/>
            </a:xfrm>
            <a:prstGeom prst="rect">
              <a:avLst/>
            </a:prstGeom>
            <a:solidFill>
              <a:schemeClr val="accent2"/>
            </a:solidFill>
            <a:ln w="25400">
              <a:noFill/>
              <a:miter lim="800000"/>
              <a:headEnd/>
              <a:tailEnd type="none" w="lg" len="sm"/>
            </a:ln>
            <a:effectLst/>
          </p:spPr>
          <p:txBody>
            <a:bodyPr lIns="0" tIns="0" rIns="0" bIns="0"/>
            <a:lstStyle/>
            <a:p>
              <a:r>
                <a:rPr lang="hu-HU" sz="1400" dirty="0">
                  <a:latin typeface="Futura Bk" charset="0"/>
                </a:rPr>
                <a:t>Lehetőségek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Az általunk forgalmazott terméknek erős a nemzetközi piaci pozíciója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Szövetségünk az egyik legnagyobb hazai 	multival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A tevékenységünkre nő az igény a </a:t>
              </a:r>
              <a:r>
                <a:rPr lang="hu-HU" sz="1400" dirty="0" err="1">
                  <a:latin typeface="Futura Bk" charset="0"/>
                </a:rPr>
                <a:t>telco</a:t>
              </a:r>
              <a:r>
                <a:rPr lang="hu-HU" sz="1400" dirty="0">
                  <a:latin typeface="Futura Bk" charset="0"/>
                </a:rPr>
                <a:t> 	és a pénzügy területén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EU támogatja a lehetőségeinket</a:t>
              </a:r>
            </a:p>
          </p:txBody>
        </p:sp>
        <p:sp>
          <p:nvSpPr>
            <p:cNvPr id="150534" name="Rectangle 6"/>
            <p:cNvSpPr>
              <a:spLocks noChangeArrowheads="1"/>
            </p:cNvSpPr>
            <p:nvPr/>
          </p:nvSpPr>
          <p:spPr bwMode="auto">
            <a:xfrm>
              <a:off x="3360" y="2208"/>
              <a:ext cx="1872" cy="1226"/>
            </a:xfrm>
            <a:prstGeom prst="rect">
              <a:avLst/>
            </a:prstGeom>
            <a:solidFill>
              <a:srgbClr val="85AAC1"/>
            </a:solidFill>
            <a:ln w="25400">
              <a:noFill/>
              <a:miter lim="800000"/>
              <a:headEnd/>
              <a:tailEnd type="none" w="lg" len="sm"/>
            </a:ln>
            <a:effectLst/>
          </p:spPr>
          <p:txBody>
            <a:bodyPr lIns="0" tIns="0" rIns="0" bIns="0"/>
            <a:lstStyle/>
            <a:p>
              <a:r>
                <a:rPr lang="hu-HU" sz="1400" dirty="0">
                  <a:latin typeface="Futura Bk" charset="0"/>
                </a:rPr>
                <a:t>Fenyegetések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Csökkenő gazdasági növekedés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A kormányzati kiadások megnyirbálása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Erős konkurencia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Nehéz versenyezni a nyugati jövedelmek 	elszívó hatásával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A piacon nem mindig a szakmai és üzleti 	szempontok döntenek</a:t>
              </a:r>
            </a:p>
            <a:p>
              <a:pPr>
                <a:buFontTx/>
                <a:buChar char="•"/>
              </a:pPr>
              <a:r>
                <a:rPr lang="hu-HU" sz="1400" dirty="0">
                  <a:latin typeface="Futura Bk" charset="0"/>
                </a:rPr>
                <a:t> Hazai viszonylatban elég drágák vagyunk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62648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0">
            <a:extLst>
              <a:ext uri="{FF2B5EF4-FFF2-40B4-BE49-F238E27FC236}">
                <a16:creationId xmlns:a16="http://schemas.microsoft.com/office/drawing/2014/main" id="{6C4AC067-D504-471C-8EA7-D3CB990B8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9144000" cy="742950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C5725D68-8A0E-415C-AF7F-3771B66B9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BE714B4-F36E-4926-93B3-190E5EC13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Picture 76">
            <a:extLst>
              <a:ext uri="{FF2B5EF4-FFF2-40B4-BE49-F238E27FC236}">
                <a16:creationId xmlns:a16="http://schemas.microsoft.com/office/drawing/2014/main" id="{6C6CF9F7-5642-4F7B-8A15-C78EA0AB9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 descr="http://www.kepeslap.com/images/24245/lanchid2_origi.jpg">
            <a:extLst>
              <a:ext uri="{FF2B5EF4-FFF2-40B4-BE49-F238E27FC236}">
                <a16:creationId xmlns:a16="http://schemas.microsoft.com/office/drawing/2014/main" id="{7CC61933-3711-4090-8B76-403005D407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0" r="4971" b="-1"/>
          <a:stretch/>
        </p:blipFill>
        <p:spPr bwMode="auto">
          <a:xfrm>
            <a:off x="20" y="10"/>
            <a:ext cx="914375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3FEFEEFD-A6F2-4870-A73A-0C4E6AFD4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2588" y="4755339"/>
            <a:ext cx="6221412" cy="1605180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045384" y="5240297"/>
            <a:ext cx="5096261" cy="9556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>
                <a:solidFill>
                  <a:srgbClr val="FFFFFE"/>
                </a:solidFill>
              </a:rPr>
              <a:t>Jó éjszakát … 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F8C24B90-925B-42BC-8BC1-DC208D498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0448" b="36564"/>
          <a:stretch/>
        </p:blipFill>
        <p:spPr>
          <a:xfrm>
            <a:off x="3039293" y="4920257"/>
            <a:ext cx="5102352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>
          <a:xfrm>
            <a:off x="8296300" y="4922730"/>
            <a:ext cx="608264" cy="5035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fld id="{753B17E5-C457-4297-BDE7-E43B45805AC6}" type="slidenum"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pPr algn="l">
                <a:lnSpc>
                  <a:spcPct val="90000"/>
                </a:lnSpc>
                <a:spcAft>
                  <a:spcPts val="600"/>
                </a:spcAft>
                <a:defRPr/>
              </a:pPr>
              <a:t>29</a:t>
            </a:fld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71806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04B663"/>
      </a:accent4>
      <a:accent5>
        <a:srgbClr val="DF8822"/>
      </a:accent5>
      <a:accent6>
        <a:srgbClr val="BC410A"/>
      </a:accent6>
      <a:hlink>
        <a:srgbClr val="5977C4"/>
      </a:hlink>
      <a:folHlink>
        <a:srgbClr val="0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3591</TotalTime>
  <Words>3009</Words>
  <Application>Microsoft Office PowerPoint</Application>
  <PresentationFormat>On-screen Show (4:3)</PresentationFormat>
  <Paragraphs>526</Paragraphs>
  <Slides>29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Century Gothic</vt:lpstr>
      <vt:lpstr>Futura Bk</vt:lpstr>
      <vt:lpstr>Times New Roman</vt:lpstr>
      <vt:lpstr>Wingdings</vt:lpstr>
      <vt:lpstr>Gallery</vt:lpstr>
      <vt:lpstr>Projektirányítás az informatikában </vt:lpstr>
      <vt:lpstr>PowerPoint Presentation</vt:lpstr>
      <vt:lpstr>Ország, vállalat, projekt</vt:lpstr>
      <vt:lpstr>A projekt politikai, gazdasági, jogi környezete </vt:lpstr>
      <vt:lpstr>A projekt kulturális környezete </vt:lpstr>
      <vt:lpstr>PDI index néhány gyakorlati jellemzője</vt:lpstr>
      <vt:lpstr>IDV index néhány gyakorlati jellemzője</vt:lpstr>
      <vt:lpstr>MAS index néhány gyakorlati jellemzője</vt:lpstr>
      <vt:lpstr>UAI index néhány gyakorlati jellemzője</vt:lpstr>
      <vt:lpstr>LTO index néhány gyakorlati jellemzője</vt:lpstr>
      <vt:lpstr>Néhány ország Hofstede szerint 1</vt:lpstr>
      <vt:lpstr>Néhány ország Hofstede szerint (62 adatból)</vt:lpstr>
      <vt:lpstr>Néhány ország Hofstede szerint </vt:lpstr>
      <vt:lpstr>Mi a vállalati kultúra?</vt:lpstr>
      <vt:lpstr>Vállalati kultúra</vt:lpstr>
      <vt:lpstr>Vállalati kultúra Hofstede megközelítésében</vt:lpstr>
      <vt:lpstr>1. dimenzió néhány jellemző ismérve </vt:lpstr>
      <vt:lpstr>2. dimenzió néhány jellemző ismérve </vt:lpstr>
      <vt:lpstr>3. dimenzió néhány jellemző ismérve </vt:lpstr>
      <vt:lpstr>4. dimenzió (kommunikációs klima) néhány jellemző ismérve </vt:lpstr>
      <vt:lpstr>5. dimenzió néhány jellemző ismérve </vt:lpstr>
      <vt:lpstr>6. dimenzió néhány jellemző ismérve </vt:lpstr>
      <vt:lpstr>Legjobb tapasztalatod a vállalati kultúrát illetően?</vt:lpstr>
      <vt:lpstr>Vállalatok életútja</vt:lpstr>
      <vt:lpstr>Vállalatok életútja</vt:lpstr>
      <vt:lpstr>A növekedés-öregedés természete</vt:lpstr>
      <vt:lpstr>SWOT értékelés</vt:lpstr>
      <vt:lpstr>Példa SWOT értékelésre</vt:lpstr>
      <vt:lpstr>Jó éjszakát …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Projektirányítás az informatikában</dc:title>
  <dc:creator>Eniko Ilyes</dc:creator>
  <cp:lastModifiedBy>Eniko Ilyes</cp:lastModifiedBy>
  <cp:revision>37</cp:revision>
  <dcterms:created xsi:type="dcterms:W3CDTF">2018-09-13T16:54:02Z</dcterms:created>
  <dcterms:modified xsi:type="dcterms:W3CDTF">2022-09-22T12:37:15Z</dcterms:modified>
</cp:coreProperties>
</file>