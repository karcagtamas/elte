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9" r:id="rId1"/>
  </p:sldMasterIdLst>
  <p:notesMasterIdLst>
    <p:notesMasterId r:id="rId15"/>
  </p:notesMasterIdLst>
  <p:handoutMasterIdLst>
    <p:handoutMasterId r:id="rId16"/>
  </p:handoutMasterIdLst>
  <p:sldIdLst>
    <p:sldId id="256" r:id="rId2"/>
    <p:sldId id="417" r:id="rId3"/>
    <p:sldId id="460" r:id="rId4"/>
    <p:sldId id="257" r:id="rId5"/>
    <p:sldId id="409" r:id="rId6"/>
    <p:sldId id="410" r:id="rId7"/>
    <p:sldId id="411" r:id="rId8"/>
    <p:sldId id="412" r:id="rId9"/>
    <p:sldId id="413" r:id="rId10"/>
    <p:sldId id="414" r:id="rId11"/>
    <p:sldId id="415" r:id="rId12"/>
    <p:sldId id="416" r:id="rId13"/>
    <p:sldId id="408" r:id="rId14"/>
  </p:sldIdLst>
  <p:sldSz cx="9144000" cy="6858000" type="screen4x3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niko Ilyes" initials="EI" lastIdx="1" clrIdx="0">
    <p:extLst>
      <p:ext uri="{19B8F6BF-5375-455C-9EA6-DF929625EA0E}">
        <p15:presenceInfo xmlns:p15="http://schemas.microsoft.com/office/powerpoint/2012/main" userId="073219e8400ee5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48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591" autoAdjust="0"/>
  </p:normalViewPr>
  <p:slideViewPr>
    <p:cSldViewPr>
      <p:cViewPr varScale="1">
        <p:scale>
          <a:sx n="67" d="100"/>
          <a:sy n="67" d="100"/>
        </p:scale>
        <p:origin x="127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>
        <p:scale>
          <a:sx n="100" d="100"/>
          <a:sy n="100" d="100"/>
        </p:scale>
        <p:origin x="3115" y="-394"/>
      </p:cViewPr>
      <p:guideLst>
        <p:guide orient="horz" pos="3156"/>
        <p:guide pos="217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C5480E4B-253C-4CAC-8645-D1B61B519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76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009" y="3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6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52475"/>
            <a:ext cx="5005387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6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977" y="4758157"/>
            <a:ext cx="5510211" cy="4508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6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defTabSz="96596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009" y="9516312"/>
            <a:ext cx="2985561" cy="500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85" tIns="48292" rIns="96585" bIns="48292" numCol="1" anchor="b" anchorCtr="0" compatLnSpc="1">
            <a:prstTxWarp prst="textNoShape">
              <a:avLst/>
            </a:prstTxWarp>
          </a:bodyPr>
          <a:lstStyle>
            <a:lvl1pPr algn="r" defTabSz="965961">
              <a:defRPr sz="1300"/>
            </a:lvl1pPr>
          </a:lstStyle>
          <a:p>
            <a:pPr>
              <a:defRPr/>
            </a:pPr>
            <a:fld id="{747A745F-031D-4129-9C3D-4CC2DEC5AB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4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4682"/>
            <a:fld id="{4C522B52-1AD6-4857-B50D-D2E2420124D7}" type="slidenum">
              <a:rPr lang="en-US" smtClean="0"/>
              <a:pPr defTabSz="964682"/>
              <a:t>1</a:t>
            </a:fld>
            <a:endParaRPr lang="en-US" dirty="0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7985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4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1256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5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317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6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3083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7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43028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8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0779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9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5584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10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9471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11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27816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1D334D-EA72-46C3-B8BF-9C9CD98711CB}" type="slidenum">
              <a:rPr lang="en-US"/>
              <a:pPr/>
              <a:t>12</a:t>
            </a:fld>
            <a:endParaRPr lang="en-US"/>
          </a:p>
        </p:txBody>
      </p:sp>
      <p:sp>
        <p:nvSpPr>
          <p:cNvPr id="1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9836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5459" y="959313"/>
            <a:ext cx="5760741" cy="257189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5459" y="3531205"/>
            <a:ext cx="5760741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5459" y="329308"/>
            <a:ext cx="3392144" cy="30920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86200" y="131730"/>
            <a:ext cx="802005" cy="503578"/>
          </a:xfrm>
        </p:spPr>
        <p:txBody>
          <a:bodyPr/>
          <a:lstStyle/>
          <a:p>
            <a:pPr>
              <a:defRPr/>
            </a:pPr>
            <a:fld id="{E8FCCD30-07D4-41FE-9D57-5014BFD245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4234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246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1756130"/>
            <a:ext cx="5764142" cy="2050066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5460" y="3806196"/>
            <a:ext cx="576414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35314-2042-4B54-A736-61F6AD8671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84437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5459" y="959314"/>
            <a:ext cx="6564015" cy="10441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5459" y="2172548"/>
            <a:ext cx="3125871" cy="32789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63822" y="2172548"/>
            <a:ext cx="3125652" cy="327894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1BEFDA-E99A-4D41-8333-0C32F9551E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5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652" y="959903"/>
            <a:ext cx="6571344" cy="1044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8131" y="2169094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8131" y="2973815"/>
            <a:ext cx="3125766" cy="24916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3822" y="2172548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63822" y="2971035"/>
            <a:ext cx="3125652" cy="24849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47641-861F-4814-8B79-B97FA695A93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9239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47B3DD-CEDE-49DD-AB86-4B06F19829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9952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872202-3281-44D3-98CF-738D941B0CE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251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041" y="959313"/>
            <a:ext cx="2425950" cy="224205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877" y="960890"/>
            <a:ext cx="3828178" cy="4496910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041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0A95A-CA8B-4B38-AB15-C91730F99A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4627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077" y="1129512"/>
            <a:ext cx="3386166" cy="1918487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31420" y="3057166"/>
            <a:ext cx="3390817" cy="2092568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4592" y="5469857"/>
            <a:ext cx="3393977" cy="320123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459" y="318641"/>
            <a:ext cx="2601032" cy="320931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726491" y="131730"/>
            <a:ext cx="795746" cy="503578"/>
          </a:xfrm>
        </p:spPr>
        <p:txBody>
          <a:bodyPr/>
          <a:lstStyle/>
          <a:p>
            <a:pPr>
              <a:defRPr/>
            </a:pPr>
            <a:fld id="{52DF02FD-BF36-43C3-AC94-7C918C2B66F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70363" b="36435"/>
          <a:stretch/>
        </p:blipFill>
        <p:spPr>
          <a:xfrm>
            <a:off x="1125460" y="643464"/>
            <a:ext cx="339242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306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5213F2-8DD6-4C11-ADE4-B55F8C63896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42454" b="36435"/>
          <a:stretch/>
        </p:blipFill>
        <p:spPr>
          <a:xfrm>
            <a:off x="1125460" y="643464"/>
            <a:ext cx="6574536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752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6447" y="796298"/>
            <a:ext cx="1103027" cy="466256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1910" y="796298"/>
            <a:ext cx="5301095" cy="466256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4C950F-F20D-408C-9358-7E11B1877A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r="59215" b="36435"/>
          <a:stretch/>
        </p:blipFill>
        <p:spPr>
          <a:xfrm rot="5400000">
            <a:off x="5605390" y="3050294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325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854"/>
            <a:ext cx="9144000" cy="7429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" name="Straight Connector 12"/>
          <p:cNvCxnSpPr/>
          <p:nvPr/>
        </p:nvCxnSpPr>
        <p:spPr>
          <a:xfrm>
            <a:off x="0" y="6121005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28684" y="956172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8684" y="2167385"/>
            <a:ext cx="6571343" cy="328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1309" y="330371"/>
            <a:ext cx="2368292" cy="304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8684" y="329308"/>
            <a:ext cx="3388498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3728" y="131730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C94613A-2D11-4185-B20E-220A3974BD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03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u-HU" dirty="0"/>
              <a:t>Projektirányítás az informatikában </a:t>
            </a: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hu-HU" dirty="0"/>
              <a:t>Ilyés Enikő - </a:t>
            </a:r>
            <a:r>
              <a:rPr lang="hu-HU" dirty="0" err="1"/>
              <a:t>Langer</a:t>
            </a:r>
            <a:r>
              <a:rPr lang="hu-HU" dirty="0"/>
              <a:t> Tamás nyomán</a:t>
            </a:r>
            <a:endParaRPr lang="en-US" dirty="0"/>
          </a:p>
        </p:txBody>
      </p:sp>
      <p:sp>
        <p:nvSpPr>
          <p:cNvPr id="3074" name="Rectangle 9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2B7E0F-FFD2-4C52-9B66-C735489FAC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9A92-0BCA-485B-866C-F50DD1168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Részvizsga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F4634-17F7-437D-B64E-F6EECF3C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/>
              <a:t>Időpont: 2023. október 26., 17:45</a:t>
            </a:r>
          </a:p>
          <a:p>
            <a:r>
              <a:rPr lang="hu-HU" dirty="0"/>
              <a:t>Időtartam: 45 perc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   (Ezt követően folytatódik az előadás, 19:15-ig.)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EZ AZ ALKALOM HIBRID LESZ!</a:t>
            </a:r>
          </a:p>
          <a:p>
            <a:pPr marL="0" indent="0">
              <a:buNone/>
            </a:pPr>
            <a:r>
              <a:rPr lang="hu-HU" dirty="0"/>
              <a:t>Preferálom, ha </a:t>
            </a:r>
            <a:r>
              <a:rPr lang="hu-HU" dirty="0" err="1"/>
              <a:t>Canvasban</a:t>
            </a:r>
            <a:r>
              <a:rPr lang="hu-HU" dirty="0"/>
              <a:t> írod a dolgozatot, de papíron is lehet. Ez esetben jelezd előre, hogy kérsz nyomtatott példányt! (</a:t>
            </a:r>
            <a:r>
              <a:rPr lang="hu-HU" dirty="0" err="1"/>
              <a:t>Teams</a:t>
            </a:r>
            <a:r>
              <a:rPr lang="hu-HU" dirty="0"/>
              <a:t>-en, személyes üzenetben)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EAE7D-6788-4165-AD27-CF12C4DF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3B17E5-C457-4297-BDE7-E43B45805AC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79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DFCB3-D43C-444B-A753-CF80E4C4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Részvizsga összetétele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FE23C-D6D5-488A-B063-CE1EE4440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/>
              <a:t>20 feleletválasztós kérdés – 20 pont</a:t>
            </a:r>
          </a:p>
          <a:p>
            <a:r>
              <a:rPr lang="hu-HU" dirty="0"/>
              <a:t>1 SWOT elemzés (kifejtős kérdés) – 12 pont</a:t>
            </a:r>
          </a:p>
          <a:p>
            <a:r>
              <a:rPr lang="hu-HU" dirty="0"/>
              <a:t>1 </a:t>
            </a:r>
            <a:r>
              <a:rPr lang="hu-HU" dirty="0" err="1"/>
              <a:t>időelemzéses</a:t>
            </a:r>
            <a:r>
              <a:rPr lang="hu-HU" dirty="0"/>
              <a:t> feladat (rajzol, majd fénykép feltöltés) – 18 pont</a:t>
            </a:r>
          </a:p>
          <a:p>
            <a:r>
              <a:rPr lang="en-US" dirty="0"/>
              <a:t>m</a:t>
            </a:r>
            <a:r>
              <a:rPr lang="hu-HU" dirty="0" err="1"/>
              <a:t>aximum</a:t>
            </a:r>
            <a:r>
              <a:rPr lang="hu-HU" dirty="0"/>
              <a:t> pontszám: 50 pont, minimum az átmenőhöz: </a:t>
            </a:r>
            <a:r>
              <a:rPr lang="en-US" dirty="0"/>
              <a:t>25 </a:t>
            </a:r>
            <a:r>
              <a:rPr lang="en-US" dirty="0" err="1"/>
              <a:t>pont</a:t>
            </a:r>
            <a:endParaRPr lang="en-US" dirty="0"/>
          </a:p>
          <a:p>
            <a:r>
              <a:rPr lang="hu-HU" dirty="0"/>
              <a:t>feladatok random sorrendben, nem lehet visszalépni</a:t>
            </a:r>
          </a:p>
          <a:p>
            <a:r>
              <a:rPr lang="hu-HU" dirty="0"/>
              <a:t>segédanyag nem használható (pl. nem kattinthatsz ki a böngészőből)</a:t>
            </a:r>
          </a:p>
          <a:p>
            <a:r>
              <a:rPr lang="hu-HU" dirty="0"/>
              <a:t>Csak vizsgaidőszakban ismételhető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839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03AE-3698-4127-8756-5A05AED87AC8}" type="slidenum">
              <a:rPr lang="en-US"/>
              <a:pPr/>
              <a:t>4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Tételsor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454C27-5B48-4F13-B844-96502DE31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Melyek</a:t>
            </a:r>
            <a:r>
              <a:rPr lang="en-US" dirty="0"/>
              <a:t> a </a:t>
            </a:r>
            <a:r>
              <a:rPr lang="en-US" dirty="0" err="1"/>
              <a:t>projektnégyszög</a:t>
            </a:r>
            <a:r>
              <a:rPr lang="en-US" dirty="0"/>
              <a:t> </a:t>
            </a:r>
            <a:r>
              <a:rPr lang="en-US" dirty="0" err="1"/>
              <a:t>elemei</a:t>
            </a:r>
            <a:r>
              <a:rPr lang="en-US" dirty="0"/>
              <a:t>?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jelent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“</a:t>
            </a:r>
            <a:r>
              <a:rPr lang="en-US" dirty="0" err="1"/>
              <a:t>egymás</a:t>
            </a:r>
            <a:r>
              <a:rPr lang="en-US" dirty="0"/>
              <a:t> </a:t>
            </a:r>
            <a:r>
              <a:rPr lang="en-US" dirty="0" err="1"/>
              <a:t>ellen</a:t>
            </a:r>
            <a:r>
              <a:rPr lang="en-US" dirty="0"/>
              <a:t> </a:t>
            </a:r>
            <a:r>
              <a:rPr lang="en-US" dirty="0" err="1"/>
              <a:t>hatnak</a:t>
            </a:r>
            <a:r>
              <a:rPr lang="en-US" dirty="0"/>
              <a:t>”?</a:t>
            </a:r>
          </a:p>
          <a:p>
            <a:r>
              <a:rPr lang="en-US" dirty="0" err="1"/>
              <a:t>Informatikai</a:t>
            </a:r>
            <a:r>
              <a:rPr lang="en-US" dirty="0"/>
              <a:t> </a:t>
            </a:r>
            <a:r>
              <a:rPr lang="en-US" dirty="0" err="1"/>
              <a:t>projektek</a:t>
            </a:r>
            <a:r>
              <a:rPr lang="en-US" dirty="0"/>
              <a:t> </a:t>
            </a:r>
            <a:r>
              <a:rPr lang="en-US" dirty="0" err="1"/>
              <a:t>specialitásai</a:t>
            </a:r>
            <a:r>
              <a:rPr lang="en-US" dirty="0"/>
              <a:t>.</a:t>
            </a:r>
          </a:p>
          <a:p>
            <a:r>
              <a:rPr lang="en-US" dirty="0" err="1"/>
              <a:t>Miért</a:t>
            </a:r>
            <a:r>
              <a:rPr lang="en-US" dirty="0"/>
              <a:t> </a:t>
            </a:r>
            <a:r>
              <a:rPr lang="en-US" dirty="0" err="1"/>
              <a:t>mondjuk</a:t>
            </a:r>
            <a:r>
              <a:rPr lang="en-US" dirty="0"/>
              <a:t> </a:t>
            </a:r>
            <a:r>
              <a:rPr lang="en-US" dirty="0" err="1"/>
              <a:t>azt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projektvezetés</a:t>
            </a:r>
            <a:r>
              <a:rPr lang="en-US" dirty="0"/>
              <a:t> </a:t>
            </a:r>
            <a:r>
              <a:rPr lang="en-US" dirty="0" err="1"/>
              <a:t>két</a:t>
            </a:r>
            <a:r>
              <a:rPr lang="en-US" dirty="0"/>
              <a:t> </a:t>
            </a:r>
            <a:r>
              <a:rPr lang="en-US" dirty="0" err="1"/>
              <a:t>szakma</a:t>
            </a:r>
            <a:r>
              <a:rPr lang="en-US" dirty="0"/>
              <a:t> </a:t>
            </a:r>
            <a:r>
              <a:rPr lang="en-US" dirty="0" err="1"/>
              <a:t>együttese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03AE-3698-4127-8756-5A05AED87AC8}" type="slidenum">
              <a:rPr lang="en-US"/>
              <a:pPr/>
              <a:t>5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Tételsor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454C27-5B48-4F13-B844-96502DE3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6400"/>
            <a:ext cx="6796116" cy="4462015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szervezeti</a:t>
            </a:r>
            <a:r>
              <a:rPr lang="en-US" dirty="0"/>
              <a:t> </a:t>
            </a:r>
            <a:r>
              <a:rPr lang="en-US" dirty="0" err="1"/>
              <a:t>modellek</a:t>
            </a:r>
            <a:r>
              <a:rPr lang="en-US" dirty="0"/>
              <a:t> </a:t>
            </a:r>
            <a:r>
              <a:rPr lang="en-US" dirty="0" err="1"/>
              <a:t>vannak</a:t>
            </a:r>
            <a:r>
              <a:rPr lang="en-US" dirty="0"/>
              <a:t>?</a:t>
            </a:r>
          </a:p>
          <a:p>
            <a:r>
              <a:rPr lang="en-US" dirty="0" err="1"/>
              <a:t>Mitől</a:t>
            </a:r>
            <a:r>
              <a:rPr lang="en-US" dirty="0"/>
              <a:t> </a:t>
            </a:r>
            <a:r>
              <a:rPr lang="en-US" dirty="0" err="1"/>
              <a:t>mátrix</a:t>
            </a:r>
            <a:r>
              <a:rPr lang="en-US" dirty="0"/>
              <a:t> </a:t>
            </a:r>
            <a:r>
              <a:rPr lang="en-US" dirty="0" err="1"/>
              <a:t>szervezet</a:t>
            </a:r>
            <a:r>
              <a:rPr lang="en-US" dirty="0"/>
              <a:t> a </a:t>
            </a:r>
            <a:r>
              <a:rPr lang="en-US" dirty="0" err="1"/>
              <a:t>mátrix</a:t>
            </a:r>
            <a:r>
              <a:rPr lang="en-US" dirty="0"/>
              <a:t> </a:t>
            </a:r>
            <a:r>
              <a:rPr lang="en-US" dirty="0" err="1"/>
              <a:t>szervezet</a:t>
            </a:r>
            <a:r>
              <a:rPr lang="en-US" dirty="0"/>
              <a:t>?</a:t>
            </a:r>
          </a:p>
          <a:p>
            <a:r>
              <a:rPr lang="en-US" dirty="0"/>
              <a:t> </a:t>
            </a:r>
            <a:r>
              <a:rPr lang="en-US" dirty="0" err="1"/>
              <a:t>Mutassa</a:t>
            </a:r>
            <a:r>
              <a:rPr lang="en-US" dirty="0"/>
              <a:t> be a </a:t>
            </a:r>
            <a:r>
              <a:rPr lang="en-US" dirty="0" err="1"/>
              <a:t>funkcionális</a:t>
            </a:r>
            <a:r>
              <a:rPr lang="en-US" dirty="0"/>
              <a:t> </a:t>
            </a:r>
            <a:r>
              <a:rPr lang="en-US" dirty="0" err="1"/>
              <a:t>szervezetet</a:t>
            </a:r>
            <a:r>
              <a:rPr lang="en-US" dirty="0"/>
              <a:t>, </a:t>
            </a:r>
            <a:r>
              <a:rPr lang="en-US" dirty="0" err="1"/>
              <a:t>előnyeit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hátrányai</a:t>
            </a:r>
            <a:r>
              <a:rPr lang="en-US" dirty="0"/>
              <a:t>, </a:t>
            </a:r>
            <a:r>
              <a:rPr lang="en-US" dirty="0" err="1"/>
              <a:t>mikor</a:t>
            </a:r>
            <a:r>
              <a:rPr lang="en-US" dirty="0"/>
              <a:t> </a:t>
            </a:r>
            <a:r>
              <a:rPr lang="en-US" dirty="0" err="1"/>
              <a:t>célszerű</a:t>
            </a:r>
            <a:r>
              <a:rPr lang="en-US" dirty="0"/>
              <a:t> </a:t>
            </a:r>
            <a:r>
              <a:rPr lang="en-US" dirty="0" err="1"/>
              <a:t>alkalmazni</a:t>
            </a:r>
            <a:r>
              <a:rPr lang="en-US" dirty="0"/>
              <a:t>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adjon</a:t>
            </a:r>
            <a:r>
              <a:rPr lang="en-US" dirty="0"/>
              <a:t> </a:t>
            </a:r>
            <a:r>
              <a:rPr lang="en-US" dirty="0" err="1"/>
              <a:t>példát</a:t>
            </a:r>
            <a:r>
              <a:rPr lang="en-US" dirty="0"/>
              <a:t>!</a:t>
            </a:r>
          </a:p>
          <a:p>
            <a:r>
              <a:rPr lang="en-US" dirty="0"/>
              <a:t> </a:t>
            </a:r>
            <a:r>
              <a:rPr lang="en-US" dirty="0" err="1"/>
              <a:t>Mutassa</a:t>
            </a:r>
            <a:r>
              <a:rPr lang="en-US" dirty="0"/>
              <a:t> be a </a:t>
            </a:r>
            <a:r>
              <a:rPr lang="en-US" dirty="0" err="1"/>
              <a:t>koordinációs</a:t>
            </a:r>
            <a:r>
              <a:rPr lang="en-US" dirty="0"/>
              <a:t> </a:t>
            </a:r>
            <a:r>
              <a:rPr lang="en-US" dirty="0" err="1"/>
              <a:t>mátrix</a:t>
            </a:r>
            <a:r>
              <a:rPr lang="en-US" dirty="0"/>
              <a:t> </a:t>
            </a:r>
            <a:r>
              <a:rPr lang="en-US" dirty="0" err="1"/>
              <a:t>szervezetet</a:t>
            </a:r>
            <a:r>
              <a:rPr lang="en-US" dirty="0"/>
              <a:t>, </a:t>
            </a:r>
            <a:r>
              <a:rPr lang="en-US" dirty="0" err="1"/>
              <a:t>előnyeit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hátrányai</a:t>
            </a:r>
            <a:r>
              <a:rPr lang="en-US" dirty="0"/>
              <a:t>, </a:t>
            </a:r>
            <a:r>
              <a:rPr lang="en-US" dirty="0" err="1"/>
              <a:t>mikor</a:t>
            </a:r>
            <a:r>
              <a:rPr lang="en-US" dirty="0"/>
              <a:t> </a:t>
            </a:r>
            <a:r>
              <a:rPr lang="en-US" dirty="0" err="1"/>
              <a:t>célszerű</a:t>
            </a:r>
            <a:r>
              <a:rPr lang="en-US" dirty="0"/>
              <a:t> </a:t>
            </a:r>
            <a:r>
              <a:rPr lang="en-US" dirty="0" err="1"/>
              <a:t>alkalmazni</a:t>
            </a:r>
            <a:r>
              <a:rPr lang="en-US" dirty="0"/>
              <a:t>!</a:t>
            </a:r>
          </a:p>
          <a:p>
            <a:r>
              <a:rPr lang="en-US" dirty="0"/>
              <a:t> </a:t>
            </a:r>
            <a:r>
              <a:rPr lang="en-US" dirty="0" err="1"/>
              <a:t>Mutassa</a:t>
            </a:r>
            <a:r>
              <a:rPr lang="en-US" dirty="0"/>
              <a:t> be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átfedési</a:t>
            </a:r>
            <a:r>
              <a:rPr lang="en-US" dirty="0"/>
              <a:t> </a:t>
            </a:r>
            <a:r>
              <a:rPr lang="en-US" dirty="0" err="1"/>
              <a:t>mátrix</a:t>
            </a:r>
            <a:r>
              <a:rPr lang="en-US" dirty="0"/>
              <a:t> </a:t>
            </a:r>
            <a:r>
              <a:rPr lang="en-US" dirty="0" err="1"/>
              <a:t>szervezetet</a:t>
            </a:r>
            <a:r>
              <a:rPr lang="en-US" dirty="0"/>
              <a:t>, </a:t>
            </a:r>
            <a:r>
              <a:rPr lang="en-US" dirty="0" err="1"/>
              <a:t>előnyeit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hátrányai</a:t>
            </a:r>
            <a:r>
              <a:rPr lang="en-US" dirty="0"/>
              <a:t>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mikor</a:t>
            </a:r>
            <a:r>
              <a:rPr lang="en-US" dirty="0"/>
              <a:t> </a:t>
            </a:r>
            <a:r>
              <a:rPr lang="en-US" dirty="0" err="1"/>
              <a:t>célszerű</a:t>
            </a:r>
            <a:r>
              <a:rPr lang="en-US" dirty="0"/>
              <a:t> </a:t>
            </a:r>
            <a:r>
              <a:rPr lang="en-US" dirty="0" err="1"/>
              <a:t>alkalmazni</a:t>
            </a:r>
            <a:r>
              <a:rPr lang="en-US" dirty="0"/>
              <a:t>!</a:t>
            </a:r>
          </a:p>
          <a:p>
            <a:r>
              <a:rPr lang="en-US" dirty="0" err="1"/>
              <a:t>Mutassa</a:t>
            </a:r>
            <a:r>
              <a:rPr lang="en-US" dirty="0"/>
              <a:t> be a </a:t>
            </a:r>
            <a:r>
              <a:rPr lang="en-US" dirty="0" err="1"/>
              <a:t>rendelkezésre</a:t>
            </a:r>
            <a:r>
              <a:rPr lang="en-US" dirty="0"/>
              <a:t> </a:t>
            </a:r>
            <a:r>
              <a:rPr lang="en-US" dirty="0" err="1"/>
              <a:t>bocsátási</a:t>
            </a:r>
            <a:r>
              <a:rPr lang="en-US" dirty="0"/>
              <a:t> </a:t>
            </a:r>
            <a:r>
              <a:rPr lang="en-US" dirty="0" err="1"/>
              <a:t>mátrix</a:t>
            </a:r>
            <a:r>
              <a:rPr lang="en-US" dirty="0"/>
              <a:t> </a:t>
            </a:r>
            <a:r>
              <a:rPr lang="en-US" dirty="0" err="1"/>
              <a:t>szervezetet</a:t>
            </a:r>
            <a:r>
              <a:rPr lang="en-US" dirty="0"/>
              <a:t>, </a:t>
            </a:r>
            <a:r>
              <a:rPr lang="en-US" dirty="0" err="1"/>
              <a:t>előnyeit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hátrányai</a:t>
            </a:r>
            <a:r>
              <a:rPr lang="en-US" dirty="0"/>
              <a:t>, </a:t>
            </a:r>
            <a:r>
              <a:rPr lang="en-US" dirty="0" err="1"/>
              <a:t>mikor</a:t>
            </a:r>
            <a:r>
              <a:rPr lang="en-US" dirty="0"/>
              <a:t> </a:t>
            </a:r>
            <a:r>
              <a:rPr lang="en-US" dirty="0" err="1"/>
              <a:t>célszerű</a:t>
            </a:r>
            <a:r>
              <a:rPr lang="en-US" dirty="0"/>
              <a:t> </a:t>
            </a:r>
            <a:r>
              <a:rPr lang="en-US" dirty="0" err="1"/>
              <a:t>így</a:t>
            </a:r>
            <a:r>
              <a:rPr lang="en-US" dirty="0"/>
              <a:t> </a:t>
            </a:r>
            <a:r>
              <a:rPr lang="en-US" dirty="0" err="1"/>
              <a:t>felépíteni</a:t>
            </a:r>
            <a:r>
              <a:rPr lang="en-US" dirty="0"/>
              <a:t> a </a:t>
            </a:r>
            <a:r>
              <a:rPr lang="en-US" dirty="0" err="1"/>
              <a:t>vállalat</a:t>
            </a:r>
            <a:r>
              <a:rPr lang="en-US" dirty="0"/>
              <a:t> </a:t>
            </a:r>
            <a:r>
              <a:rPr lang="en-US" dirty="0" err="1"/>
              <a:t>szervezetét</a:t>
            </a:r>
            <a:r>
              <a:rPr lang="en-US" dirty="0"/>
              <a:t>!</a:t>
            </a:r>
            <a:endParaRPr lang="hu-HU" dirty="0"/>
          </a:p>
          <a:p>
            <a:r>
              <a:rPr lang="en-US" dirty="0" err="1"/>
              <a:t>Mutassa</a:t>
            </a:r>
            <a:r>
              <a:rPr lang="en-US" dirty="0"/>
              <a:t> be a </a:t>
            </a:r>
            <a:r>
              <a:rPr lang="en-US" dirty="0" err="1"/>
              <a:t>projektcsapat</a:t>
            </a:r>
            <a:r>
              <a:rPr lang="en-US" dirty="0"/>
              <a:t> </a:t>
            </a:r>
            <a:r>
              <a:rPr lang="en-US" dirty="0" err="1"/>
              <a:t>szervezetet</a:t>
            </a:r>
            <a:r>
              <a:rPr lang="en-US" dirty="0"/>
              <a:t>, </a:t>
            </a:r>
            <a:r>
              <a:rPr lang="en-US" dirty="0" err="1"/>
              <a:t>előnyeit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hátrányai</a:t>
            </a:r>
            <a:r>
              <a:rPr lang="en-US" dirty="0"/>
              <a:t>, </a:t>
            </a:r>
            <a:r>
              <a:rPr lang="en-US" dirty="0" err="1"/>
              <a:t>mikor</a:t>
            </a:r>
            <a:r>
              <a:rPr lang="en-US" dirty="0"/>
              <a:t> </a:t>
            </a:r>
            <a:r>
              <a:rPr lang="en-US" dirty="0" err="1"/>
              <a:t>célszerű</a:t>
            </a:r>
            <a:r>
              <a:rPr lang="en-US" dirty="0"/>
              <a:t> </a:t>
            </a:r>
            <a:r>
              <a:rPr lang="en-US" dirty="0" err="1"/>
              <a:t>alkalmazni</a:t>
            </a:r>
            <a:r>
              <a:rPr lang="en-US" dirty="0"/>
              <a:t>!</a:t>
            </a:r>
          </a:p>
          <a:p>
            <a:r>
              <a:rPr lang="en-US" dirty="0"/>
              <a:t> </a:t>
            </a:r>
            <a:r>
              <a:rPr lang="en-US" dirty="0" err="1"/>
              <a:t>Mutassa</a:t>
            </a:r>
            <a:r>
              <a:rPr lang="en-US" dirty="0"/>
              <a:t> be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egyszerű</a:t>
            </a:r>
            <a:r>
              <a:rPr lang="en-US" dirty="0"/>
              <a:t> </a:t>
            </a:r>
            <a:r>
              <a:rPr lang="en-US" dirty="0" err="1"/>
              <a:t>szervezet</a:t>
            </a:r>
            <a:r>
              <a:rPr lang="en-US" dirty="0"/>
              <a:t>, </a:t>
            </a:r>
            <a:r>
              <a:rPr lang="en-US" dirty="0" err="1"/>
              <a:t>előnyeit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hátrányai</a:t>
            </a:r>
            <a:r>
              <a:rPr lang="en-US" dirty="0"/>
              <a:t>, </a:t>
            </a:r>
            <a:r>
              <a:rPr lang="en-US" dirty="0" err="1"/>
              <a:t>mikor</a:t>
            </a:r>
            <a:r>
              <a:rPr lang="en-US" dirty="0"/>
              <a:t> </a:t>
            </a:r>
            <a:r>
              <a:rPr lang="en-US" dirty="0" err="1"/>
              <a:t>célszerű</a:t>
            </a:r>
            <a:r>
              <a:rPr lang="en-US" dirty="0"/>
              <a:t> </a:t>
            </a:r>
            <a:r>
              <a:rPr lang="en-US" dirty="0" err="1"/>
              <a:t>alkalmazni</a:t>
            </a:r>
            <a:r>
              <a:rPr lang="en-US" dirty="0"/>
              <a:t>!</a:t>
            </a:r>
            <a:endParaRPr lang="hu-HU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23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03AE-3698-4127-8756-5A05AED87AC8}" type="slidenum">
              <a:rPr lang="en-US"/>
              <a:pPr/>
              <a:t>6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Tételsor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454C27-5B48-4F13-B844-96502DE3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131" y="1784682"/>
            <a:ext cx="6571343" cy="3288635"/>
          </a:xfrm>
        </p:spPr>
        <p:txBody>
          <a:bodyPr>
            <a:normAutofit/>
          </a:bodyPr>
          <a:lstStyle/>
          <a:p>
            <a:r>
              <a:rPr lang="hu-HU" dirty="0"/>
              <a:t>Ismertesse a vállalatok életútjának szakaszait </a:t>
            </a:r>
            <a:r>
              <a:rPr lang="hu-HU" dirty="0" err="1"/>
              <a:t>Ichak</a:t>
            </a:r>
            <a:r>
              <a:rPr lang="hu-HU" dirty="0"/>
              <a:t> </a:t>
            </a:r>
            <a:r>
              <a:rPr lang="hu-HU" dirty="0" err="1"/>
              <a:t>Adizes</a:t>
            </a:r>
            <a:r>
              <a:rPr lang="hu-HU" dirty="0"/>
              <a:t> elmélete szerint, és adja meg a különböző szakaszok két-három jellemzőjét!</a:t>
            </a:r>
          </a:p>
          <a:p>
            <a:r>
              <a:rPr lang="en-US" dirty="0"/>
              <a:t>Mi a SWOT </a:t>
            </a:r>
            <a:r>
              <a:rPr lang="en-US" dirty="0" err="1"/>
              <a:t>elemzés</a:t>
            </a:r>
            <a:r>
              <a:rPr lang="en-US" dirty="0"/>
              <a:t>?</a:t>
            </a:r>
          </a:p>
          <a:p>
            <a:r>
              <a:rPr lang="en-US" dirty="0" err="1"/>
              <a:t>Készítse</a:t>
            </a:r>
            <a:r>
              <a:rPr lang="en-US" dirty="0"/>
              <a:t> el …… SWOT </a:t>
            </a:r>
            <a:r>
              <a:rPr lang="en-US" dirty="0" err="1"/>
              <a:t>elemzését</a:t>
            </a:r>
            <a:r>
              <a:rPr lang="en-US" dirty="0"/>
              <a:t>.  (Minden </a:t>
            </a:r>
            <a:r>
              <a:rPr lang="en-US" dirty="0" err="1"/>
              <a:t>négyzetben</a:t>
            </a:r>
            <a:r>
              <a:rPr lang="en-US" dirty="0"/>
              <a:t> </a:t>
            </a:r>
            <a:r>
              <a:rPr lang="en-US" dirty="0" err="1"/>
              <a:t>legalább</a:t>
            </a:r>
            <a:r>
              <a:rPr lang="en-US" dirty="0"/>
              <a:t> 4 </a:t>
            </a:r>
            <a:r>
              <a:rPr lang="en-US" dirty="0" err="1"/>
              <a:t>tétellel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214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03AE-3698-4127-8756-5A05AED87AC8}" type="slidenum">
              <a:rPr lang="en-US"/>
              <a:pPr/>
              <a:t>7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Tételsor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454C27-5B48-4F13-B844-96502DE3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131" y="1784682"/>
            <a:ext cx="6571343" cy="328863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Mi a </a:t>
            </a:r>
            <a:r>
              <a:rPr lang="en-US" dirty="0" err="1"/>
              <a:t>projekttulajdonos</a:t>
            </a:r>
            <a:r>
              <a:rPr lang="en-US" dirty="0"/>
              <a:t> </a:t>
            </a:r>
            <a:r>
              <a:rPr lang="en-US" dirty="0" err="1"/>
              <a:t>szerepe</a:t>
            </a:r>
            <a:r>
              <a:rPr lang="en-US" dirty="0"/>
              <a:t>?</a:t>
            </a:r>
          </a:p>
          <a:p>
            <a:r>
              <a:rPr lang="en-US" dirty="0"/>
              <a:t>  </a:t>
            </a:r>
            <a:r>
              <a:rPr lang="en-US" dirty="0" err="1"/>
              <a:t>Jó</a:t>
            </a:r>
            <a:r>
              <a:rPr lang="en-US" dirty="0"/>
              <a:t>-e, ha a </a:t>
            </a:r>
            <a:r>
              <a:rPr lang="en-US" dirty="0" err="1"/>
              <a:t>projekttulajdonos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első</a:t>
            </a:r>
            <a:r>
              <a:rPr lang="en-US" dirty="0"/>
              <a:t> </a:t>
            </a:r>
            <a:r>
              <a:rPr lang="en-US" dirty="0" err="1"/>
              <a:t>számú</a:t>
            </a:r>
            <a:r>
              <a:rPr lang="en-US" dirty="0"/>
              <a:t> </a:t>
            </a:r>
            <a:r>
              <a:rPr lang="en-US" dirty="0" err="1"/>
              <a:t>vállalati</a:t>
            </a:r>
            <a:r>
              <a:rPr lang="en-US" dirty="0"/>
              <a:t> </a:t>
            </a:r>
            <a:r>
              <a:rPr lang="en-US" dirty="0" err="1"/>
              <a:t>vezető</a:t>
            </a:r>
            <a:r>
              <a:rPr lang="en-US" dirty="0"/>
              <a:t>? </a:t>
            </a:r>
            <a:r>
              <a:rPr lang="en-US" dirty="0" err="1"/>
              <a:t>Indokolja</a:t>
            </a:r>
            <a:r>
              <a:rPr lang="en-US" dirty="0"/>
              <a:t> meg a </a:t>
            </a:r>
            <a:r>
              <a:rPr lang="en-US" dirty="0" err="1"/>
              <a:t>választ</a:t>
            </a:r>
            <a:r>
              <a:rPr lang="en-US" dirty="0"/>
              <a:t>!</a:t>
            </a:r>
          </a:p>
          <a:p>
            <a:r>
              <a:rPr lang="en-US" dirty="0"/>
              <a:t>  </a:t>
            </a:r>
            <a:r>
              <a:rPr lang="en-US" dirty="0" err="1"/>
              <a:t>Soroljon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legalább</a:t>
            </a:r>
            <a:r>
              <a:rPr lang="en-US" dirty="0"/>
              <a:t> 10-et a </a:t>
            </a:r>
            <a:r>
              <a:rPr lang="en-US" dirty="0" err="1"/>
              <a:t>projektvezető</a:t>
            </a:r>
            <a:r>
              <a:rPr lang="en-US" dirty="0"/>
              <a:t> </a:t>
            </a:r>
            <a:r>
              <a:rPr lang="en-US" dirty="0" err="1"/>
              <a:t>feladatai</a:t>
            </a:r>
            <a:r>
              <a:rPr lang="en-US" dirty="0"/>
              <a:t> </a:t>
            </a:r>
            <a:r>
              <a:rPr lang="en-US" dirty="0" err="1"/>
              <a:t>közül</a:t>
            </a:r>
            <a:r>
              <a:rPr lang="en-US" dirty="0"/>
              <a:t>!</a:t>
            </a:r>
          </a:p>
          <a:p>
            <a:r>
              <a:rPr lang="en-US" dirty="0"/>
              <a:t>  Mi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erőforrás-kezelő</a:t>
            </a:r>
            <a:r>
              <a:rPr lang="en-US" dirty="0"/>
              <a:t> </a:t>
            </a:r>
            <a:r>
              <a:rPr lang="en-US" dirty="0" err="1"/>
              <a:t>szerepe</a:t>
            </a:r>
            <a:r>
              <a:rPr lang="en-US" dirty="0"/>
              <a:t>?</a:t>
            </a:r>
          </a:p>
          <a:p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típusú</a:t>
            </a:r>
            <a:r>
              <a:rPr lang="en-US" dirty="0"/>
              <a:t> </a:t>
            </a:r>
            <a:r>
              <a:rPr lang="en-US" dirty="0" err="1"/>
              <a:t>szervezeti</a:t>
            </a:r>
            <a:r>
              <a:rPr lang="en-US" dirty="0"/>
              <a:t> </a:t>
            </a:r>
            <a:r>
              <a:rPr lang="en-US" dirty="0" err="1"/>
              <a:t>modell</a:t>
            </a:r>
            <a:r>
              <a:rPr lang="en-US" dirty="0"/>
              <a:t> </a:t>
            </a:r>
            <a:r>
              <a:rPr lang="en-US" dirty="0" err="1"/>
              <a:t>esetében</a:t>
            </a:r>
            <a:r>
              <a:rPr lang="en-US" dirty="0"/>
              <a:t> van </a:t>
            </a:r>
            <a:r>
              <a:rPr lang="en-US" dirty="0" err="1"/>
              <a:t>szükség</a:t>
            </a:r>
            <a:r>
              <a:rPr lang="en-US" dirty="0"/>
              <a:t> </a:t>
            </a:r>
            <a:r>
              <a:rPr lang="en-US" dirty="0" err="1"/>
              <a:t>erőforrás-kezelőre</a:t>
            </a:r>
            <a:r>
              <a:rPr lang="en-US" dirty="0"/>
              <a:t>?</a:t>
            </a:r>
          </a:p>
          <a:p>
            <a:r>
              <a:rPr lang="en-US" dirty="0"/>
              <a:t> Mi a </a:t>
            </a:r>
            <a:r>
              <a:rPr lang="en-US" dirty="0" err="1"/>
              <a:t>technikai</a:t>
            </a:r>
            <a:r>
              <a:rPr lang="en-US" dirty="0"/>
              <a:t> </a:t>
            </a:r>
            <a:r>
              <a:rPr lang="en-US" dirty="0" err="1"/>
              <a:t>vezető</a:t>
            </a:r>
            <a:r>
              <a:rPr lang="en-US" dirty="0"/>
              <a:t> </a:t>
            </a:r>
            <a:r>
              <a:rPr lang="en-US" dirty="0" err="1"/>
              <a:t>szerepe</a:t>
            </a:r>
            <a:r>
              <a:rPr lang="en-US" dirty="0"/>
              <a:t>?</a:t>
            </a:r>
          </a:p>
          <a:p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esetekben</a:t>
            </a:r>
            <a:r>
              <a:rPr lang="en-US" dirty="0"/>
              <a:t> </a:t>
            </a:r>
            <a:r>
              <a:rPr lang="en-US" dirty="0" err="1"/>
              <a:t>érdemes</a:t>
            </a:r>
            <a:r>
              <a:rPr lang="en-US" dirty="0"/>
              <a:t> </a:t>
            </a:r>
            <a:r>
              <a:rPr lang="en-US" dirty="0" err="1"/>
              <a:t>alvállalkozót</a:t>
            </a:r>
            <a:r>
              <a:rPr lang="en-US" dirty="0"/>
              <a:t> </a:t>
            </a:r>
            <a:r>
              <a:rPr lang="en-US" dirty="0" err="1"/>
              <a:t>alkalmazni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32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03AE-3698-4127-8756-5A05AED87AC8}" type="slidenum">
              <a:rPr lang="en-US"/>
              <a:pPr/>
              <a:t>8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Tételsor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454C27-5B48-4F13-B844-96502DE3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131" y="1784682"/>
            <a:ext cx="6571343" cy="32886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1B574D-44C4-4D64-8C21-2A0A42B52A9A}"/>
              </a:ext>
            </a:extLst>
          </p:cNvPr>
          <p:cNvSpPr/>
          <p:nvPr/>
        </p:nvSpPr>
        <p:spPr>
          <a:xfrm>
            <a:off x="990600" y="2047014"/>
            <a:ext cx="71628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feladatlebontási</a:t>
            </a:r>
            <a:r>
              <a:rPr lang="en-US" sz="1600" dirty="0"/>
              <a:t> </a:t>
            </a:r>
            <a:r>
              <a:rPr lang="en-US" sz="1600" dirty="0" err="1"/>
              <a:t>struktúra</a:t>
            </a:r>
            <a:r>
              <a:rPr lang="en-US" sz="1600" dirty="0"/>
              <a:t> (WBS), mire </a:t>
            </a:r>
            <a:r>
              <a:rPr lang="en-US" sz="1600" dirty="0" err="1"/>
              <a:t>szolgál</a:t>
            </a:r>
            <a:r>
              <a:rPr lang="en-US" sz="1600" dirty="0"/>
              <a:t>, </a:t>
            </a:r>
            <a:r>
              <a:rPr lang="en-US" sz="1600" dirty="0" err="1"/>
              <a:t>milyen</a:t>
            </a:r>
            <a:r>
              <a:rPr lang="en-US" sz="1600" dirty="0"/>
              <a:t> </a:t>
            </a:r>
            <a:r>
              <a:rPr lang="en-US" sz="1600" dirty="0" err="1"/>
              <a:t>megközelítései</a:t>
            </a:r>
            <a:r>
              <a:rPr lang="en-US" sz="1600" dirty="0"/>
              <a:t> </a:t>
            </a:r>
            <a:r>
              <a:rPr lang="en-US" sz="1600" dirty="0" err="1"/>
              <a:t>vannak</a:t>
            </a:r>
            <a:r>
              <a:rPr lang="en-US" sz="1600" dirty="0"/>
              <a:t> (</a:t>
            </a:r>
            <a:r>
              <a:rPr lang="en-US" sz="1600" dirty="0" err="1"/>
              <a:t>példákkal</a:t>
            </a:r>
            <a:r>
              <a:rPr lang="en-US" sz="1600" dirty="0"/>
              <a:t>)?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szervezet</a:t>
            </a:r>
            <a:r>
              <a:rPr lang="en-US" sz="1600" dirty="0"/>
              <a:t> </a:t>
            </a:r>
            <a:r>
              <a:rPr lang="en-US" sz="1600" dirty="0" err="1"/>
              <a:t>lebontási</a:t>
            </a:r>
            <a:r>
              <a:rPr lang="en-US" sz="1600" dirty="0"/>
              <a:t> </a:t>
            </a:r>
            <a:r>
              <a:rPr lang="en-US" sz="1600" dirty="0" err="1"/>
              <a:t>struktúra</a:t>
            </a:r>
            <a:r>
              <a:rPr lang="en-US" sz="1600" dirty="0"/>
              <a:t>? </a:t>
            </a:r>
            <a:r>
              <a:rPr lang="en-US" sz="1600" dirty="0" err="1"/>
              <a:t>Szemléltesse</a:t>
            </a:r>
            <a:r>
              <a:rPr lang="en-US" sz="1600" dirty="0"/>
              <a:t> </a:t>
            </a:r>
            <a:r>
              <a:rPr lang="en-US" sz="1600" dirty="0" err="1"/>
              <a:t>példával</a:t>
            </a:r>
            <a:r>
              <a:rPr lang="en-US" sz="1600" dirty="0"/>
              <a:t>!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felelősség</a:t>
            </a:r>
            <a:r>
              <a:rPr lang="en-US" sz="1600" dirty="0"/>
              <a:t> </a:t>
            </a:r>
            <a:r>
              <a:rPr lang="en-US" sz="1600" dirty="0" err="1"/>
              <a:t>hozzárendelési</a:t>
            </a:r>
            <a:r>
              <a:rPr lang="en-US" sz="1600" dirty="0"/>
              <a:t> </a:t>
            </a:r>
            <a:r>
              <a:rPr lang="en-US" sz="1600" dirty="0" err="1"/>
              <a:t>mátrix</a:t>
            </a:r>
            <a:r>
              <a:rPr lang="en-US" sz="1600" dirty="0"/>
              <a:t>? </a:t>
            </a:r>
            <a:r>
              <a:rPr lang="en-US" sz="1600" dirty="0" err="1"/>
              <a:t>Szemléltesse</a:t>
            </a:r>
            <a:r>
              <a:rPr lang="en-US" sz="1600" dirty="0"/>
              <a:t> </a:t>
            </a:r>
            <a:r>
              <a:rPr lang="en-US" sz="1600" dirty="0" err="1"/>
              <a:t>példával</a:t>
            </a:r>
            <a:r>
              <a:rPr lang="en-US" sz="1600" dirty="0"/>
              <a:t>!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/>
              <a:t>Mutassa</a:t>
            </a:r>
            <a:r>
              <a:rPr lang="en-US" sz="1600" dirty="0"/>
              <a:t> be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elsőbbségi</a:t>
            </a:r>
            <a:r>
              <a:rPr lang="en-US" sz="1600" dirty="0"/>
              <a:t> </a:t>
            </a:r>
            <a:r>
              <a:rPr lang="en-US" sz="1600" dirty="0" err="1"/>
              <a:t>háló</a:t>
            </a:r>
            <a:r>
              <a:rPr lang="en-US" sz="1600" dirty="0"/>
              <a:t> (AON) </a:t>
            </a:r>
            <a:r>
              <a:rPr lang="en-US" sz="1600" dirty="0" err="1"/>
              <a:t>hálótervezési</a:t>
            </a:r>
            <a:r>
              <a:rPr lang="en-US" sz="1600" dirty="0"/>
              <a:t> </a:t>
            </a:r>
            <a:r>
              <a:rPr lang="en-US" sz="1600" dirty="0" err="1"/>
              <a:t>módszert</a:t>
            </a:r>
            <a:r>
              <a:rPr lang="en-US" sz="1600" dirty="0"/>
              <a:t>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kritikus</a:t>
            </a:r>
            <a:r>
              <a:rPr lang="en-US" sz="1600" dirty="0"/>
              <a:t> </a:t>
            </a:r>
            <a:r>
              <a:rPr lang="en-US" sz="1600" dirty="0" err="1"/>
              <a:t>út</a:t>
            </a:r>
            <a:r>
              <a:rPr lang="en-US" sz="1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81633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Tételsor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454C27-5B48-4F13-B844-96502DE3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131" y="1784682"/>
            <a:ext cx="6571343" cy="32886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03AE-3698-4127-8756-5A05AED87AC8}" type="slidenum">
              <a:rPr lang="en-US"/>
              <a:pPr/>
              <a:t>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1B574D-44C4-4D64-8C21-2A0A42B52A9A}"/>
              </a:ext>
            </a:extLst>
          </p:cNvPr>
          <p:cNvSpPr/>
          <p:nvPr/>
        </p:nvSpPr>
        <p:spPr>
          <a:xfrm>
            <a:off x="990600" y="2047014"/>
            <a:ext cx="71628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feladatlebontási</a:t>
            </a:r>
            <a:r>
              <a:rPr lang="en-US" sz="1600" dirty="0"/>
              <a:t> </a:t>
            </a:r>
            <a:r>
              <a:rPr lang="en-US" sz="1600" dirty="0" err="1"/>
              <a:t>struktúra</a:t>
            </a:r>
            <a:r>
              <a:rPr lang="en-US" sz="1600" dirty="0"/>
              <a:t> (WBS), mire </a:t>
            </a:r>
            <a:r>
              <a:rPr lang="en-US" sz="1600" dirty="0" err="1"/>
              <a:t>szolgál</a:t>
            </a:r>
            <a:r>
              <a:rPr lang="en-US" sz="1600" dirty="0"/>
              <a:t>, </a:t>
            </a:r>
            <a:r>
              <a:rPr lang="en-US" sz="1600" dirty="0" err="1"/>
              <a:t>milyen</a:t>
            </a:r>
            <a:r>
              <a:rPr lang="en-US" sz="1600" dirty="0"/>
              <a:t> </a:t>
            </a:r>
            <a:r>
              <a:rPr lang="en-US" sz="1600" dirty="0" err="1"/>
              <a:t>megközelítései</a:t>
            </a:r>
            <a:r>
              <a:rPr lang="en-US" sz="1600" dirty="0"/>
              <a:t> </a:t>
            </a:r>
            <a:r>
              <a:rPr lang="en-US" sz="1600" dirty="0" err="1"/>
              <a:t>vannak</a:t>
            </a:r>
            <a:r>
              <a:rPr lang="en-US" sz="1600" dirty="0"/>
              <a:t> (</a:t>
            </a:r>
            <a:r>
              <a:rPr lang="en-US" sz="1600" dirty="0" err="1"/>
              <a:t>példákkal</a:t>
            </a:r>
            <a:r>
              <a:rPr lang="en-US" sz="1600" dirty="0"/>
              <a:t>)?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szervezet</a:t>
            </a:r>
            <a:r>
              <a:rPr lang="en-US" sz="1600" dirty="0"/>
              <a:t> </a:t>
            </a:r>
            <a:r>
              <a:rPr lang="en-US" sz="1600" dirty="0" err="1"/>
              <a:t>lebontási</a:t>
            </a:r>
            <a:r>
              <a:rPr lang="en-US" sz="1600" dirty="0"/>
              <a:t> </a:t>
            </a:r>
            <a:r>
              <a:rPr lang="en-US" sz="1600" dirty="0" err="1"/>
              <a:t>struktúra</a:t>
            </a:r>
            <a:r>
              <a:rPr lang="en-US" sz="1600" dirty="0"/>
              <a:t>? </a:t>
            </a:r>
            <a:r>
              <a:rPr lang="en-US" sz="1600" dirty="0" err="1"/>
              <a:t>Szemléltesse</a:t>
            </a:r>
            <a:r>
              <a:rPr lang="en-US" sz="1600" dirty="0"/>
              <a:t> </a:t>
            </a:r>
            <a:r>
              <a:rPr lang="en-US" sz="1600" dirty="0" err="1"/>
              <a:t>példával</a:t>
            </a:r>
            <a:r>
              <a:rPr lang="en-US" sz="1600" dirty="0"/>
              <a:t>!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felelősség</a:t>
            </a:r>
            <a:r>
              <a:rPr lang="en-US" sz="1600" dirty="0"/>
              <a:t> </a:t>
            </a:r>
            <a:r>
              <a:rPr lang="en-US" sz="1600" dirty="0" err="1"/>
              <a:t>hozzárendelési</a:t>
            </a:r>
            <a:r>
              <a:rPr lang="en-US" sz="1600" dirty="0"/>
              <a:t> </a:t>
            </a:r>
            <a:r>
              <a:rPr lang="en-US" sz="1600" dirty="0" err="1"/>
              <a:t>mátrix</a:t>
            </a:r>
            <a:r>
              <a:rPr lang="en-US" sz="1600" dirty="0"/>
              <a:t>? </a:t>
            </a:r>
            <a:r>
              <a:rPr lang="en-US" sz="1600" dirty="0" err="1"/>
              <a:t>Szemléltesse</a:t>
            </a:r>
            <a:r>
              <a:rPr lang="en-US" sz="1600" dirty="0"/>
              <a:t> </a:t>
            </a:r>
            <a:r>
              <a:rPr lang="en-US" sz="1600" dirty="0" err="1"/>
              <a:t>példával</a:t>
            </a:r>
            <a:r>
              <a:rPr lang="en-US" sz="1600" dirty="0"/>
              <a:t>!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/>
              <a:t>Mutassa</a:t>
            </a:r>
            <a:r>
              <a:rPr lang="en-US" sz="1600" dirty="0"/>
              <a:t> be a</a:t>
            </a:r>
            <a:r>
              <a:rPr lang="hu-HU" sz="1600" dirty="0"/>
              <a:t> </a:t>
            </a:r>
            <a:r>
              <a:rPr lang="en-US" sz="1600" dirty="0" err="1"/>
              <a:t>hálótervezési</a:t>
            </a:r>
            <a:r>
              <a:rPr lang="en-US" sz="1600" dirty="0"/>
              <a:t> </a:t>
            </a:r>
            <a:r>
              <a:rPr lang="en-US" sz="1600" dirty="0" err="1"/>
              <a:t>módszert</a:t>
            </a:r>
            <a:r>
              <a:rPr lang="hu-HU" sz="1600" dirty="0"/>
              <a:t>!</a:t>
            </a:r>
            <a:endParaRPr lang="en-US" sz="1600" dirty="0"/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kritikus</a:t>
            </a:r>
            <a:r>
              <a:rPr lang="en-US" sz="1600" dirty="0"/>
              <a:t> </a:t>
            </a:r>
            <a:r>
              <a:rPr lang="en-US" sz="1600" dirty="0" err="1"/>
              <a:t>út</a:t>
            </a:r>
            <a:r>
              <a:rPr lang="en-US" sz="1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89070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03AE-3698-4127-8756-5A05AED87AC8}" type="slidenum">
              <a:rPr lang="en-US"/>
              <a:pPr/>
              <a:t>10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Tételsor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454C27-5B48-4F13-B844-96502DE3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131" y="1784682"/>
            <a:ext cx="6571343" cy="32886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1B574D-44C4-4D64-8C21-2A0A42B52A9A}"/>
              </a:ext>
            </a:extLst>
          </p:cNvPr>
          <p:cNvSpPr/>
          <p:nvPr/>
        </p:nvSpPr>
        <p:spPr>
          <a:xfrm>
            <a:off x="904875" y="1905000"/>
            <a:ext cx="7162800" cy="3611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/>
              <a:t>Milyen</a:t>
            </a:r>
            <a:r>
              <a:rPr lang="en-US" sz="1600" dirty="0"/>
              <a:t> </a:t>
            </a:r>
            <a:r>
              <a:rPr lang="en-US" sz="1600" dirty="0" err="1"/>
              <a:t>kapcsolat</a:t>
            </a:r>
            <a:r>
              <a:rPr lang="en-US" sz="1600" dirty="0"/>
              <a:t> </a:t>
            </a:r>
            <a:r>
              <a:rPr lang="en-US" sz="1600" dirty="0" err="1"/>
              <a:t>lehet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elsőbbségi</a:t>
            </a:r>
            <a:r>
              <a:rPr lang="en-US" sz="1600" dirty="0"/>
              <a:t> </a:t>
            </a:r>
            <a:r>
              <a:rPr lang="en-US" sz="1600" dirty="0" err="1"/>
              <a:t>hálóban</a:t>
            </a:r>
            <a:r>
              <a:rPr lang="en-US" sz="1600" dirty="0"/>
              <a:t> </a:t>
            </a:r>
            <a:r>
              <a:rPr lang="en-US" sz="1600" dirty="0" err="1"/>
              <a:t>két</a:t>
            </a:r>
            <a:r>
              <a:rPr lang="en-US" sz="1600" dirty="0"/>
              <a:t> </a:t>
            </a:r>
            <a:r>
              <a:rPr lang="en-US" sz="1600" dirty="0" err="1"/>
              <a:t>tevékenység</a:t>
            </a:r>
            <a:r>
              <a:rPr lang="en-US" sz="1600" dirty="0"/>
              <a:t> </a:t>
            </a:r>
            <a:r>
              <a:rPr lang="en-US" sz="1600" dirty="0" err="1"/>
              <a:t>között</a:t>
            </a:r>
            <a:r>
              <a:rPr lang="en-US" sz="1600" dirty="0"/>
              <a:t>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/>
              <a:t>Mit</a:t>
            </a:r>
            <a:r>
              <a:rPr lang="en-US" sz="1600" dirty="0"/>
              <a:t> </a:t>
            </a:r>
            <a:r>
              <a:rPr lang="en-US" sz="1600" dirty="0" err="1"/>
              <a:t>jelent</a:t>
            </a:r>
            <a:r>
              <a:rPr lang="en-US" sz="1600" dirty="0"/>
              <a:t> a </a:t>
            </a:r>
            <a:r>
              <a:rPr lang="en-US" sz="1600" dirty="0" err="1"/>
              <a:t>késleltetés</a:t>
            </a:r>
            <a:r>
              <a:rPr lang="en-US" sz="1600" dirty="0"/>
              <a:t>/</a:t>
            </a:r>
            <a:r>
              <a:rPr lang="en-US" sz="1600" dirty="0" err="1"/>
              <a:t>siettetés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elsőbbségi</a:t>
            </a:r>
            <a:r>
              <a:rPr lang="en-US" sz="1600" dirty="0"/>
              <a:t> </a:t>
            </a:r>
            <a:r>
              <a:rPr lang="en-US" sz="1600" dirty="0" err="1"/>
              <a:t>hálóban</a:t>
            </a:r>
            <a:r>
              <a:rPr lang="en-US" sz="1600" dirty="0"/>
              <a:t> </a:t>
            </a:r>
            <a:r>
              <a:rPr lang="en-US" sz="1600" dirty="0" err="1"/>
              <a:t>két</a:t>
            </a:r>
            <a:r>
              <a:rPr lang="en-US" sz="1600" dirty="0"/>
              <a:t> </a:t>
            </a:r>
            <a:r>
              <a:rPr lang="en-US" sz="1600" dirty="0" err="1"/>
              <a:t>tevékenység</a:t>
            </a:r>
            <a:r>
              <a:rPr lang="en-US" sz="1600" dirty="0"/>
              <a:t> </a:t>
            </a:r>
            <a:r>
              <a:rPr lang="en-US" sz="1600" dirty="0" err="1"/>
              <a:t>kapcsolatában</a:t>
            </a:r>
            <a:r>
              <a:rPr lang="en-US" sz="1600" dirty="0"/>
              <a:t>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/>
              <a:t>Mikor</a:t>
            </a:r>
            <a:r>
              <a:rPr lang="en-US" sz="1600" dirty="0"/>
              <a:t> </a:t>
            </a:r>
            <a:r>
              <a:rPr lang="en-US" sz="1600" dirty="0" err="1"/>
              <a:t>beszélünk</a:t>
            </a:r>
            <a:r>
              <a:rPr lang="en-US" sz="1600" dirty="0"/>
              <a:t> </a:t>
            </a:r>
            <a:r>
              <a:rPr lang="en-US" sz="1600" dirty="0" err="1"/>
              <a:t>kemény</a:t>
            </a:r>
            <a:r>
              <a:rPr lang="en-US" sz="1600" dirty="0"/>
              <a:t> </a:t>
            </a:r>
            <a:r>
              <a:rPr lang="en-US" sz="1600" dirty="0" err="1"/>
              <a:t>és</a:t>
            </a:r>
            <a:r>
              <a:rPr lang="en-US" sz="1600" dirty="0"/>
              <a:t> </a:t>
            </a:r>
            <a:r>
              <a:rPr lang="en-US" sz="1600" dirty="0" err="1"/>
              <a:t>mikor</a:t>
            </a:r>
            <a:r>
              <a:rPr lang="en-US" sz="1600" dirty="0"/>
              <a:t> </a:t>
            </a:r>
            <a:r>
              <a:rPr lang="en-US" sz="1600" dirty="0" err="1"/>
              <a:t>beszélünk</a:t>
            </a:r>
            <a:r>
              <a:rPr lang="en-US" sz="1600" dirty="0"/>
              <a:t> </a:t>
            </a:r>
            <a:r>
              <a:rPr lang="en-US" sz="1600" dirty="0" err="1"/>
              <a:t>puha</a:t>
            </a:r>
            <a:r>
              <a:rPr lang="en-US" sz="1600" dirty="0"/>
              <a:t> </a:t>
            </a:r>
            <a:r>
              <a:rPr lang="en-US" sz="1600" dirty="0" err="1"/>
              <a:t>kapcsolatról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elsőbbségi</a:t>
            </a:r>
            <a:r>
              <a:rPr lang="en-US" sz="1600" dirty="0"/>
              <a:t> </a:t>
            </a:r>
            <a:r>
              <a:rPr lang="en-US" sz="1600" dirty="0" err="1"/>
              <a:t>hálóban</a:t>
            </a:r>
            <a:r>
              <a:rPr lang="en-US" sz="1600" dirty="0"/>
              <a:t> </a:t>
            </a:r>
            <a:r>
              <a:rPr lang="en-US" sz="1600" dirty="0" err="1"/>
              <a:t>két</a:t>
            </a:r>
            <a:r>
              <a:rPr lang="en-US" sz="1600" dirty="0"/>
              <a:t> </a:t>
            </a:r>
            <a:r>
              <a:rPr lang="en-US" sz="1600" dirty="0" err="1"/>
              <a:t>tevékenység</a:t>
            </a:r>
            <a:r>
              <a:rPr lang="en-US" sz="1600" dirty="0"/>
              <a:t> </a:t>
            </a:r>
            <a:r>
              <a:rPr lang="en-US" sz="1600" dirty="0" err="1"/>
              <a:t>kapcsolata</a:t>
            </a:r>
            <a:r>
              <a:rPr lang="en-US" sz="1600" dirty="0"/>
              <a:t> </a:t>
            </a:r>
            <a:r>
              <a:rPr lang="en-US" sz="1600" dirty="0" err="1"/>
              <a:t>esetében</a:t>
            </a:r>
            <a:r>
              <a:rPr lang="en-US" sz="1600" dirty="0"/>
              <a:t>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err="1"/>
              <a:t>Milyen</a:t>
            </a:r>
            <a:r>
              <a:rPr lang="en-US" sz="1600" dirty="0"/>
              <a:t> </a:t>
            </a:r>
            <a:r>
              <a:rPr lang="en-US" sz="1600" dirty="0" err="1"/>
              <a:t>időre</a:t>
            </a:r>
            <a:r>
              <a:rPr lang="en-US" sz="1600" dirty="0"/>
              <a:t> </a:t>
            </a:r>
            <a:r>
              <a:rPr lang="en-US" sz="1600" dirty="0" err="1"/>
              <a:t>vonatkozó</a:t>
            </a:r>
            <a:r>
              <a:rPr lang="en-US" sz="1600" dirty="0"/>
              <a:t> </a:t>
            </a:r>
            <a:r>
              <a:rPr lang="en-US" sz="1600" dirty="0" err="1"/>
              <a:t>megkötések</a:t>
            </a:r>
            <a:r>
              <a:rPr lang="en-US" sz="1600" dirty="0"/>
              <a:t> </a:t>
            </a:r>
            <a:r>
              <a:rPr lang="en-US" sz="1600" dirty="0" err="1"/>
              <a:t>lehetnek</a:t>
            </a:r>
            <a:r>
              <a:rPr lang="en-US" sz="1600" dirty="0"/>
              <a:t> a </a:t>
            </a:r>
            <a:r>
              <a:rPr lang="en-US" sz="1600" dirty="0" err="1"/>
              <a:t>hálótervezés</a:t>
            </a:r>
            <a:r>
              <a:rPr lang="en-US" sz="1600" dirty="0"/>
              <a:t> </a:t>
            </a:r>
            <a:r>
              <a:rPr lang="en-US" sz="1600" dirty="0" err="1"/>
              <a:t>során</a:t>
            </a:r>
            <a:r>
              <a:rPr lang="en-US" sz="1600" dirty="0"/>
              <a:t> </a:t>
            </a:r>
            <a:r>
              <a:rPr lang="en-US" sz="1600" dirty="0" err="1"/>
              <a:t>egy-egy</a:t>
            </a:r>
            <a:r>
              <a:rPr lang="en-US" sz="1600" dirty="0"/>
              <a:t> </a:t>
            </a:r>
            <a:r>
              <a:rPr lang="en-US" sz="1600" dirty="0" err="1"/>
              <a:t>tevékenységre</a:t>
            </a:r>
            <a:r>
              <a:rPr lang="en-US" sz="1600" dirty="0"/>
              <a:t> </a:t>
            </a:r>
            <a:r>
              <a:rPr lang="en-US" sz="1600" dirty="0" err="1"/>
              <a:t>vonatkozóan</a:t>
            </a:r>
            <a:r>
              <a:rPr lang="en-US" sz="1600" dirty="0"/>
              <a:t>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/>
              <a:t>Milyen</a:t>
            </a:r>
            <a:r>
              <a:rPr lang="en-US" sz="1600" dirty="0"/>
              <a:t> </a:t>
            </a:r>
            <a:r>
              <a:rPr lang="en-US" sz="1600" dirty="0" err="1"/>
              <a:t>hibák</a:t>
            </a:r>
            <a:r>
              <a:rPr lang="en-US" sz="1600" dirty="0"/>
              <a:t> </a:t>
            </a:r>
            <a:r>
              <a:rPr lang="en-US" sz="1600" dirty="0" err="1"/>
              <a:t>fordulhatnak</a:t>
            </a:r>
            <a:r>
              <a:rPr lang="en-US" sz="1600" dirty="0"/>
              <a:t> </a:t>
            </a:r>
            <a:r>
              <a:rPr lang="en-US" sz="1600" dirty="0" err="1"/>
              <a:t>elő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elsőbbségi</a:t>
            </a:r>
            <a:r>
              <a:rPr lang="en-US" sz="1600" dirty="0"/>
              <a:t> </a:t>
            </a:r>
            <a:r>
              <a:rPr lang="en-US" sz="1600" dirty="0" err="1"/>
              <a:t>háló</a:t>
            </a:r>
            <a:r>
              <a:rPr lang="en-US" sz="1600" dirty="0"/>
              <a:t> </a:t>
            </a:r>
            <a:r>
              <a:rPr lang="en-US" sz="1600" dirty="0" err="1"/>
              <a:t>logikájában</a:t>
            </a:r>
            <a:r>
              <a:rPr lang="en-US" sz="1600" dirty="0"/>
              <a:t>?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12241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03AE-3698-4127-8756-5A05AED87AC8}" type="slidenum">
              <a:rPr lang="en-US"/>
              <a:pPr/>
              <a:t>11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Tételsor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454C27-5B48-4F13-B844-96502DE3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84682"/>
            <a:ext cx="6571343" cy="32886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D763A5-250A-4509-AADC-8BF9465BDFF5}"/>
              </a:ext>
            </a:extLst>
          </p:cNvPr>
          <p:cNvSpPr/>
          <p:nvPr/>
        </p:nvSpPr>
        <p:spPr>
          <a:xfrm>
            <a:off x="1114425" y="1780314"/>
            <a:ext cx="7177116" cy="3135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</a:pPr>
            <a:r>
              <a:rPr lang="en-US" sz="1600" dirty="0" err="1"/>
              <a:t>Időelemzési</a:t>
            </a:r>
            <a:r>
              <a:rPr lang="en-US" sz="1600" dirty="0"/>
              <a:t> </a:t>
            </a:r>
            <a:r>
              <a:rPr lang="en-US" sz="1600" dirty="0" err="1"/>
              <a:t>gyakorlat</a:t>
            </a:r>
            <a:r>
              <a:rPr lang="en-US" sz="1600" dirty="0"/>
              <a:t>:</a:t>
            </a:r>
            <a:endParaRPr lang="hu-HU" sz="1600" dirty="0"/>
          </a:p>
          <a:p>
            <a:pPr marL="228600" indent="-228600" defTabSz="685800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hu-HU" sz="1600" dirty="0"/>
          </a:p>
          <a:p>
            <a:pPr marL="228600" indent="-228600" defTabSz="685800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dirty="0" err="1"/>
              <a:t>projekt</a:t>
            </a:r>
            <a:r>
              <a:rPr lang="en-US" sz="1600" dirty="0"/>
              <a:t> </a:t>
            </a:r>
            <a:r>
              <a:rPr lang="en-US" sz="1600" dirty="0" err="1"/>
              <a:t>feladatai</a:t>
            </a:r>
            <a:r>
              <a:rPr lang="en-US" sz="1600" dirty="0"/>
              <a:t>, a </a:t>
            </a:r>
            <a:r>
              <a:rPr lang="en-US" sz="1600" dirty="0" err="1"/>
              <a:t>feladatok</a:t>
            </a:r>
            <a:r>
              <a:rPr lang="en-US" sz="1600" dirty="0"/>
              <a:t> </a:t>
            </a:r>
            <a:r>
              <a:rPr lang="en-US" sz="1600" dirty="0" err="1"/>
              <a:t>átfutási</a:t>
            </a:r>
            <a:r>
              <a:rPr lang="en-US" sz="1600" dirty="0"/>
              <a:t> </a:t>
            </a:r>
            <a:r>
              <a:rPr lang="en-US" sz="1600" dirty="0" err="1"/>
              <a:t>idejei</a:t>
            </a:r>
            <a:r>
              <a:rPr lang="en-US" sz="1600" dirty="0"/>
              <a:t> </a:t>
            </a:r>
            <a:r>
              <a:rPr lang="en-US" sz="1600" dirty="0" err="1"/>
              <a:t>és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egyes</a:t>
            </a:r>
            <a:r>
              <a:rPr lang="en-US" sz="1600" dirty="0"/>
              <a:t> </a:t>
            </a:r>
            <a:r>
              <a:rPr lang="en-US" sz="1600" dirty="0" err="1"/>
              <a:t>feladatok</a:t>
            </a:r>
            <a:r>
              <a:rPr lang="en-US" sz="1600" dirty="0"/>
              <a:t> </a:t>
            </a:r>
            <a:r>
              <a:rPr lang="en-US" sz="1600" dirty="0" err="1"/>
              <a:t>megelőző</a:t>
            </a:r>
            <a:r>
              <a:rPr lang="en-US" sz="1600" dirty="0"/>
              <a:t> </a:t>
            </a:r>
            <a:r>
              <a:rPr lang="en-US" sz="1600" dirty="0" err="1"/>
              <a:t>feladatai</a:t>
            </a:r>
            <a:r>
              <a:rPr lang="en-US" sz="1600" dirty="0"/>
              <a:t> (FS) </a:t>
            </a:r>
            <a:r>
              <a:rPr lang="en-US" sz="1600" dirty="0" err="1"/>
              <a:t>alább</a:t>
            </a:r>
            <a:r>
              <a:rPr lang="en-US" sz="1600" dirty="0"/>
              <a:t> </a:t>
            </a:r>
            <a:r>
              <a:rPr lang="en-US" sz="1600" dirty="0" err="1"/>
              <a:t>található</a:t>
            </a:r>
            <a:r>
              <a:rPr lang="en-US" sz="1600" dirty="0"/>
              <a:t>. Forma: </a:t>
            </a:r>
            <a:r>
              <a:rPr lang="en-US" sz="1600" dirty="0" err="1"/>
              <a:t>Feladat</a:t>
            </a:r>
            <a:r>
              <a:rPr lang="en-US" sz="1600" dirty="0"/>
              <a:t>/</a:t>
            </a:r>
            <a:r>
              <a:rPr lang="en-US" sz="1600" dirty="0" err="1"/>
              <a:t>átfutási</a:t>
            </a:r>
            <a:r>
              <a:rPr lang="en-US" sz="1600" dirty="0"/>
              <a:t> </a:t>
            </a:r>
            <a:r>
              <a:rPr lang="en-US" sz="1600" dirty="0" err="1"/>
              <a:t>idő</a:t>
            </a:r>
            <a:r>
              <a:rPr lang="en-US" sz="1600" dirty="0"/>
              <a:t>/</a:t>
            </a:r>
            <a:r>
              <a:rPr lang="en-US" sz="1600" dirty="0" err="1"/>
              <a:t>Megelőző</a:t>
            </a:r>
            <a:r>
              <a:rPr lang="en-US" sz="1600" dirty="0"/>
              <a:t> </a:t>
            </a:r>
            <a:r>
              <a:rPr lang="en-US" sz="1600" dirty="0" err="1"/>
              <a:t>feladatok</a:t>
            </a:r>
            <a:r>
              <a:rPr lang="en-US" sz="1600" dirty="0"/>
              <a:t>.  </a:t>
            </a:r>
            <a:r>
              <a:rPr lang="en-US" sz="1600" dirty="0" err="1"/>
              <a:t>Rajzolja</a:t>
            </a:r>
            <a:r>
              <a:rPr lang="en-US" sz="1600" dirty="0"/>
              <a:t> meg a </a:t>
            </a:r>
            <a:r>
              <a:rPr lang="en-US" sz="1600" dirty="0" err="1"/>
              <a:t>projekt</a:t>
            </a:r>
            <a:r>
              <a:rPr lang="en-US" sz="1600" dirty="0"/>
              <a:t> </a:t>
            </a:r>
            <a:r>
              <a:rPr lang="en-US" sz="1600" dirty="0" err="1"/>
              <a:t>hálódiagrammját</a:t>
            </a:r>
            <a:r>
              <a:rPr lang="en-US" sz="1600" dirty="0"/>
              <a:t>, </a:t>
            </a:r>
            <a:r>
              <a:rPr lang="en-US" sz="1600" dirty="0" err="1"/>
              <a:t>hajtsa</a:t>
            </a:r>
            <a:r>
              <a:rPr lang="en-US" sz="1600" dirty="0"/>
              <a:t> </a:t>
            </a:r>
            <a:r>
              <a:rPr lang="en-US" sz="1600" dirty="0" err="1"/>
              <a:t>végre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időelemzést</a:t>
            </a:r>
            <a:r>
              <a:rPr lang="en-US" sz="1600" dirty="0"/>
              <a:t> </a:t>
            </a:r>
            <a:r>
              <a:rPr lang="en-US" sz="1600" dirty="0" err="1"/>
              <a:t>és</a:t>
            </a:r>
            <a:r>
              <a:rPr lang="en-US" sz="1600" dirty="0"/>
              <a:t> </a:t>
            </a:r>
            <a:r>
              <a:rPr lang="en-US" sz="1600" dirty="0" err="1"/>
              <a:t>ennek</a:t>
            </a:r>
            <a:r>
              <a:rPr lang="en-US" sz="1600" dirty="0"/>
              <a:t> </a:t>
            </a:r>
            <a:r>
              <a:rPr lang="en-US" sz="1600" dirty="0" err="1"/>
              <a:t>alapján</a:t>
            </a:r>
            <a:r>
              <a:rPr lang="en-US" sz="1600" dirty="0"/>
              <a:t> </a:t>
            </a:r>
            <a:r>
              <a:rPr lang="en-US" sz="1600" dirty="0" err="1"/>
              <a:t>határozza</a:t>
            </a:r>
            <a:r>
              <a:rPr lang="en-US" sz="1600" dirty="0"/>
              <a:t> meg a </a:t>
            </a:r>
            <a:r>
              <a:rPr lang="en-US" sz="1600" dirty="0" err="1"/>
              <a:t>kritikus</a:t>
            </a:r>
            <a:r>
              <a:rPr lang="en-US" sz="1600" dirty="0"/>
              <a:t> </a:t>
            </a:r>
            <a:r>
              <a:rPr lang="en-US" sz="1600" dirty="0" err="1"/>
              <a:t>utat</a:t>
            </a:r>
            <a:r>
              <a:rPr lang="en-US" sz="1600" dirty="0"/>
              <a:t>!  A </a:t>
            </a:r>
            <a:r>
              <a:rPr lang="en-US" sz="1600" dirty="0" err="1"/>
              <a:t>projekt</a:t>
            </a:r>
            <a:r>
              <a:rPr lang="en-US" sz="1600" dirty="0"/>
              <a:t> </a:t>
            </a:r>
            <a:r>
              <a:rPr lang="en-US" sz="1600" dirty="0" err="1"/>
              <a:t>első</a:t>
            </a:r>
            <a:r>
              <a:rPr lang="en-US" sz="1600" dirty="0"/>
              <a:t> nap 1., a </a:t>
            </a:r>
            <a:r>
              <a:rPr lang="en-US" sz="1600" dirty="0" err="1"/>
              <a:t>további</a:t>
            </a:r>
            <a:r>
              <a:rPr lang="en-US" sz="1600" dirty="0"/>
              <a:t> </a:t>
            </a:r>
            <a:r>
              <a:rPr lang="en-US" sz="1600" dirty="0" err="1"/>
              <a:t>napokat</a:t>
            </a:r>
            <a:r>
              <a:rPr lang="en-US" sz="1600" dirty="0"/>
              <a:t> a </a:t>
            </a:r>
            <a:r>
              <a:rPr lang="en-US" sz="1600" dirty="0" err="1"/>
              <a:t>projekt</a:t>
            </a:r>
            <a:r>
              <a:rPr lang="en-US" sz="1600" dirty="0"/>
              <a:t> </a:t>
            </a:r>
            <a:r>
              <a:rPr lang="en-US" sz="1600" dirty="0" err="1"/>
              <a:t>kezdetétől</a:t>
            </a:r>
            <a:r>
              <a:rPr lang="en-US" sz="1600" dirty="0"/>
              <a:t> </a:t>
            </a:r>
            <a:r>
              <a:rPr lang="en-US" sz="1600" dirty="0" err="1"/>
              <a:t>számított</a:t>
            </a:r>
            <a:r>
              <a:rPr lang="en-US" sz="1600" dirty="0"/>
              <a:t> </a:t>
            </a:r>
            <a:r>
              <a:rPr lang="en-US" sz="1600" dirty="0" err="1"/>
              <a:t>sorszámukkal</a:t>
            </a:r>
            <a:r>
              <a:rPr lang="en-US" sz="1600" dirty="0"/>
              <a:t> </a:t>
            </a:r>
            <a:r>
              <a:rPr lang="en-US" sz="1600" dirty="0" err="1"/>
              <a:t>jelöljük</a:t>
            </a:r>
            <a:r>
              <a:rPr lang="en-US" sz="1600" dirty="0"/>
              <a:t>!     </a:t>
            </a:r>
            <a:endParaRPr lang="hu-HU" sz="1600" dirty="0"/>
          </a:p>
          <a:p>
            <a:pPr defTabSz="685800">
              <a:lnSpc>
                <a:spcPct val="107000"/>
              </a:lnSpc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</a:pPr>
            <a:r>
              <a:rPr lang="hu-HU" sz="1600" dirty="0"/>
              <a:t>……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47329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C03AE-3698-4127-8756-5A05AED87AC8}" type="slidenum">
              <a:rPr lang="en-US"/>
              <a:pPr/>
              <a:t>12</a:t>
            </a:fld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C1132491-0C49-4D37-B9F2-4FC5763E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Tételsor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454C27-5B48-4F13-B844-96502DE31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84682"/>
            <a:ext cx="6571343" cy="32886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D763A5-250A-4509-AADC-8BF9465BDFF5}"/>
              </a:ext>
            </a:extLst>
          </p:cNvPr>
          <p:cNvSpPr/>
          <p:nvPr/>
        </p:nvSpPr>
        <p:spPr>
          <a:xfrm>
            <a:off x="1114425" y="1780314"/>
            <a:ext cx="7177116" cy="3355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Gantt diagram?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 err="1"/>
              <a:t>Hogyan</a:t>
            </a:r>
            <a:r>
              <a:rPr lang="en-US" sz="1600" dirty="0"/>
              <a:t> </a:t>
            </a:r>
            <a:r>
              <a:rPr lang="en-US" sz="1600" dirty="0" err="1"/>
              <a:t>készül</a:t>
            </a:r>
            <a:r>
              <a:rPr lang="en-US" sz="1600" dirty="0"/>
              <a:t> a </a:t>
            </a:r>
            <a:r>
              <a:rPr lang="en-US" sz="1600" dirty="0" err="1"/>
              <a:t>hálótervből</a:t>
            </a:r>
            <a:r>
              <a:rPr lang="en-US" sz="1600" dirty="0"/>
              <a:t> Gantt </a:t>
            </a:r>
            <a:r>
              <a:rPr lang="en-US" sz="1600" dirty="0" err="1"/>
              <a:t>diagramm</a:t>
            </a:r>
            <a:r>
              <a:rPr lang="en-US" sz="1600" dirty="0"/>
              <a:t>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kapcsolat</a:t>
            </a:r>
            <a:r>
              <a:rPr lang="en-US" sz="1600" dirty="0"/>
              <a:t> a </a:t>
            </a:r>
            <a:r>
              <a:rPr lang="en-US" sz="1600" dirty="0" err="1"/>
              <a:t>projekt</a:t>
            </a:r>
            <a:r>
              <a:rPr lang="en-US" sz="1600" dirty="0"/>
              <a:t> </a:t>
            </a:r>
            <a:r>
              <a:rPr lang="en-US" sz="1600" dirty="0" err="1"/>
              <a:t>átfutási</a:t>
            </a:r>
            <a:r>
              <a:rPr lang="en-US" sz="1600" dirty="0"/>
              <a:t> </a:t>
            </a:r>
            <a:r>
              <a:rPr lang="en-US" sz="1600" dirty="0" err="1"/>
              <a:t>ideje</a:t>
            </a:r>
            <a:r>
              <a:rPr lang="en-US" sz="1600" dirty="0"/>
              <a:t> </a:t>
            </a:r>
            <a:r>
              <a:rPr lang="en-US" sz="1600" dirty="0" err="1"/>
              <a:t>és</a:t>
            </a:r>
            <a:r>
              <a:rPr lang="en-US" sz="1600" dirty="0"/>
              <a:t> a </a:t>
            </a:r>
            <a:r>
              <a:rPr lang="en-US" sz="1600" dirty="0" err="1"/>
              <a:t>végrehajtók</a:t>
            </a:r>
            <a:r>
              <a:rPr lang="en-US" sz="1600" dirty="0"/>
              <a:t> </a:t>
            </a:r>
            <a:r>
              <a:rPr lang="en-US" sz="1600" dirty="0" err="1"/>
              <a:t>száma</a:t>
            </a:r>
            <a:r>
              <a:rPr lang="en-US" sz="1600" dirty="0"/>
              <a:t> </a:t>
            </a:r>
            <a:r>
              <a:rPr lang="en-US" sz="1600" dirty="0" err="1"/>
              <a:t>között</a:t>
            </a:r>
            <a:r>
              <a:rPr lang="en-US" sz="1600" dirty="0"/>
              <a:t> </a:t>
            </a:r>
            <a:r>
              <a:rPr lang="en-US" sz="1600" dirty="0" err="1"/>
              <a:t>üzleti</a:t>
            </a:r>
            <a:r>
              <a:rPr lang="en-US" sz="1600" dirty="0"/>
              <a:t> </a:t>
            </a:r>
            <a:r>
              <a:rPr lang="en-US" sz="1600" dirty="0" err="1"/>
              <a:t>szempontokat</a:t>
            </a:r>
            <a:r>
              <a:rPr lang="en-US" sz="1600" dirty="0"/>
              <a:t> </a:t>
            </a:r>
            <a:r>
              <a:rPr lang="en-US" sz="1600" dirty="0" err="1"/>
              <a:t>tekintve</a:t>
            </a:r>
            <a:r>
              <a:rPr lang="en-US" sz="1600" dirty="0"/>
              <a:t>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erőforrás-ütemezés</a:t>
            </a:r>
            <a:r>
              <a:rPr lang="en-US" sz="1600" dirty="0"/>
              <a:t> </a:t>
            </a:r>
            <a:r>
              <a:rPr lang="en-US" sz="1600" dirty="0" err="1"/>
              <a:t>célja</a:t>
            </a:r>
            <a:r>
              <a:rPr lang="en-US" sz="1600" dirty="0"/>
              <a:t>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</a:t>
            </a:r>
            <a:r>
              <a:rPr lang="hu-HU" sz="1600" dirty="0" err="1"/>
              <a:t>elyek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erőforrás-túlterhelés</a:t>
            </a:r>
            <a:r>
              <a:rPr lang="en-US" sz="1600" dirty="0"/>
              <a:t> </a:t>
            </a:r>
            <a:r>
              <a:rPr lang="en-US" sz="1600" dirty="0" err="1"/>
              <a:t>feloldásának</a:t>
            </a:r>
            <a:r>
              <a:rPr lang="en-US" sz="1600" dirty="0"/>
              <a:t> </a:t>
            </a:r>
            <a:r>
              <a:rPr lang="en-US" sz="1600" dirty="0" err="1"/>
              <a:t>lehetséges</a:t>
            </a:r>
            <a:r>
              <a:rPr lang="en-US" sz="1600" dirty="0"/>
              <a:t> </a:t>
            </a:r>
            <a:r>
              <a:rPr lang="en-US" sz="1600" dirty="0" err="1"/>
              <a:t>megoldásai</a:t>
            </a:r>
            <a:r>
              <a:rPr lang="en-US" sz="1600" dirty="0"/>
              <a:t>?</a:t>
            </a:r>
          </a:p>
          <a:p>
            <a:pPr marL="228600" indent="-228600" defTabSz="685800">
              <a:spcBef>
                <a:spcPts val="1000"/>
              </a:spcBef>
              <a:spcAft>
                <a:spcPts val="8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Mi a </a:t>
            </a:r>
            <a:r>
              <a:rPr lang="en-US" sz="1600" dirty="0" err="1"/>
              <a:t>kritikus</a:t>
            </a:r>
            <a:r>
              <a:rPr lang="en-US" sz="1600" dirty="0"/>
              <a:t> </a:t>
            </a:r>
            <a:r>
              <a:rPr lang="en-US" sz="1600" dirty="0" err="1"/>
              <a:t>lánc</a:t>
            </a:r>
            <a:r>
              <a:rPr lang="en-US" sz="1600" dirty="0"/>
              <a:t> </a:t>
            </a:r>
            <a:r>
              <a:rPr lang="en-US" sz="1600" dirty="0" err="1"/>
              <a:t>módszer</a:t>
            </a:r>
            <a:r>
              <a:rPr lang="en-US" sz="1600" dirty="0"/>
              <a:t>?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710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www.kepeslap.com/images/24245/lanchid2_origi.jpg">
            <a:extLst>
              <a:ext uri="{FF2B5EF4-FFF2-40B4-BE49-F238E27FC236}">
                <a16:creationId xmlns:a16="http://schemas.microsoft.com/office/drawing/2014/main" id="{7CC61933-3711-4090-8B76-403005D40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0" r="4971" b="-1"/>
          <a:stretch/>
        </p:blipFill>
        <p:spPr bwMode="auto">
          <a:xfrm>
            <a:off x="20" y="-76200"/>
            <a:ext cx="914375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743200" y="5193569"/>
            <a:ext cx="3200400" cy="955630"/>
          </a:xfrm>
          <a:solidFill>
            <a:schemeClr val="tx1">
              <a:alpha val="58000"/>
            </a:schemeClr>
          </a:solidFill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/>
            <a:r>
              <a:rPr lang="hu-HU" dirty="0">
                <a:solidFill>
                  <a:srgbClr val="FFFFFE"/>
                </a:solidFill>
              </a:rPr>
              <a:t>Sok sikert a vizsgához!</a:t>
            </a:r>
            <a:endParaRPr lang="en-US" dirty="0">
              <a:solidFill>
                <a:srgbClr val="FFFFFE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>
          <a:xfrm>
            <a:off x="8296300" y="4922730"/>
            <a:ext cx="608264" cy="5035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fld id="{753B17E5-C457-4297-BDE7-E43B45805AC6}" type="slidenum">
              <a:rPr lang="en-US">
                <a:solidFill>
                  <a:schemeClr val="accent1">
                    <a:lumMod val="60000"/>
                    <a:lumOff val="40000"/>
                  </a:schemeClr>
                </a:solidFill>
              </a:rPr>
              <a:pPr algn="l"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7180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04B663"/>
      </a:accent4>
      <a:accent5>
        <a:srgbClr val="DF8822"/>
      </a:accent5>
      <a:accent6>
        <a:srgbClr val="BC410A"/>
      </a:accent6>
      <a:hlink>
        <a:srgbClr val="5977C4"/>
      </a:hlink>
      <a:folHlink>
        <a:srgbClr val="0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Gallery">
    <a:dk1>
      <a:sysClr val="windowText" lastClr="000000"/>
    </a:dk1>
    <a:lt1>
      <a:sysClr val="window" lastClr="FFFFFF"/>
    </a:lt1>
    <a:dk2>
      <a:srgbClr val="454545"/>
    </a:dk2>
    <a:lt2>
      <a:srgbClr val="DCDCE0"/>
    </a:lt2>
    <a:accent1>
      <a:srgbClr val="415588"/>
    </a:accent1>
    <a:accent2>
      <a:srgbClr val="4294B6"/>
    </a:accent2>
    <a:accent3>
      <a:srgbClr val="087D7C"/>
    </a:accent3>
    <a:accent4>
      <a:srgbClr val="04B663"/>
    </a:accent4>
    <a:accent5>
      <a:srgbClr val="DF8822"/>
    </a:accent5>
    <a:accent6>
      <a:srgbClr val="BC410A"/>
    </a:accent6>
    <a:hlink>
      <a:srgbClr val="5977C4"/>
    </a:hlink>
    <a:folHlink>
      <a:srgbClr val="01A9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10841</TotalTime>
  <Words>682</Words>
  <Application>Microsoft Office PowerPoint</Application>
  <PresentationFormat>On-screen Show (4:3)</PresentationFormat>
  <Paragraphs>96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Century Gothic</vt:lpstr>
      <vt:lpstr>Gallery</vt:lpstr>
      <vt:lpstr>Projektirányítás az informatikában </vt:lpstr>
      <vt:lpstr>Részvizsga</vt:lpstr>
      <vt:lpstr>Részvizsga összetétele</vt:lpstr>
      <vt:lpstr>Tételsor</vt:lpstr>
      <vt:lpstr>Tételsor</vt:lpstr>
      <vt:lpstr>Tételsor</vt:lpstr>
      <vt:lpstr>Tételsor</vt:lpstr>
      <vt:lpstr>Tételsor</vt:lpstr>
      <vt:lpstr>Tételsor</vt:lpstr>
      <vt:lpstr>Tételsor</vt:lpstr>
      <vt:lpstr>Tételsor</vt:lpstr>
      <vt:lpstr>Tételsor</vt:lpstr>
      <vt:lpstr>Sok sikert a vizsgához!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Projektirányítás az informatikában </dc:title>
  <dc:creator>Eniko Ilyes</dc:creator>
  <cp:lastModifiedBy>Eniko Ilyes</cp:lastModifiedBy>
  <cp:revision>45</cp:revision>
  <dcterms:created xsi:type="dcterms:W3CDTF">2018-10-18T14:26:32Z</dcterms:created>
  <dcterms:modified xsi:type="dcterms:W3CDTF">2023-10-19T06:37:25Z</dcterms:modified>
</cp:coreProperties>
</file>