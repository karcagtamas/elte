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69" r:id="rId1"/>
  </p:sldMasterIdLst>
  <p:notesMasterIdLst>
    <p:notesMasterId r:id="rId20"/>
  </p:notesMasterIdLst>
  <p:handoutMasterIdLst>
    <p:handoutMasterId r:id="rId21"/>
  </p:handoutMasterIdLst>
  <p:sldIdLst>
    <p:sldId id="432" r:id="rId2"/>
    <p:sldId id="450" r:id="rId3"/>
    <p:sldId id="459" r:id="rId4"/>
    <p:sldId id="460" r:id="rId5"/>
    <p:sldId id="461" r:id="rId6"/>
    <p:sldId id="462" r:id="rId7"/>
    <p:sldId id="463" r:id="rId8"/>
    <p:sldId id="464" r:id="rId9"/>
    <p:sldId id="465" r:id="rId10"/>
    <p:sldId id="466" r:id="rId11"/>
    <p:sldId id="467" r:id="rId12"/>
    <p:sldId id="447" r:id="rId13"/>
    <p:sldId id="449" r:id="rId14"/>
    <p:sldId id="451" r:id="rId15"/>
    <p:sldId id="452" r:id="rId16"/>
    <p:sldId id="454" r:id="rId17"/>
    <p:sldId id="455" r:id="rId18"/>
    <p:sldId id="456" r:id="rId19"/>
  </p:sldIdLst>
  <p:sldSz cx="9144000" cy="6858000" type="screen4x3"/>
  <p:notesSz cx="6888163" cy="10018713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156" userDrawn="1">
          <p15:clr>
            <a:srgbClr val="A4A3A4"/>
          </p15:clr>
        </p15:guide>
        <p15:guide id="2" pos="2170" userDrawn="1">
          <p15:clr>
            <a:srgbClr val="A4A3A4"/>
          </p15:clr>
        </p15:guide>
      </p15:notes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Eniko Ilyes" initials="EI" lastIdx="4" clrIdx="0">
    <p:extLst>
      <p:ext uri="{19B8F6BF-5375-455C-9EA6-DF929625EA0E}">
        <p15:presenceInfo xmlns:p15="http://schemas.microsoft.com/office/powerpoint/2012/main" userId="073219e8400ee534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FFF"/>
    <a:srgbClr val="F6724E"/>
    <a:srgbClr val="49482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987" autoAdjust="0"/>
    <p:restoredTop sz="93842" autoAdjust="0"/>
  </p:normalViewPr>
  <p:slideViewPr>
    <p:cSldViewPr>
      <p:cViewPr varScale="1">
        <p:scale>
          <a:sx n="62" d="100"/>
          <a:sy n="62" d="100"/>
        </p:scale>
        <p:origin x="1384" y="5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 varScale="1">
      <p:scale>
        <a:sx n="1" d="1"/>
        <a:sy n="1" d="1"/>
      </p:scale>
      <p:origin x="0" y="0"/>
    </p:cViewPr>
  </p:sorterViewPr>
  <p:notesViewPr>
    <p:cSldViewPr>
      <p:cViewPr>
        <p:scale>
          <a:sx n="100" d="100"/>
          <a:sy n="100" d="100"/>
        </p:scale>
        <p:origin x="3115" y="-394"/>
      </p:cViewPr>
      <p:guideLst>
        <p:guide orient="horz" pos="3156"/>
        <p:guide pos="2170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handoutMaster" Target="handoutMasters/handout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commentAuthors" Target="commentAuthor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530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2" y="3"/>
            <a:ext cx="2985561" cy="50077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585" tIns="48292" rIns="96585" bIns="48292" numCol="1" anchor="t" anchorCtr="0" compatLnSpc="1">
            <a:prstTxWarp prst="textNoShape">
              <a:avLst/>
            </a:prstTxWarp>
          </a:bodyPr>
          <a:lstStyle>
            <a:lvl1pPr defTabSz="965961">
              <a:defRPr sz="13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50531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901009" y="3"/>
            <a:ext cx="2985561" cy="50077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585" tIns="48292" rIns="96585" bIns="48292" numCol="1" anchor="t" anchorCtr="0" compatLnSpc="1">
            <a:prstTxWarp prst="textNoShape">
              <a:avLst/>
            </a:prstTxWarp>
          </a:bodyPr>
          <a:lstStyle>
            <a:lvl1pPr algn="r" defTabSz="965961">
              <a:defRPr sz="13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50532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2" y="9516312"/>
            <a:ext cx="2985561" cy="50077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585" tIns="48292" rIns="96585" bIns="48292" numCol="1" anchor="b" anchorCtr="0" compatLnSpc="1">
            <a:prstTxWarp prst="textNoShape">
              <a:avLst/>
            </a:prstTxWarp>
          </a:bodyPr>
          <a:lstStyle>
            <a:lvl1pPr defTabSz="965961">
              <a:defRPr sz="13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50533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901009" y="9516312"/>
            <a:ext cx="2985561" cy="50077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585" tIns="48292" rIns="96585" bIns="48292" numCol="1" anchor="b" anchorCtr="0" compatLnSpc="1">
            <a:prstTxWarp prst="textNoShape">
              <a:avLst/>
            </a:prstTxWarp>
          </a:bodyPr>
          <a:lstStyle>
            <a:lvl1pPr algn="r" defTabSz="965961">
              <a:defRPr sz="1300"/>
            </a:lvl1pPr>
          </a:lstStyle>
          <a:p>
            <a:pPr>
              <a:defRPr/>
            </a:pPr>
            <a:fld id="{C5480E4B-253C-4CAC-8645-D1B61B51983A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6046766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62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2" y="3"/>
            <a:ext cx="2985561" cy="50077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585" tIns="48292" rIns="96585" bIns="48292" numCol="1" anchor="t" anchorCtr="0" compatLnSpc="1">
            <a:prstTxWarp prst="textNoShape">
              <a:avLst/>
            </a:prstTxWarp>
          </a:bodyPr>
          <a:lstStyle>
            <a:lvl1pPr defTabSz="965961">
              <a:defRPr sz="13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6563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901009" y="3"/>
            <a:ext cx="2985561" cy="50077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585" tIns="48292" rIns="96585" bIns="48292" numCol="1" anchor="t" anchorCtr="0" compatLnSpc="1">
            <a:prstTxWarp prst="textNoShape">
              <a:avLst/>
            </a:prstTxWarp>
          </a:bodyPr>
          <a:lstStyle>
            <a:lvl1pPr algn="r" defTabSz="965961">
              <a:defRPr sz="13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8612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941388" y="752475"/>
            <a:ext cx="5005387" cy="3756025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66565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8977" y="4758157"/>
            <a:ext cx="5510211" cy="450858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585" tIns="48292" rIns="96585" bIns="48292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6566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2" y="9516312"/>
            <a:ext cx="2985561" cy="50077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585" tIns="48292" rIns="96585" bIns="48292" numCol="1" anchor="b" anchorCtr="0" compatLnSpc="1">
            <a:prstTxWarp prst="textNoShape">
              <a:avLst/>
            </a:prstTxWarp>
          </a:bodyPr>
          <a:lstStyle>
            <a:lvl1pPr defTabSz="965961">
              <a:defRPr sz="13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6567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901009" y="9516312"/>
            <a:ext cx="2985561" cy="50077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585" tIns="48292" rIns="96585" bIns="48292" numCol="1" anchor="b" anchorCtr="0" compatLnSpc="1">
            <a:prstTxWarp prst="textNoShape">
              <a:avLst/>
            </a:prstTxWarp>
          </a:bodyPr>
          <a:lstStyle>
            <a:lvl1pPr algn="r" defTabSz="965961">
              <a:defRPr sz="1300"/>
            </a:lvl1pPr>
          </a:lstStyle>
          <a:p>
            <a:pPr>
              <a:defRPr/>
            </a:pPr>
            <a:fld id="{747A745F-031D-4129-9C3D-4CC2DEC5ABB8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4394053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itchFamily="34" charset="0"/>
        <a:ea typeface="+mn-ea"/>
        <a:cs typeface="Arial" pitchFamily="34" charset="0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itchFamily="34" charset="0"/>
        <a:ea typeface="+mn-ea"/>
        <a:cs typeface="Arial" pitchFamily="34" charset="0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itchFamily="34" charset="0"/>
        <a:ea typeface="+mn-ea"/>
        <a:cs typeface="Arial" pitchFamily="34" charset="0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itchFamily="34" charset="0"/>
        <a:ea typeface="+mn-ea"/>
        <a:cs typeface="Arial" pitchFamily="34" charset="0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itchFamily="34" charset="0"/>
        <a:ea typeface="+mn-ea"/>
        <a:cs typeface="Arial" pitchFamily="34" charset="0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3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pPr defTabSz="964682"/>
            <a:fld id="{4C522B52-1AD6-4857-B50D-D2E2420124D7}" type="slidenum">
              <a:rPr lang="en-US" smtClean="0"/>
              <a:pPr defTabSz="964682"/>
              <a:t>1</a:t>
            </a:fld>
            <a:endParaRPr lang="en-US" dirty="0"/>
          </a:p>
        </p:txBody>
      </p:sp>
      <p:sp>
        <p:nvSpPr>
          <p:cNvPr id="6963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963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361798564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25459" y="959313"/>
            <a:ext cx="5760741" cy="2571891"/>
          </a:xfrm>
        </p:spPr>
        <p:txBody>
          <a:bodyPr bIns="0" anchor="b">
            <a:normAutofit/>
          </a:bodyPr>
          <a:lstStyle>
            <a:lvl1pPr algn="l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25459" y="3531205"/>
            <a:ext cx="5760741" cy="977621"/>
          </a:xfrm>
        </p:spPr>
        <p:txBody>
          <a:bodyPr tIns="91440" bIns="91440">
            <a:normAutofit/>
          </a:bodyPr>
          <a:lstStyle>
            <a:lvl1pPr marL="0" indent="0" algn="l">
              <a:buNone/>
              <a:defRPr sz="1600" b="0">
                <a:solidFill>
                  <a:schemeClr val="tx1"/>
                </a:solidFill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125459" y="329308"/>
            <a:ext cx="3392144" cy="309201"/>
          </a:xfrm>
        </p:spPr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886200" y="131730"/>
            <a:ext cx="802005" cy="503578"/>
          </a:xfrm>
        </p:spPr>
        <p:txBody>
          <a:bodyPr/>
          <a:lstStyle/>
          <a:p>
            <a:pPr>
              <a:defRPr/>
            </a:pPr>
            <a:fld id="{E8FCCD30-07D4-41FE-9D57-5014BFD2453D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  <p:pic>
        <p:nvPicPr>
          <p:cNvPr id="16" name="Picture 15" descr="RedHashing.emf"/>
          <p:cNvPicPr>
            <a:picLocks/>
          </p:cNvPicPr>
          <p:nvPr/>
        </p:nvPicPr>
        <p:blipFill rotWithShape="1"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116" r="42454" b="36435"/>
          <a:stretch/>
        </p:blipFill>
        <p:spPr>
          <a:xfrm>
            <a:off x="1125460" y="643464"/>
            <a:ext cx="6574536" cy="155448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3423431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53B17E5-C457-4297-BDE7-E43B45805AC6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  <p:pic>
        <p:nvPicPr>
          <p:cNvPr id="15" name="Picture 14" descr="RedHashing.emf"/>
          <p:cNvPicPr>
            <a:picLocks/>
          </p:cNvPicPr>
          <p:nvPr/>
        </p:nvPicPr>
        <p:blipFill rotWithShape="1"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116" r="42454" b="36435"/>
          <a:stretch/>
        </p:blipFill>
        <p:spPr>
          <a:xfrm>
            <a:off x="1125460" y="643464"/>
            <a:ext cx="6574536" cy="155448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62246549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25459" y="1756130"/>
            <a:ext cx="5764142" cy="2050066"/>
          </a:xfrm>
        </p:spPr>
        <p:txBody>
          <a:bodyPr anchor="b">
            <a:normAutofit/>
          </a:bodyPr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25460" y="3806196"/>
            <a:ext cx="5764142" cy="1012929"/>
          </a:xfrm>
        </p:spPr>
        <p:txBody>
          <a:bodyPr tIns="91440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F535314-2042-4B54-A736-61F6AD8671CC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  <p:pic>
        <p:nvPicPr>
          <p:cNvPr id="16" name="Picture 15" descr="RedHashing.emf"/>
          <p:cNvPicPr>
            <a:picLocks/>
          </p:cNvPicPr>
          <p:nvPr/>
        </p:nvPicPr>
        <p:blipFill rotWithShape="1"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116" r="42454" b="36435"/>
          <a:stretch/>
        </p:blipFill>
        <p:spPr>
          <a:xfrm>
            <a:off x="1125460" y="643464"/>
            <a:ext cx="6574536" cy="155448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08443772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25459" y="959314"/>
            <a:ext cx="6564015" cy="104411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25459" y="2172548"/>
            <a:ext cx="3125871" cy="327894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63822" y="2172548"/>
            <a:ext cx="3125652" cy="3278947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C1BEFDA-E99A-4D41-8333-0C32F9551E6B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  <p:pic>
        <p:nvPicPr>
          <p:cNvPr id="16" name="Picture 15" descr="RedHashing.emf"/>
          <p:cNvPicPr>
            <a:picLocks/>
          </p:cNvPicPr>
          <p:nvPr/>
        </p:nvPicPr>
        <p:blipFill rotWithShape="1"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116" r="42454" b="36435"/>
          <a:stretch/>
        </p:blipFill>
        <p:spPr>
          <a:xfrm>
            <a:off x="1125460" y="643464"/>
            <a:ext cx="6574536" cy="155448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9995695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28652" y="959903"/>
            <a:ext cx="6571344" cy="10446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18131" y="2169094"/>
            <a:ext cx="3125766" cy="801943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none" baseline="0">
                <a:solidFill>
                  <a:schemeClr val="accent1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18131" y="2973815"/>
            <a:ext cx="3125766" cy="2491662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63822" y="2172548"/>
            <a:ext cx="3125652" cy="802237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none" baseline="0">
                <a:solidFill>
                  <a:schemeClr val="accent1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563822" y="2971035"/>
            <a:ext cx="3125652" cy="2484985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3F47641-861F-4814-8B79-B97FA695A939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  <p:pic>
        <p:nvPicPr>
          <p:cNvPr id="18" name="Picture 17" descr="RedHashing.emf"/>
          <p:cNvPicPr>
            <a:picLocks/>
          </p:cNvPicPr>
          <p:nvPr/>
        </p:nvPicPr>
        <p:blipFill rotWithShape="1"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116" r="42454" b="36435"/>
          <a:stretch/>
        </p:blipFill>
        <p:spPr>
          <a:xfrm>
            <a:off x="1125460" y="643464"/>
            <a:ext cx="6574536" cy="155448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414923910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A47B3DD-CEDE-49DD-AB86-4B06F198296E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  <p:pic>
        <p:nvPicPr>
          <p:cNvPr id="14" name="Picture 13" descr="RedHashing.emf"/>
          <p:cNvPicPr>
            <a:picLocks/>
          </p:cNvPicPr>
          <p:nvPr/>
        </p:nvPicPr>
        <p:blipFill rotWithShape="1"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116" r="42454" b="36435"/>
          <a:stretch/>
        </p:blipFill>
        <p:spPr>
          <a:xfrm>
            <a:off x="1125460" y="643464"/>
            <a:ext cx="6574536" cy="155448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19995257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B872202-3281-44D3-98CF-738D941B0CEC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425115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24041" y="959313"/>
            <a:ext cx="2425950" cy="2242051"/>
          </a:xfrm>
        </p:spPr>
        <p:txBody>
          <a:bodyPr anchor="b">
            <a:normAutofit/>
          </a:bodyPr>
          <a:lstStyle>
            <a:lvl1pPr algn="l"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59877" y="960890"/>
            <a:ext cx="3828178" cy="4496910"/>
          </a:xfrm>
        </p:spPr>
        <p:txBody>
          <a:bodyPr anchor="ctr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24041" y="3205492"/>
            <a:ext cx="2427369" cy="2248181"/>
          </a:xfrm>
        </p:spPr>
        <p:txBody>
          <a:bodyPr>
            <a:normAutofit/>
          </a:bodyPr>
          <a:lstStyle>
            <a:lvl1pPr marL="0" indent="0" algn="l">
              <a:buNone/>
              <a:defRPr sz="16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430A95A-CA8B-4B38-AB15-C91730F99A15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  <p:pic>
        <p:nvPicPr>
          <p:cNvPr id="16" name="Picture 15" descr="RedHashing.emf"/>
          <p:cNvPicPr>
            <a:picLocks/>
          </p:cNvPicPr>
          <p:nvPr/>
        </p:nvPicPr>
        <p:blipFill rotWithShape="1"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116" r="42454" b="36435"/>
          <a:stretch/>
        </p:blipFill>
        <p:spPr>
          <a:xfrm>
            <a:off x="1125460" y="643464"/>
            <a:ext cx="6574536" cy="155448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77462703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4996501" y="482171"/>
            <a:ext cx="3511387" cy="5149101"/>
            <a:chOff x="4996501" y="482171"/>
            <a:chExt cx="3511387" cy="5149101"/>
          </a:xfrm>
        </p:grpSpPr>
        <p:sp>
          <p:nvSpPr>
            <p:cNvPr id="14" name="Rectangle 13"/>
            <p:cNvSpPr/>
            <p:nvPr/>
          </p:nvSpPr>
          <p:spPr>
            <a:xfrm>
              <a:off x="4996501" y="482171"/>
              <a:ext cx="3511387" cy="5149101"/>
            </a:xfrm>
            <a:prstGeom prst="rect">
              <a:avLst/>
            </a:prstGeom>
            <a:gradFill>
              <a:gsLst>
                <a:gs pos="0">
                  <a:schemeClr val="tx1">
                    <a:lumMod val="85000"/>
                    <a:lumOff val="15000"/>
                  </a:schemeClr>
                </a:gs>
                <a:gs pos="100000">
                  <a:schemeClr val="tx1">
                    <a:lumMod val="95000"/>
                    <a:lumOff val="5000"/>
                  </a:schemeClr>
                </a:gs>
              </a:gsLst>
            </a:gradFill>
            <a:ln w="76200" cmpd="sng">
              <a:noFill/>
              <a:miter lim="800000"/>
            </a:ln>
            <a:effectLst>
              <a:outerShdw blurRad="127000" dist="228600" dir="4740000" sx="98000" sy="98000" algn="tl" rotWithShape="0">
                <a:srgbClr val="000000">
                  <a:alpha val="34000"/>
                </a:srgbClr>
              </a:outerShdw>
            </a:effectLst>
            <a:scene3d>
              <a:camera prst="orthographicFront"/>
              <a:lightRig rig="threePt" dir="t"/>
            </a:scene3d>
            <a:sp3d>
              <a:bevelT w="114300" prst="artDeco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Rectangle 14"/>
            <p:cNvSpPr/>
            <p:nvPr/>
          </p:nvSpPr>
          <p:spPr>
            <a:xfrm>
              <a:off x="5312152" y="812506"/>
              <a:ext cx="2883013" cy="4479361"/>
            </a:xfrm>
            <a:prstGeom prst="rect">
              <a:avLst/>
            </a:prstGeom>
            <a:gradFill>
              <a:gsLst>
                <a:gs pos="0">
                  <a:srgbClr val="DADADA"/>
                </a:gs>
                <a:gs pos="100000">
                  <a:srgbClr val="FFFFFE"/>
                </a:gs>
              </a:gsLst>
              <a:lin ang="16200000" scaled="0"/>
            </a:gradFill>
            <a:ln w="50800" cmpd="sng">
              <a:solidFill>
                <a:srgbClr val="191919"/>
              </a:solidFill>
              <a:miter lim="800000"/>
            </a:ln>
            <a:effectLst>
              <a:innerShdw blurRad="63500" dist="88900" dir="14100000">
                <a:srgbClr val="000000">
                  <a:alpha val="30000"/>
                </a:srgbClr>
              </a:innerShdw>
            </a:effectLst>
            <a:scene3d>
              <a:camera prst="orthographicFront"/>
              <a:lightRig rig="threePt" dir="t"/>
            </a:scene3d>
            <a:sp3d>
              <a:bevelT prst="relaxedInset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32077" y="1129512"/>
            <a:ext cx="3386166" cy="1918487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640128" y="1122543"/>
            <a:ext cx="2234998" cy="3866327"/>
          </a:xfrm>
          <a:solidFill>
            <a:schemeClr val="bg1">
              <a:lumMod val="85000"/>
            </a:schemeClr>
          </a:solidFill>
          <a:ln w="9525" cap="sq">
            <a:noFill/>
            <a:miter lim="800000"/>
          </a:ln>
          <a:effectLst/>
        </p:spPr>
        <p:txBody>
          <a:bodyPr anchor="t"/>
          <a:lstStyle>
            <a:lvl1pPr marL="0" indent="0" algn="ctr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31420" y="3057166"/>
            <a:ext cx="3390817" cy="2092568"/>
          </a:xfrm>
        </p:spPr>
        <p:txBody>
          <a:bodyPr>
            <a:normAutofit/>
          </a:bodyPr>
          <a:lstStyle>
            <a:lvl1pPr marL="0" indent="0" algn="l">
              <a:buNone/>
              <a:defRPr sz="18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1124592" y="5469857"/>
            <a:ext cx="3393977" cy="320123"/>
          </a:xfrm>
        </p:spPr>
        <p:txBody>
          <a:bodyPr/>
          <a:lstStyle>
            <a:lvl1pPr algn="l"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125459" y="318641"/>
            <a:ext cx="2601032" cy="320931"/>
          </a:xfrm>
        </p:spPr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3726491" y="131730"/>
            <a:ext cx="795746" cy="503578"/>
          </a:xfrm>
        </p:spPr>
        <p:txBody>
          <a:bodyPr/>
          <a:lstStyle/>
          <a:p>
            <a:pPr>
              <a:defRPr/>
            </a:pPr>
            <a:fld id="{52DF02FD-BF36-43C3-AC94-7C918C2B66F4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  <p:pic>
        <p:nvPicPr>
          <p:cNvPr id="22" name="Picture 21" descr="RedHashing.emf"/>
          <p:cNvPicPr>
            <a:picLocks/>
          </p:cNvPicPr>
          <p:nvPr/>
        </p:nvPicPr>
        <p:blipFill rotWithShape="1"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116" r="70363" b="36435"/>
          <a:stretch/>
        </p:blipFill>
        <p:spPr>
          <a:xfrm>
            <a:off x="1125460" y="643464"/>
            <a:ext cx="3392424" cy="155448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37306121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B85213F2-8DD6-4C11-ADE4-B55F8C638963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  <p:pic>
        <p:nvPicPr>
          <p:cNvPr id="15" name="Picture 14" descr="RedHashing.emf"/>
          <p:cNvPicPr>
            <a:picLocks/>
          </p:cNvPicPr>
          <p:nvPr/>
        </p:nvPicPr>
        <p:blipFill rotWithShape="1"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116" r="42454" b="36435"/>
          <a:stretch/>
        </p:blipFill>
        <p:spPr>
          <a:xfrm>
            <a:off x="1125460" y="643464"/>
            <a:ext cx="6574536" cy="155448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47175288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86447" y="796298"/>
            <a:ext cx="1103027" cy="4662565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11910" y="796298"/>
            <a:ext cx="5301095" cy="4662565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A4C950F-F20D-408C-9358-7E11B1877ADC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  <p:pic>
        <p:nvPicPr>
          <p:cNvPr id="16" name="Picture 15" descr="RedHashing.emf"/>
          <p:cNvPicPr>
            <a:picLocks/>
          </p:cNvPicPr>
          <p:nvPr/>
        </p:nvPicPr>
        <p:blipFill rotWithShape="1"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116" r="59215" b="36435"/>
          <a:stretch/>
        </p:blipFill>
        <p:spPr>
          <a:xfrm rot="5400000">
            <a:off x="5605390" y="3050294"/>
            <a:ext cx="4663440" cy="155448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40325837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38" b="-1538"/>
          <a:stretch/>
        </p:blipFill>
        <p:spPr>
          <a:xfrm>
            <a:off x="0" y="6119854"/>
            <a:ext cx="9144000" cy="742950"/>
          </a:xfrm>
          <a:prstGeom prst="rect">
            <a:avLst/>
          </a:prstGeom>
        </p:spPr>
      </p:pic>
      <p:sp>
        <p:nvSpPr>
          <p:cNvPr id="12" name="Rectangle 11"/>
          <p:cNvSpPr/>
          <p:nvPr/>
        </p:nvSpPr>
        <p:spPr>
          <a:xfrm>
            <a:off x="0" y="468769"/>
            <a:ext cx="9144000" cy="5647024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0"/>
                  <a:lumMod val="100000"/>
                </a:schemeClr>
              </a:gs>
              <a:gs pos="100000">
                <a:schemeClr val="bg2">
                  <a:lumMod val="95000"/>
                  <a:lumOff val="5000"/>
                </a:schemeClr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cxnSp>
        <p:nvCxnSpPr>
          <p:cNvPr id="13" name="Straight Connector 12"/>
          <p:cNvCxnSpPr/>
          <p:nvPr/>
        </p:nvCxnSpPr>
        <p:spPr>
          <a:xfrm>
            <a:off x="0" y="6121005"/>
            <a:ext cx="9144000" cy="0"/>
          </a:xfrm>
          <a:prstGeom prst="line">
            <a:avLst/>
          </a:prstGeom>
          <a:ln w="12700">
            <a:solidFill>
              <a:srgbClr val="000001">
                <a:alpha val="2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128684" y="956172"/>
            <a:ext cx="6571343" cy="1049235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28684" y="2167385"/>
            <a:ext cx="6571343" cy="328863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21309" y="330371"/>
            <a:ext cx="2368292" cy="3049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128684" y="329308"/>
            <a:ext cx="3388498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893728" y="131730"/>
            <a:ext cx="795746" cy="503578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r">
              <a:defRPr sz="2800">
                <a:solidFill>
                  <a:schemeClr val="accent1"/>
                </a:solidFill>
              </a:defRPr>
            </a:lvl1pPr>
          </a:lstStyle>
          <a:p>
            <a:pPr>
              <a:defRPr/>
            </a:pPr>
            <a:fld id="{CC94613A-2D11-4185-B20E-220A3974BD01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803977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70" r:id="rId1"/>
    <p:sldLayoutId id="2147483771" r:id="rId2"/>
    <p:sldLayoutId id="2147483772" r:id="rId3"/>
    <p:sldLayoutId id="2147483773" r:id="rId4"/>
    <p:sldLayoutId id="2147483774" r:id="rId5"/>
    <p:sldLayoutId id="2147483775" r:id="rId6"/>
    <p:sldLayoutId id="2147483776" r:id="rId7"/>
    <p:sldLayoutId id="2147483777" r:id="rId8"/>
    <p:sldLayoutId id="2147483778" r:id="rId9"/>
    <p:sldLayoutId id="2147483779" r:id="rId10"/>
    <p:sldLayoutId id="2147483780" r:id="rId11"/>
  </p:sldLayoutIdLst>
  <p:hf sldNum="0" hdr="0" ftr="0" dt="0"/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200" b="0" i="0" kern="1200" cap="none">
          <a:solidFill>
            <a:schemeClr val="tx1"/>
          </a:solidFill>
          <a:effectLst/>
          <a:latin typeface="+mj-lt"/>
          <a:ea typeface="+mj-ea"/>
          <a:cs typeface="+mj-cs"/>
        </a:defRPr>
      </a:lvl1pPr>
    </p:titleStyle>
    <p:bodyStyle>
      <a:lvl1pPr marL="228600" indent="-228600" algn="l" defTabSz="685800" rtl="0" eaLnBrk="1" latinLnBrk="0" hangingPunct="1">
        <a:lnSpc>
          <a:spcPct val="120000"/>
        </a:lnSpc>
        <a:spcBef>
          <a:spcPts val="10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20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685800" indent="-228600" algn="l" defTabSz="6858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6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143000" indent="-228600" algn="l" defTabSz="6858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6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600200" indent="-228600" algn="l" defTabSz="6858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4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57400" indent="-228600" algn="l" defTabSz="6858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youtube.com/watch?v=bSL5pKq7a0Y" TargetMode="External"/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5" name="Rectangle 8"/>
          <p:cNvSpPr>
            <a:spLocks noGrp="1" noChangeArrowheads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pPr eaLnBrk="1" hangingPunct="1"/>
            <a:r>
              <a:rPr lang="hu-HU" dirty="0"/>
              <a:t>Projektirányítás az informatikában 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 descr="https://www.callcentrehelper.com/images/stories/2010/2016/05/team-meeting-improve-760.jpg">
            <a:extLst>
              <a:ext uri="{FF2B5EF4-FFF2-40B4-BE49-F238E27FC236}">
                <a16:creationId xmlns:a16="http://schemas.microsoft.com/office/drawing/2014/main" id="{21F7D3D1-4366-4B82-BFB3-DCA8CCAB0A09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002" r="1" b="1"/>
          <a:stretch/>
        </p:blipFill>
        <p:spPr bwMode="auto">
          <a:xfrm>
            <a:off x="20" y="10"/>
            <a:ext cx="9143751" cy="68579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4329E93F-9AC9-4BEE-80E6-8466CDFF34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95801" y="4495801"/>
            <a:ext cx="4034626" cy="1703418"/>
          </a:xfrm>
          <a:solidFill>
            <a:schemeClr val="tx1"/>
          </a:solidFill>
        </p:spPr>
        <p:txBody>
          <a:bodyPr vert="horz" lIns="91440" tIns="45720" rIns="91440" bIns="45720" rtlCol="0" anchor="b">
            <a:normAutofit fontScale="90000"/>
          </a:bodyPr>
          <a:lstStyle/>
          <a:p>
            <a:pPr defTabSz="914400"/>
            <a:br>
              <a:rPr lang="hu-HU" sz="3000" dirty="0">
                <a:solidFill>
                  <a:srgbClr val="FFFFFE"/>
                </a:solidFill>
              </a:rPr>
            </a:br>
            <a:r>
              <a:rPr lang="hu-HU" sz="3000" dirty="0">
                <a:solidFill>
                  <a:srgbClr val="FFFFFE"/>
                </a:solidFill>
              </a:rPr>
              <a:t>Milyen egy jó vezető?</a:t>
            </a:r>
            <a:br>
              <a:rPr lang="hu-HU" sz="3000" dirty="0">
                <a:solidFill>
                  <a:srgbClr val="FFFFFE"/>
                </a:solidFill>
              </a:rPr>
            </a:br>
            <a:endParaRPr lang="en-US" sz="3000" dirty="0">
              <a:solidFill>
                <a:srgbClr val="FFFFF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9974614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B3F663-9F6E-4599-8129-8BDA9546BC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Hershey </a:t>
            </a:r>
            <a:r>
              <a:rPr lang="en-US" dirty="0" err="1"/>
              <a:t>és</a:t>
            </a:r>
            <a:r>
              <a:rPr lang="en-US" dirty="0"/>
              <a:t> Blanchard: </a:t>
            </a:r>
            <a:br>
              <a:rPr lang="en-US" dirty="0"/>
            </a:br>
            <a:r>
              <a:rPr lang="en-US" dirty="0"/>
              <a:t>a </a:t>
            </a:r>
            <a:r>
              <a:rPr lang="en-US" dirty="0" err="1"/>
              <a:t>helyzetfüggő</a:t>
            </a:r>
            <a:r>
              <a:rPr lang="en-US" dirty="0"/>
              <a:t> </a:t>
            </a:r>
            <a:r>
              <a:rPr lang="en-US" dirty="0" err="1"/>
              <a:t>vezetés</a:t>
            </a:r>
            <a:r>
              <a:rPr lang="en-US" dirty="0"/>
              <a:t> </a:t>
            </a:r>
            <a:r>
              <a:rPr lang="en-US" dirty="0" err="1"/>
              <a:t>modellje</a:t>
            </a:r>
            <a:endParaRPr lang="en-US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E2359C7E-B396-4DD3-A3F8-4202131E95C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hu-HU" dirty="0"/>
              <a:t>Mai ismereteink szerint nincs egyedül üdvözítő, mindig hatékony vezetési stílus. </a:t>
            </a:r>
            <a:endParaRPr lang="en-US" dirty="0"/>
          </a:p>
          <a:p>
            <a:r>
              <a:rPr lang="hu-HU" dirty="0"/>
              <a:t>Nem lehet pontosan megmondani, milyen személyiségű emberből lesz jó vezető. </a:t>
            </a:r>
            <a:endParaRPr lang="en-US" dirty="0"/>
          </a:p>
          <a:p>
            <a:r>
              <a:rPr lang="hu-HU" dirty="0"/>
              <a:t>Különböző feladatok más és más vezetői magatartást igényelnek</a:t>
            </a:r>
            <a:r>
              <a:rPr lang="en-US" dirty="0"/>
              <a:t>.</a:t>
            </a:r>
          </a:p>
          <a:p>
            <a:r>
              <a:rPr lang="hu-HU" dirty="0"/>
              <a:t> </a:t>
            </a:r>
            <a:r>
              <a:rPr lang="en-US" dirty="0"/>
              <a:t>E</a:t>
            </a:r>
            <a:r>
              <a:rPr lang="hu-HU" dirty="0"/>
              <a:t> szerint az lehet jó vezető tehát, aki a feladathoz igazítva választ vezetői magatartást, minél tágabb repertoárból.</a:t>
            </a:r>
            <a:endParaRPr lang="en-US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23F781D9-A2F7-47C9-9185-4AE3A4CDCD28}"/>
              </a:ext>
            </a:extLst>
          </p:cNvPr>
          <p:cNvSpPr/>
          <p:nvPr/>
        </p:nvSpPr>
        <p:spPr>
          <a:xfrm>
            <a:off x="381000" y="6324600"/>
            <a:ext cx="8153400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hu-HU" dirty="0"/>
              <a:t>Forrás: Goda Gyula - Szervezetfejlesztés és Vezetéstudomány jegyzet </a:t>
            </a:r>
          </a:p>
        </p:txBody>
      </p:sp>
    </p:spTree>
    <p:extLst>
      <p:ext uri="{BB962C8B-B14F-4D97-AF65-F5344CB8AC3E}">
        <p14:creationId xmlns:p14="http://schemas.microsoft.com/office/powerpoint/2010/main" val="215394846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B74672-5355-4755-B7B0-1883F6C47F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hu-HU" dirty="0"/>
              <a:t>A beosztottak, vezetettek, munkakészségét alapvetően befolyásoló tényezők</a:t>
            </a:r>
            <a:br>
              <a:rPr lang="hu-HU" dirty="0"/>
            </a:br>
            <a:endParaRPr lang="hu-HU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06272A3-3108-4A45-B407-5F67DF7BD3F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28684" y="2514600"/>
            <a:ext cx="6643716" cy="358140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hu-HU" dirty="0"/>
              <a:t>a) képesség</a:t>
            </a:r>
          </a:p>
          <a:p>
            <a:pPr lvl="1"/>
            <a:r>
              <a:rPr lang="hu-HU" dirty="0"/>
              <a:t>1) tudás (iskolázottság)</a:t>
            </a:r>
          </a:p>
          <a:p>
            <a:pPr lvl="1"/>
            <a:r>
              <a:rPr lang="hu-HU" dirty="0"/>
              <a:t>2) tapasztalat (szakmában töltött idő)</a:t>
            </a:r>
          </a:p>
          <a:p>
            <a:pPr lvl="1"/>
            <a:r>
              <a:rPr lang="hu-HU" dirty="0"/>
              <a:t>3) készségek (egyéni szakmai kvalitások, rátermettség)</a:t>
            </a:r>
          </a:p>
          <a:p>
            <a:pPr marL="0" indent="0">
              <a:buNone/>
            </a:pPr>
            <a:r>
              <a:rPr lang="hu-HU" dirty="0"/>
              <a:t>b) hajlandóság</a:t>
            </a:r>
          </a:p>
          <a:p>
            <a:pPr lvl="1"/>
            <a:r>
              <a:rPr lang="hu-HU" dirty="0"/>
              <a:t>1) önbizalom (meg tudom csinálni)</a:t>
            </a:r>
          </a:p>
          <a:p>
            <a:pPr lvl="1"/>
            <a:r>
              <a:rPr lang="hu-HU" dirty="0"/>
              <a:t>2) motiváció (meg akarom csinálni)</a:t>
            </a:r>
          </a:p>
          <a:p>
            <a:pPr lvl="1"/>
            <a:r>
              <a:rPr lang="hu-HU" dirty="0"/>
              <a:t>3) elkötelezettség (meg fogom csinálni)</a:t>
            </a:r>
          </a:p>
          <a:p>
            <a:endParaRPr lang="hu-HU" dirty="0"/>
          </a:p>
        </p:txBody>
      </p:sp>
    </p:spTree>
    <p:extLst>
      <p:ext uri="{BB962C8B-B14F-4D97-AF65-F5344CB8AC3E}">
        <p14:creationId xmlns:p14="http://schemas.microsoft.com/office/powerpoint/2010/main" val="170813462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D4EABF-4CE0-4A09-9729-1572F24170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 err="1"/>
              <a:t>Mayo</a:t>
            </a:r>
            <a:r>
              <a:rPr lang="hu-HU" dirty="0"/>
              <a:t> képlete a beosztott munkahelyi hatékonyságáról</a:t>
            </a:r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5D01131E-73F0-4469-8A1A-CA5FF10E5E9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609423" y="2209800"/>
            <a:ext cx="5609863" cy="3820367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7CFCBDC3-D97B-4BF8-A884-F8AEED37B204}"/>
              </a:ext>
            </a:extLst>
          </p:cNvPr>
          <p:cNvSpPr txBox="1"/>
          <p:nvPr/>
        </p:nvSpPr>
        <p:spPr>
          <a:xfrm>
            <a:off x="3200400" y="3086100"/>
            <a:ext cx="1295400" cy="72390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4D74BF6-6036-4FB9-B7D0-BA7AF53A9D37}"/>
              </a:ext>
            </a:extLst>
          </p:cNvPr>
          <p:cNvSpPr txBox="1"/>
          <p:nvPr/>
        </p:nvSpPr>
        <p:spPr>
          <a:xfrm>
            <a:off x="4953000" y="3067050"/>
            <a:ext cx="1295400" cy="72390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30EE670-5C70-402B-880C-CD198301986B}"/>
              </a:ext>
            </a:extLst>
          </p:cNvPr>
          <p:cNvSpPr txBox="1"/>
          <p:nvPr/>
        </p:nvSpPr>
        <p:spPr>
          <a:xfrm>
            <a:off x="2994061" y="4419600"/>
            <a:ext cx="1600200" cy="931784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6EC5D2A-124A-4C06-8354-A27506D5045F}"/>
              </a:ext>
            </a:extLst>
          </p:cNvPr>
          <p:cNvSpPr txBox="1"/>
          <p:nvPr/>
        </p:nvSpPr>
        <p:spPr>
          <a:xfrm>
            <a:off x="4939301" y="4648200"/>
            <a:ext cx="1295400" cy="703184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10E82B0C-D11D-4DD9-97AB-282A4631340A}"/>
              </a:ext>
            </a:extLst>
          </p:cNvPr>
          <p:cNvSpPr/>
          <p:nvPr/>
        </p:nvSpPr>
        <p:spPr>
          <a:xfrm>
            <a:off x="381000" y="6324600"/>
            <a:ext cx="8153400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hu-HU" dirty="0"/>
              <a:t>Forrás: Goda Gyula - Szervezetfejlesztés és Vezetéstudomány jegyzet </a:t>
            </a:r>
          </a:p>
        </p:txBody>
      </p:sp>
    </p:spTree>
    <p:extLst>
      <p:ext uri="{BB962C8B-B14F-4D97-AF65-F5344CB8AC3E}">
        <p14:creationId xmlns:p14="http://schemas.microsoft.com/office/powerpoint/2010/main" val="213181820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C69439-B59D-4363-AB3F-8D884D1622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/>
              <a:t>Megfelelő vezetői hozzáállás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2AA20D7-9AE4-4ED6-AB59-25131AF301B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28684" y="2167385"/>
            <a:ext cx="6571343" cy="4004815"/>
          </a:xfrm>
        </p:spPr>
        <p:txBody>
          <a:bodyPr>
            <a:normAutofit fontScale="85000" lnSpcReduction="20000"/>
          </a:bodyPr>
          <a:lstStyle/>
          <a:p>
            <a:r>
              <a:rPr lang="hu-HU" dirty="0"/>
              <a:t>a)</a:t>
            </a:r>
            <a:r>
              <a:rPr lang="hu-HU" b="1" dirty="0"/>
              <a:t>Kezdő: </a:t>
            </a:r>
            <a:r>
              <a:rPr lang="hu-HU" dirty="0"/>
              <a:t>Jól kooperáló, de nem elegendő szaktudású dolgozónál a </a:t>
            </a:r>
            <a:r>
              <a:rPr lang="hu-HU" i="1" dirty="0"/>
              <a:t>tanácsadó </a:t>
            </a:r>
            <a:r>
              <a:rPr lang="hu-HU" dirty="0"/>
              <a:t>magatartás a célravezető. </a:t>
            </a:r>
          </a:p>
          <a:p>
            <a:r>
              <a:rPr lang="hu-HU" dirty="0"/>
              <a:t>b)</a:t>
            </a:r>
            <a:r>
              <a:rPr lang="hu-HU" b="1" dirty="0"/>
              <a:t>Menő: </a:t>
            </a:r>
            <a:r>
              <a:rPr lang="hu-HU" dirty="0"/>
              <a:t>Ha megfelelő a kooperáló készség és a szaktudás is magas fokú, akkor elegendő, ha </a:t>
            </a:r>
            <a:r>
              <a:rPr lang="hu-HU" i="1" dirty="0"/>
              <a:t>világos normákkal</a:t>
            </a:r>
            <a:r>
              <a:rPr lang="hu-HU" dirty="0"/>
              <a:t>, szabályokkal állunk elő és a dolgozó ezek alapján valószínűleg jól teljesít.</a:t>
            </a:r>
          </a:p>
          <a:p>
            <a:r>
              <a:rPr lang="hu-HU" dirty="0"/>
              <a:t> c)</a:t>
            </a:r>
            <a:r>
              <a:rPr lang="hu-HU" b="1" dirty="0"/>
              <a:t>Problémás: </a:t>
            </a:r>
            <a:r>
              <a:rPr lang="hu-HU" dirty="0"/>
              <a:t>Alacsony együttműködési készség és nem megfelelő szaktudás együtt komoly gondot jelent. Itt jelentős beavatkozással </a:t>
            </a:r>
            <a:r>
              <a:rPr lang="hu-HU" i="1" dirty="0"/>
              <a:t>a probléma egészének kezelésével </a:t>
            </a:r>
            <a:r>
              <a:rPr lang="hu-HU" dirty="0"/>
              <a:t>lehet csak eredményt elérni (pl. átszervezés, oktatás, más szelekciós mechanizmus).</a:t>
            </a:r>
          </a:p>
          <a:p>
            <a:r>
              <a:rPr lang="hu-HU" dirty="0"/>
              <a:t> d)</a:t>
            </a:r>
            <a:r>
              <a:rPr lang="hu-HU" b="1" dirty="0"/>
              <a:t>Fáradt, </a:t>
            </a:r>
            <a:r>
              <a:rPr lang="hu-HU" b="1" dirty="0" err="1"/>
              <a:t>lázzadó</a:t>
            </a:r>
            <a:r>
              <a:rPr lang="hu-HU" b="1" dirty="0"/>
              <a:t>: </a:t>
            </a:r>
            <a:r>
              <a:rPr lang="hu-HU" dirty="0"/>
              <a:t>Alacsony együttműködési készség és jó szaktudás esetén ugyancsak jól körül kell járni az okokat.</a:t>
            </a:r>
            <a:endParaRPr lang="en-US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95F7FEFD-0EF0-44D2-A44D-BA881837F915}"/>
              </a:ext>
            </a:extLst>
          </p:cNvPr>
          <p:cNvSpPr/>
          <p:nvPr/>
        </p:nvSpPr>
        <p:spPr>
          <a:xfrm>
            <a:off x="381000" y="6324600"/>
            <a:ext cx="8153400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hu-HU" dirty="0"/>
              <a:t>Forrás: Goda Gyula - Szervezetfejlesztés és Vezetéstudomány jegyzet </a:t>
            </a:r>
          </a:p>
        </p:txBody>
      </p:sp>
    </p:spTree>
    <p:extLst>
      <p:ext uri="{BB962C8B-B14F-4D97-AF65-F5344CB8AC3E}">
        <p14:creationId xmlns:p14="http://schemas.microsoft.com/office/powerpoint/2010/main" val="183290326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48C0C1-6425-4D88-AA26-DFC8122B1E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/>
              <a:t>Megfelelő vezetői hozzáállás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39C3FAE-E9F1-474B-A3DC-37995932423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hu-HU" dirty="0"/>
              <a:t>A vezető felelőssége abban áll, hogy megtalálja azt a vezetői magatartást, amellyel az egyes dolgozók munkakészségét a lehető legmagasabb szinten tudja tartani.</a:t>
            </a:r>
          </a:p>
          <a:p>
            <a:r>
              <a:rPr lang="hu-HU" dirty="0"/>
              <a:t>A vezetőnek abból kell több támogatást adnia, amiből a beosztottnak kevés van. </a:t>
            </a:r>
          </a:p>
          <a:p>
            <a:r>
              <a:rPr lang="hu-HU" dirty="0"/>
              <a:t>Az együttműködés magas szinten tartásához a vezetőnek figyelembe kell vennie a beosztott motiváltságát, elkötelezettségét és önbizalmát, és ennek megfelelő emberi segítséget kell adnia.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AD831B03-010B-464E-B885-37666F6A6FBF}"/>
              </a:ext>
            </a:extLst>
          </p:cNvPr>
          <p:cNvSpPr/>
          <p:nvPr/>
        </p:nvSpPr>
        <p:spPr>
          <a:xfrm>
            <a:off x="381000" y="6324600"/>
            <a:ext cx="8153400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hu-HU" dirty="0"/>
              <a:t>Forrás: Goda Gyula - Szervezetfejlesztés és Vezetéstudomány jegyzet </a:t>
            </a:r>
          </a:p>
        </p:txBody>
      </p:sp>
    </p:spTree>
    <p:extLst>
      <p:ext uri="{BB962C8B-B14F-4D97-AF65-F5344CB8AC3E}">
        <p14:creationId xmlns:p14="http://schemas.microsoft.com/office/powerpoint/2010/main" val="125162582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468C10-9C5E-44CE-9AB7-7B8B6AC464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/>
              <a:t>Megfelelő vezetői hozzáállás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DA1329D-7182-466D-A616-0A50E212EAD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28684" y="1828800"/>
            <a:ext cx="6872316" cy="362381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hu-HU" dirty="0"/>
              <a:t>1. Irányító vezetői magatartás:</a:t>
            </a:r>
          </a:p>
          <a:p>
            <a:pPr marL="457200" lvl="1" indent="0">
              <a:buNone/>
            </a:pPr>
            <a:r>
              <a:rPr lang="hu-HU" dirty="0"/>
              <a:t> nem megfelelő képesség, megfelelő hajlandóság esetén</a:t>
            </a:r>
          </a:p>
          <a:p>
            <a:pPr marL="457200" lvl="1" indent="0">
              <a:buNone/>
            </a:pPr>
            <a:r>
              <a:rPr lang="hu-HU" dirty="0"/>
              <a:t> világos követelmények, standardok, átlátható munkafolyamatok, szoros kontroll, döntően egyirányú kommunikáció</a:t>
            </a:r>
          </a:p>
          <a:p>
            <a:pPr marL="0" indent="0">
              <a:buNone/>
            </a:pPr>
            <a:r>
              <a:rPr lang="hu-HU" dirty="0"/>
              <a:t>2. Edző vezetői magatartás: </a:t>
            </a:r>
          </a:p>
          <a:p>
            <a:pPr marL="457200" lvl="1" indent="0">
              <a:buNone/>
            </a:pPr>
            <a:r>
              <a:rPr lang="hu-HU" dirty="0"/>
              <a:t> nem megfelelő képesség, csökkent hajlandóság esetén</a:t>
            </a:r>
          </a:p>
          <a:p>
            <a:pPr marL="457200" lvl="1" indent="0">
              <a:buNone/>
            </a:pPr>
            <a:r>
              <a:rPr lang="hu-HU" dirty="0"/>
              <a:t> „Mit miért teszünk?”</a:t>
            </a:r>
          </a:p>
          <a:p>
            <a:pPr marL="457200" lvl="1" indent="0">
              <a:buNone/>
            </a:pPr>
            <a:r>
              <a:rPr lang="hu-HU" dirty="0"/>
              <a:t> több dialógus, több személyes odafigyelés, relatíve szoros kontroll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15D67BB3-0759-4430-9C4A-201BA85073FE}"/>
              </a:ext>
            </a:extLst>
          </p:cNvPr>
          <p:cNvSpPr/>
          <p:nvPr/>
        </p:nvSpPr>
        <p:spPr>
          <a:xfrm>
            <a:off x="381000" y="6324600"/>
            <a:ext cx="8153400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hu-HU" dirty="0"/>
              <a:t>Forrás: Goda Gyula - Szervezetfejlesztés és Vezetéstudomány jegyzet </a:t>
            </a:r>
          </a:p>
        </p:txBody>
      </p:sp>
    </p:spTree>
    <p:extLst>
      <p:ext uri="{BB962C8B-B14F-4D97-AF65-F5344CB8AC3E}">
        <p14:creationId xmlns:p14="http://schemas.microsoft.com/office/powerpoint/2010/main" val="10914611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468C10-9C5E-44CE-9AB7-7B8B6AC464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/>
              <a:t>Megfelelő vezetői hozzáállás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DA1329D-7182-466D-A616-0A50E212EAD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21542" y="1752600"/>
            <a:ext cx="7100916" cy="3852415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dirty="0"/>
              <a:t>3. </a:t>
            </a:r>
            <a:r>
              <a:rPr lang="hu-HU" dirty="0"/>
              <a:t>Részvételt elősegítő </a:t>
            </a:r>
            <a:r>
              <a:rPr lang="en-US" dirty="0"/>
              <a:t>t</a:t>
            </a:r>
            <a:r>
              <a:rPr lang="hu-HU" dirty="0" err="1"/>
              <a:t>ámogató</a:t>
            </a:r>
            <a:r>
              <a:rPr lang="hu-HU" dirty="0"/>
              <a:t> vezetői magatartás:</a:t>
            </a:r>
          </a:p>
          <a:p>
            <a:pPr marL="457200" lvl="1" indent="0">
              <a:buNone/>
            </a:pPr>
            <a:r>
              <a:rPr lang="hu-HU" dirty="0"/>
              <a:t> megfelelő képesség, nem megfelelő hajlandóság esetén (pl. fáradt dolgozó)</a:t>
            </a:r>
          </a:p>
          <a:p>
            <a:pPr marL="457200" lvl="1" indent="0">
              <a:buNone/>
            </a:pPr>
            <a:r>
              <a:rPr lang="hu-HU" dirty="0"/>
              <a:t> okok feltárása, megértő beszélgetés, segítés,</a:t>
            </a:r>
          </a:p>
          <a:p>
            <a:pPr marL="457200" lvl="1" indent="0">
              <a:buNone/>
            </a:pPr>
            <a:r>
              <a:rPr lang="hu-HU" dirty="0"/>
              <a:t> limitált feladat- utasítások</a:t>
            </a:r>
          </a:p>
          <a:p>
            <a:pPr marL="457200" lvl="1" indent="0">
              <a:buNone/>
            </a:pPr>
            <a:r>
              <a:rPr lang="hu-HU" dirty="0"/>
              <a:t> többirányú kommunikáció, kölcsönös érzelmi támogatás</a:t>
            </a:r>
          </a:p>
          <a:p>
            <a:pPr marL="0" indent="0">
              <a:buNone/>
            </a:pPr>
            <a:r>
              <a:rPr lang="hu-HU" dirty="0"/>
              <a:t>4. Felhatalmazó (delegáló) vezetői magatartás:</a:t>
            </a:r>
          </a:p>
          <a:p>
            <a:pPr marL="457200" lvl="1" indent="0">
              <a:buNone/>
            </a:pPr>
            <a:r>
              <a:rPr lang="hu-HU" dirty="0"/>
              <a:t> megfelelő képesség, megfelelő hajlandóság esetén</a:t>
            </a:r>
          </a:p>
          <a:p>
            <a:pPr marL="457200" lvl="1" indent="0">
              <a:buNone/>
            </a:pPr>
            <a:r>
              <a:rPr lang="hu-HU" dirty="0"/>
              <a:t> a vezető megfigyelő, méri és értékeli az eredményeket, keretek biztosít, döntési jogkört átad, a „hogyan” rábízza a munkatársra</a:t>
            </a:r>
          </a:p>
          <a:p>
            <a:pPr marL="457200" lvl="1" indent="0">
              <a:buNone/>
            </a:pPr>
            <a:r>
              <a:rPr lang="hu-HU" dirty="0"/>
              <a:t> kevés feladat- utasítás, kevés közvetlen kommunikáció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514457D6-063C-4CDA-9B86-BD411BE847EC}"/>
              </a:ext>
            </a:extLst>
          </p:cNvPr>
          <p:cNvSpPr/>
          <p:nvPr/>
        </p:nvSpPr>
        <p:spPr>
          <a:xfrm>
            <a:off x="381000" y="6324600"/>
            <a:ext cx="8153400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hu-HU" dirty="0"/>
              <a:t>Forrás: Goda Gyula - Szervezetfejlesztés és Vezetéstudomány jegyzet </a:t>
            </a:r>
          </a:p>
        </p:txBody>
      </p:sp>
    </p:spTree>
    <p:extLst>
      <p:ext uri="{BB962C8B-B14F-4D97-AF65-F5344CB8AC3E}">
        <p14:creationId xmlns:p14="http://schemas.microsoft.com/office/powerpoint/2010/main" val="5210853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B22236AC-63ED-4EB8-AFF9-A0A56B082E0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600200" y="990600"/>
            <a:ext cx="5715000" cy="5150754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1E46EEC3-95F2-48F1-9150-42776A440ED5}"/>
              </a:ext>
            </a:extLst>
          </p:cNvPr>
          <p:cNvSpPr/>
          <p:nvPr/>
        </p:nvSpPr>
        <p:spPr>
          <a:xfrm>
            <a:off x="381000" y="6324600"/>
            <a:ext cx="8153400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hu-HU" dirty="0"/>
              <a:t>Forrás: Goda Gyula - Szervezetfejlesztés és Vezetéstudomány jegyzet </a:t>
            </a:r>
          </a:p>
        </p:txBody>
      </p:sp>
    </p:spTree>
    <p:extLst>
      <p:ext uri="{BB962C8B-B14F-4D97-AF65-F5344CB8AC3E}">
        <p14:creationId xmlns:p14="http://schemas.microsoft.com/office/powerpoint/2010/main" val="379291796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04CA84-34AA-46DB-996B-E81985FE6F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K</a:t>
            </a:r>
            <a:r>
              <a:rPr lang="hu-HU" dirty="0" err="1"/>
              <a:t>önyv</a:t>
            </a:r>
            <a:r>
              <a:rPr lang="hu-HU" dirty="0"/>
              <a:t> és videó ajánló</a:t>
            </a:r>
            <a:endParaRPr lang="en-US" dirty="0"/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E21334A4-9F2D-4463-841E-5B60B8B228F8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28684" y="2005407"/>
            <a:ext cx="2466975" cy="32893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688C752B-C92D-468D-91FD-441D7B5EFB4D}"/>
              </a:ext>
            </a:extLst>
          </p:cNvPr>
          <p:cNvSpPr/>
          <p:nvPr/>
        </p:nvSpPr>
        <p:spPr>
          <a:xfrm>
            <a:off x="3886200" y="2033661"/>
            <a:ext cx="4572000" cy="646331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dirty="0">
                <a:hlinkClick r:id="rId3"/>
              </a:rPr>
              <a:t>https://www.youtube.com/watch?v=bSL5pKq7a0Y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8235535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 descr="https://www.callcentrehelper.com/images/stories/2010/2016/05/team-meeting-improve-760.jpg">
            <a:extLst>
              <a:ext uri="{FF2B5EF4-FFF2-40B4-BE49-F238E27FC236}">
                <a16:creationId xmlns:a16="http://schemas.microsoft.com/office/drawing/2014/main" id="{21F7D3D1-4366-4B82-BFB3-DCA8CCAB0A09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002" r="1" b="1"/>
          <a:stretch/>
        </p:blipFill>
        <p:spPr bwMode="auto">
          <a:xfrm>
            <a:off x="20" y="10"/>
            <a:ext cx="9143751" cy="68579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4329E93F-9AC9-4BEE-80E6-8466CDFF34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95801" y="4495801"/>
            <a:ext cx="4034626" cy="1703418"/>
          </a:xfrm>
          <a:solidFill>
            <a:schemeClr val="tx1"/>
          </a:solidFill>
        </p:spPr>
        <p:txBody>
          <a:bodyPr vert="horz" lIns="91440" tIns="45720" rIns="91440" bIns="45720" rtlCol="0" anchor="b">
            <a:normAutofit fontScale="90000"/>
          </a:bodyPr>
          <a:lstStyle/>
          <a:p>
            <a:pPr defTabSz="914400"/>
            <a:br>
              <a:rPr lang="hu-HU" sz="3000" dirty="0">
                <a:solidFill>
                  <a:srgbClr val="FFFFFE"/>
                </a:solidFill>
              </a:rPr>
            </a:br>
            <a:r>
              <a:rPr lang="hu-HU" sz="3000" dirty="0">
                <a:solidFill>
                  <a:srgbClr val="FFFFFE"/>
                </a:solidFill>
              </a:rPr>
              <a:t>Hogyan vezetnél be egy változást a szervezetbe?</a:t>
            </a:r>
            <a:br>
              <a:rPr lang="hu-HU" sz="3000" dirty="0">
                <a:solidFill>
                  <a:srgbClr val="FFFFFE"/>
                </a:solidFill>
              </a:rPr>
            </a:br>
            <a:endParaRPr lang="en-US" sz="3000" dirty="0">
              <a:solidFill>
                <a:srgbClr val="FFFFF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5518593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78C1C3-DF6A-4792-A84C-7E573FB004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/>
              <a:t>Szervezeti változás és változtatás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9029CB6-D7BD-400A-9608-D3ABFE6FCBC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28684" y="2167385"/>
            <a:ext cx="7100916" cy="3288635"/>
          </a:xfrm>
        </p:spPr>
        <p:txBody>
          <a:bodyPr>
            <a:normAutofit/>
          </a:bodyPr>
          <a:lstStyle/>
          <a:p>
            <a:r>
              <a:rPr lang="hu-HU" dirty="0"/>
              <a:t> A szervezeti válaszkészség, kihívások (lehetőségek és veszélyek) megfelelő kezelése versenyelőnyt jelent.</a:t>
            </a:r>
          </a:p>
          <a:p>
            <a:r>
              <a:rPr lang="hu-HU" dirty="0"/>
              <a:t> A szervezet változása, változtatása lehet:  </a:t>
            </a:r>
          </a:p>
          <a:p>
            <a:pPr lvl="1">
              <a:buFont typeface="Wingdings" panose="05000000000000000000" pitchFamily="2" charset="2"/>
              <a:buChar char="q"/>
            </a:pPr>
            <a:r>
              <a:rPr lang="hu-HU" dirty="0"/>
              <a:t>reagáló vagy reaktív – hosszú távon nem sikeres</a:t>
            </a:r>
          </a:p>
          <a:p>
            <a:pPr lvl="1">
              <a:buFont typeface="Wingdings" panose="05000000000000000000" pitchFamily="2" charset="2"/>
              <a:buChar char="q"/>
            </a:pPr>
            <a:r>
              <a:rPr lang="hu-HU" dirty="0"/>
              <a:t>fölkészülésen alapuló, megelőző, </a:t>
            </a:r>
            <a:r>
              <a:rPr lang="hu-HU" dirty="0" err="1"/>
              <a:t>preaktív</a:t>
            </a:r>
            <a:endParaRPr lang="hu-HU" dirty="0"/>
          </a:p>
          <a:p>
            <a:pPr lvl="1">
              <a:buFont typeface="Wingdings" panose="05000000000000000000" pitchFamily="2" charset="2"/>
              <a:buChar char="q"/>
            </a:pPr>
            <a:r>
              <a:rPr lang="hu-HU" dirty="0"/>
              <a:t>a környezetet tudatosan befolyásoló, proaktív </a:t>
            </a:r>
            <a:endParaRPr lang="en-US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1F226B99-E719-40F9-8484-53ADFBC4DF12}"/>
              </a:ext>
            </a:extLst>
          </p:cNvPr>
          <p:cNvSpPr/>
          <p:nvPr/>
        </p:nvSpPr>
        <p:spPr>
          <a:xfrm>
            <a:off x="381000" y="6324600"/>
            <a:ext cx="8153400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hu-HU" dirty="0"/>
              <a:t>Forrás: Goda Gyula - Szervezetfejlesztés és Vezetéstudomány jegyzet </a:t>
            </a:r>
          </a:p>
        </p:txBody>
      </p:sp>
    </p:spTree>
    <p:extLst>
      <p:ext uri="{BB962C8B-B14F-4D97-AF65-F5344CB8AC3E}">
        <p14:creationId xmlns:p14="http://schemas.microsoft.com/office/powerpoint/2010/main" val="216841700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DA65DB-3F46-412D-9C7A-9BCFC2EF00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hu-HU" dirty="0"/>
              <a:t>A szervezeti átalakulás modelljei</a:t>
            </a:r>
            <a:br>
              <a:rPr lang="hu-HU" dirty="0"/>
            </a:br>
            <a:r>
              <a:rPr lang="hu-HU" sz="1800" dirty="0"/>
              <a:t>Kurt </a:t>
            </a:r>
            <a:r>
              <a:rPr lang="hu-HU" sz="1800" dirty="0" err="1"/>
              <a:t>Lewin</a:t>
            </a:r>
            <a:r>
              <a:rPr lang="hu-HU" sz="1800" dirty="0"/>
              <a:t> háromfázisos modellje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17A3D84-9926-4907-B9BA-7923C89FD15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hu-HU" dirty="0"/>
              <a:t>1. felolvasztás: a meglévő attitűdök, elgondolások, értékek (stb.) </a:t>
            </a:r>
            <a:r>
              <a:rPr lang="hu-HU" b="1" dirty="0"/>
              <a:t>megkérdőjeleződnek</a:t>
            </a:r>
            <a:r>
              <a:rPr lang="hu-HU" dirty="0"/>
              <a:t>, de a </a:t>
            </a:r>
            <a:r>
              <a:rPr lang="hu-HU" b="1" dirty="0"/>
              <a:t>tehetetlenség</a:t>
            </a:r>
            <a:r>
              <a:rPr lang="hu-HU" dirty="0"/>
              <a:t> dominál; </a:t>
            </a:r>
          </a:p>
          <a:p>
            <a:r>
              <a:rPr lang="hu-HU" dirty="0"/>
              <a:t>2. mozgatás, változtatás: zavartság uralkodhat, a </a:t>
            </a:r>
            <a:r>
              <a:rPr lang="hu-HU" b="1" dirty="0"/>
              <a:t>régi értékek, eljárások (stb.) elégtelensége</a:t>
            </a:r>
            <a:r>
              <a:rPr lang="hu-HU" dirty="0"/>
              <a:t> nyilvánvaló, de az új irányok még csak </a:t>
            </a:r>
            <a:r>
              <a:rPr lang="hu-HU" b="1" dirty="0"/>
              <a:t>körvonalazódnak</a:t>
            </a:r>
            <a:r>
              <a:rPr lang="hu-HU" dirty="0"/>
              <a:t>;</a:t>
            </a:r>
          </a:p>
          <a:p>
            <a:r>
              <a:rPr lang="hu-HU" dirty="0"/>
              <a:t> 3. megszilárdulás: kialakulnak és stabilizálódnak az </a:t>
            </a:r>
            <a:r>
              <a:rPr lang="hu-HU" b="1" dirty="0"/>
              <a:t>új elgondolások részletei</a:t>
            </a:r>
            <a:r>
              <a:rPr lang="hu-HU" dirty="0"/>
              <a:t>, és a tagok komfortszintje </a:t>
            </a:r>
            <a:r>
              <a:rPr lang="hu-HU" b="1" dirty="0"/>
              <a:t>normalizálódik</a:t>
            </a:r>
            <a:r>
              <a:rPr lang="hu-HU" dirty="0"/>
              <a:t>.</a:t>
            </a:r>
            <a:endParaRPr lang="en-US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9625CB87-AC2A-49B8-800A-A2C132EECB18}"/>
              </a:ext>
            </a:extLst>
          </p:cNvPr>
          <p:cNvSpPr/>
          <p:nvPr/>
        </p:nvSpPr>
        <p:spPr>
          <a:xfrm>
            <a:off x="381000" y="6324600"/>
            <a:ext cx="8153400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hu-HU" dirty="0"/>
              <a:t>Forrás: Goda Gyula - Szervezetfejlesztés és Vezetéstudomány jegyzet </a:t>
            </a:r>
          </a:p>
        </p:txBody>
      </p:sp>
    </p:spTree>
    <p:extLst>
      <p:ext uri="{BB962C8B-B14F-4D97-AF65-F5344CB8AC3E}">
        <p14:creationId xmlns:p14="http://schemas.microsoft.com/office/powerpoint/2010/main" val="331650272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E864E4-A3E8-4F78-8F7C-D3AF22192B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/>
              <a:t>A szervezeti átalakulás modelljei</a:t>
            </a:r>
            <a:br>
              <a:rPr lang="hu-HU" dirty="0"/>
            </a:br>
            <a:r>
              <a:rPr lang="hu-HU" sz="1800" dirty="0"/>
              <a:t>John </a:t>
            </a:r>
            <a:r>
              <a:rPr lang="hu-HU" sz="1800" dirty="0" err="1"/>
              <a:t>Kotter</a:t>
            </a:r>
            <a:r>
              <a:rPr lang="hu-HU" sz="1800" dirty="0"/>
              <a:t> nyolcszakaszos elmélete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CB828DB-A988-42B5-991E-B6948C141F0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hu-HU" dirty="0"/>
              <a:t>1. </a:t>
            </a:r>
            <a:r>
              <a:rPr lang="hu-HU" b="1" dirty="0"/>
              <a:t>A változás halaszthatatlanságának érzékeltetése, elégedetlenség. </a:t>
            </a:r>
            <a:r>
              <a:rPr lang="hu-HU" dirty="0"/>
              <a:t>Akadálya lehet a szervezet önelégültsége, vagy, hogy a dolgozók megszokták a problémát, és megtanultak együtt élni vele.  </a:t>
            </a:r>
          </a:p>
          <a:p>
            <a:pPr marL="0" indent="0">
              <a:buNone/>
            </a:pPr>
            <a:r>
              <a:rPr lang="hu-HU" dirty="0"/>
              <a:t>2. </a:t>
            </a:r>
            <a:r>
              <a:rPr lang="hu-HU" b="1" dirty="0"/>
              <a:t>A változást irányító csapat létrehozása</a:t>
            </a:r>
            <a:r>
              <a:rPr lang="hu-HU" dirty="0"/>
              <a:t> és hatékony munkájukhoz szükséges (külső-belső) feltételek kialakítása. 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5A6ADFAB-F43F-4816-B1D5-F25AF3147B71}"/>
              </a:ext>
            </a:extLst>
          </p:cNvPr>
          <p:cNvSpPr/>
          <p:nvPr/>
        </p:nvSpPr>
        <p:spPr>
          <a:xfrm>
            <a:off x="381000" y="6324600"/>
            <a:ext cx="8153400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hu-HU" dirty="0"/>
              <a:t>Forrás: Goda Gyula - Szervezetfejlesztés és Vezetéstudomány jegyzet </a:t>
            </a:r>
          </a:p>
        </p:txBody>
      </p:sp>
    </p:spTree>
    <p:extLst>
      <p:ext uri="{BB962C8B-B14F-4D97-AF65-F5344CB8AC3E}">
        <p14:creationId xmlns:p14="http://schemas.microsoft.com/office/powerpoint/2010/main" val="31472447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44E3FE-D614-4AED-BBE5-9A91F31BF7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hu-HU" dirty="0"/>
              <a:t>A szervezeti átalakulás modelljei</a:t>
            </a:r>
            <a:br>
              <a:rPr lang="hu-HU" dirty="0"/>
            </a:br>
            <a:r>
              <a:rPr lang="hu-HU" sz="1800" dirty="0"/>
              <a:t>John </a:t>
            </a:r>
            <a:r>
              <a:rPr lang="hu-HU" sz="1800" dirty="0" err="1"/>
              <a:t>Kotter</a:t>
            </a:r>
            <a:r>
              <a:rPr lang="hu-HU" sz="1800" dirty="0"/>
              <a:t> nyolcszakaszos elmélete</a:t>
            </a:r>
            <a:endParaRPr lang="en-US" sz="18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65058F7-57DB-4960-8DA3-EC97CC4E06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marL="0" indent="0">
              <a:buNone/>
            </a:pPr>
            <a:r>
              <a:rPr lang="hu-HU" sz="1800" dirty="0"/>
              <a:t>3. </a:t>
            </a:r>
            <a:r>
              <a:rPr lang="hu-HU" sz="1800" b="1" dirty="0"/>
              <a:t>Jövőkép és stratégia kidolgozása </a:t>
            </a:r>
            <a:r>
              <a:rPr lang="hu-HU" sz="1800" dirty="0"/>
              <a:t>– az irányító csapat feladata. A hatékony jövőkép hat kulcsfontosságú jellemzője: </a:t>
            </a:r>
          </a:p>
          <a:p>
            <a:pPr marL="457200" lvl="1" indent="0">
              <a:buNone/>
            </a:pPr>
            <a:r>
              <a:rPr lang="hu-HU" sz="1400" dirty="0"/>
              <a:t> elképzelhető, egyszerű megfogalmazású  </a:t>
            </a:r>
          </a:p>
          <a:p>
            <a:pPr marL="457200" lvl="1" indent="0">
              <a:buNone/>
            </a:pPr>
            <a:r>
              <a:rPr lang="hu-HU" sz="1400" dirty="0"/>
              <a:t> jól kommunikálható, közérthető</a:t>
            </a:r>
          </a:p>
          <a:p>
            <a:pPr marL="457200" lvl="1" indent="0">
              <a:buNone/>
            </a:pPr>
            <a:r>
              <a:rPr lang="hu-HU" sz="1400" dirty="0"/>
              <a:t>  mindenki számára kívánatos, a tulajdonosok, a dolgozók és a vevők igényeit is figyelembe veszi. </a:t>
            </a:r>
          </a:p>
          <a:p>
            <a:pPr marL="457200" lvl="1" indent="0">
              <a:buNone/>
            </a:pPr>
            <a:r>
              <a:rPr lang="hu-HU" sz="1400" dirty="0"/>
              <a:t>  fókuszált, az eredmények jól meghatározott területét célozza meg </a:t>
            </a:r>
          </a:p>
          <a:p>
            <a:pPr marL="457200" lvl="1" indent="0">
              <a:buNone/>
            </a:pPr>
            <a:r>
              <a:rPr lang="hu-HU" sz="1400" dirty="0"/>
              <a:t> megvalósítható, reális elgondolásokat tartalmaz,  </a:t>
            </a:r>
          </a:p>
          <a:p>
            <a:pPr marL="457200" lvl="1" indent="0">
              <a:buNone/>
            </a:pPr>
            <a:r>
              <a:rPr lang="hu-HU" sz="1400" dirty="0"/>
              <a:t> a célok eléréséhez szükséges módszereket rugalmasan kezeli </a:t>
            </a:r>
          </a:p>
          <a:p>
            <a:pPr marL="0" indent="0">
              <a:buNone/>
            </a:pPr>
            <a:r>
              <a:rPr lang="hu-HU" sz="1800" dirty="0"/>
              <a:t>4. </a:t>
            </a:r>
            <a:r>
              <a:rPr lang="hu-HU" sz="1800" b="1" dirty="0"/>
              <a:t>A változás jövőképének kommunikálása.</a:t>
            </a:r>
            <a:endParaRPr lang="en-US" sz="1800" b="1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B74992FB-561F-453C-925C-05FA20CCD5BE}"/>
              </a:ext>
            </a:extLst>
          </p:cNvPr>
          <p:cNvSpPr/>
          <p:nvPr/>
        </p:nvSpPr>
        <p:spPr>
          <a:xfrm>
            <a:off x="381000" y="6324600"/>
            <a:ext cx="8153400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hu-HU" dirty="0"/>
              <a:t>Forrás: Goda Gyula - Szervezetfejlesztés és Vezetéstudomány jegyzet </a:t>
            </a:r>
          </a:p>
        </p:txBody>
      </p:sp>
    </p:spTree>
    <p:extLst>
      <p:ext uri="{BB962C8B-B14F-4D97-AF65-F5344CB8AC3E}">
        <p14:creationId xmlns:p14="http://schemas.microsoft.com/office/powerpoint/2010/main" val="274755876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44E3FE-D614-4AED-BBE5-9A91F31BF7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hu-HU" dirty="0"/>
              <a:t>A szervezeti átalakulás modelljei</a:t>
            </a:r>
            <a:br>
              <a:rPr lang="hu-HU" dirty="0"/>
            </a:br>
            <a:r>
              <a:rPr lang="hu-HU" sz="1800" dirty="0"/>
              <a:t>John </a:t>
            </a:r>
            <a:r>
              <a:rPr lang="hu-HU" sz="1800" dirty="0" err="1"/>
              <a:t>Kotter</a:t>
            </a:r>
            <a:r>
              <a:rPr lang="hu-HU" sz="1800" dirty="0"/>
              <a:t> nyolcszakaszos elmélete</a:t>
            </a:r>
            <a:endParaRPr lang="en-US" sz="18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65058F7-57DB-4960-8DA3-EC97CC4E06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marL="0" indent="0">
              <a:buNone/>
            </a:pPr>
            <a:r>
              <a:rPr lang="hu-HU" sz="1800" dirty="0"/>
              <a:t>5. </a:t>
            </a:r>
            <a:r>
              <a:rPr lang="hu-HU" sz="1800" b="1" dirty="0"/>
              <a:t>Az alkalmazottak hatalommal való felruházása </a:t>
            </a:r>
            <a:r>
              <a:rPr lang="hu-HU" sz="1800" dirty="0"/>
              <a:t>– legyenek eszközeik a változások végrehajtására </a:t>
            </a:r>
          </a:p>
          <a:p>
            <a:pPr marL="0" indent="0">
              <a:buNone/>
            </a:pPr>
            <a:r>
              <a:rPr lang="hu-HU" sz="1800" dirty="0"/>
              <a:t>6. Gyors győzelmek kivívása, az </a:t>
            </a:r>
            <a:r>
              <a:rPr lang="hu-HU" sz="1800" b="1" dirty="0"/>
              <a:t>első sikerek megünneplése</a:t>
            </a:r>
            <a:r>
              <a:rPr lang="hu-HU" sz="1800" dirty="0"/>
              <a:t> a motiváció fenntartása céljából </a:t>
            </a:r>
          </a:p>
          <a:p>
            <a:pPr marL="0" indent="0">
              <a:buNone/>
            </a:pPr>
            <a:r>
              <a:rPr lang="hu-HU" sz="1800" dirty="0"/>
              <a:t>7. Az </a:t>
            </a:r>
            <a:r>
              <a:rPr lang="hu-HU" sz="1800" b="1" dirty="0"/>
              <a:t>elért eredmények megszilárdítása</a:t>
            </a:r>
            <a:r>
              <a:rPr lang="hu-HU" sz="1800" dirty="0"/>
              <a:t>, a változás mellékágainak felszámolása  </a:t>
            </a:r>
          </a:p>
          <a:p>
            <a:pPr marL="0" indent="0">
              <a:buNone/>
            </a:pPr>
            <a:r>
              <a:rPr lang="hu-HU" sz="1800" dirty="0"/>
              <a:t>8. Az </a:t>
            </a:r>
            <a:r>
              <a:rPr lang="hu-HU" sz="1800" b="1" dirty="0"/>
              <a:t>új megoldások meggyökereztetése </a:t>
            </a:r>
            <a:r>
              <a:rPr lang="hu-HU" sz="1800" dirty="0"/>
              <a:t>a szervezeti kultúrában, a mindennapi rutinban. </a:t>
            </a:r>
            <a:endParaRPr lang="en-US" sz="1800" b="1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79C32E9F-6461-442B-B51F-FBB7DBD08193}"/>
              </a:ext>
            </a:extLst>
          </p:cNvPr>
          <p:cNvSpPr/>
          <p:nvPr/>
        </p:nvSpPr>
        <p:spPr>
          <a:xfrm>
            <a:off x="381000" y="6324600"/>
            <a:ext cx="8153400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hu-HU" dirty="0"/>
              <a:t>Forrás: Goda Gyula - Szervezetfejlesztés és Vezetéstudomány jegyzet </a:t>
            </a:r>
          </a:p>
        </p:txBody>
      </p:sp>
    </p:spTree>
    <p:extLst>
      <p:ext uri="{BB962C8B-B14F-4D97-AF65-F5344CB8AC3E}">
        <p14:creationId xmlns:p14="http://schemas.microsoft.com/office/powerpoint/2010/main" val="83848960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26CEDF-5081-4DC3-BFE7-C5C489A08D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/>
              <a:t>A változással kapcsolatos ellenállás kezelése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27D41CD-AF77-4B1D-AA6C-CEA8AAFF289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32109" y="1752600"/>
            <a:ext cx="7100916" cy="4419599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hu-HU" dirty="0"/>
              <a:t> </a:t>
            </a:r>
            <a:endParaRPr lang="hu-HU" sz="1900" dirty="0"/>
          </a:p>
          <a:p>
            <a:pPr marL="0" indent="0">
              <a:buNone/>
            </a:pPr>
            <a:r>
              <a:rPr lang="hu-HU" sz="1900" dirty="0"/>
              <a:t> manipulálás és nyílt vagy burkolt kényszerítés: gyors és olcsó módszer, de könnyen a vezető ellen fordíthatja a dolgozókat</a:t>
            </a:r>
            <a:endParaRPr lang="en-US" sz="1900" dirty="0"/>
          </a:p>
          <a:p>
            <a:pPr marL="0" indent="0">
              <a:buNone/>
            </a:pPr>
            <a:r>
              <a:rPr lang="hu-HU" sz="1900" dirty="0"/>
              <a:t> segítés, támogatás: átmeneti türelmi idő, akár anyagi ösztönzők biztosítása könnyen tanulható  </a:t>
            </a:r>
          </a:p>
          <a:p>
            <a:pPr marL="0" indent="0">
              <a:buNone/>
            </a:pPr>
            <a:r>
              <a:rPr lang="hu-HU" sz="1900" dirty="0"/>
              <a:t> képzés és kommunikáció </a:t>
            </a:r>
          </a:p>
          <a:p>
            <a:pPr marL="0" indent="0">
              <a:buNone/>
            </a:pPr>
            <a:r>
              <a:rPr lang="hu-HU" sz="1900" dirty="0"/>
              <a:t> személyre szabott ellenállás-kezelés: ha van rá mód és idő  </a:t>
            </a:r>
          </a:p>
          <a:p>
            <a:pPr marL="0" indent="0">
              <a:buNone/>
            </a:pPr>
            <a:r>
              <a:rPr lang="hu-HU" sz="1900" dirty="0"/>
              <a:t> a dolgozók bevonása a változtatási folyamatba, az új rendszer, újfajta működés megtervezésébe  </a:t>
            </a:r>
          </a:p>
          <a:p>
            <a:pPr marL="0" indent="0">
              <a:buNone/>
            </a:pPr>
            <a:endParaRPr lang="hu-HU" sz="2300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EA7D62B8-2EA9-4D17-A26D-A3740B6CE884}"/>
              </a:ext>
            </a:extLst>
          </p:cNvPr>
          <p:cNvSpPr/>
          <p:nvPr/>
        </p:nvSpPr>
        <p:spPr>
          <a:xfrm>
            <a:off x="381000" y="6324600"/>
            <a:ext cx="8153400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hu-HU" dirty="0"/>
              <a:t>Forrás: Goda Gyula - Szervezetfejlesztés és Vezetéstudomány jegyzet </a:t>
            </a:r>
          </a:p>
        </p:txBody>
      </p:sp>
    </p:spTree>
    <p:extLst>
      <p:ext uri="{BB962C8B-B14F-4D97-AF65-F5344CB8AC3E}">
        <p14:creationId xmlns:p14="http://schemas.microsoft.com/office/powerpoint/2010/main" val="750923563"/>
      </p:ext>
    </p:extLst>
  </p:cSld>
  <p:clrMapOvr>
    <a:masterClrMapping/>
  </p:clrMapOvr>
</p:sld>
</file>

<file path=ppt/theme/theme1.xml><?xml version="1.0" encoding="utf-8"?>
<a:theme xmlns:a="http://schemas.openxmlformats.org/drawingml/2006/main" name="Gallery">
  <a:themeElements>
    <a:clrScheme name="Gallery">
      <a:dk1>
        <a:sysClr val="windowText" lastClr="000000"/>
      </a:dk1>
      <a:lt1>
        <a:sysClr val="window" lastClr="FFFFFF"/>
      </a:lt1>
      <a:dk2>
        <a:srgbClr val="454545"/>
      </a:dk2>
      <a:lt2>
        <a:srgbClr val="DCDCE0"/>
      </a:lt2>
      <a:accent1>
        <a:srgbClr val="415588"/>
      </a:accent1>
      <a:accent2>
        <a:srgbClr val="4294B6"/>
      </a:accent2>
      <a:accent3>
        <a:srgbClr val="087D7C"/>
      </a:accent3>
      <a:accent4>
        <a:srgbClr val="04B663"/>
      </a:accent4>
      <a:accent5>
        <a:srgbClr val="DF8822"/>
      </a:accent5>
      <a:accent6>
        <a:srgbClr val="BC410A"/>
      </a:accent6>
      <a:hlink>
        <a:srgbClr val="5977C4"/>
      </a:hlink>
      <a:folHlink>
        <a:srgbClr val="01A9BF"/>
      </a:folHlink>
    </a:clrScheme>
    <a:fontScheme name="Gallery">
      <a:majorFont>
        <a:latin typeface="Century Gothic" panose="020B0502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Gallery">
      <a:fillStyleLst>
        <a:solidFill>
          <a:schemeClr val="phClr"/>
        </a:solidFill>
        <a:gradFill rotWithShape="1">
          <a:gsLst>
            <a:gs pos="0">
              <a:schemeClr val="phClr">
                <a:tint val="54000"/>
                <a:alpha val="100000"/>
                <a:satMod val="105000"/>
                <a:lumMod val="110000"/>
              </a:schemeClr>
            </a:gs>
            <a:gs pos="100000">
              <a:schemeClr val="phClr">
                <a:tint val="78000"/>
                <a:alpha val="92000"/>
                <a:satMod val="109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satMod val="110000"/>
                <a:lumMod val="104000"/>
              </a:schemeClr>
            </a:gs>
            <a:gs pos="69000">
              <a:schemeClr val="phClr">
                <a:shade val="88000"/>
                <a:satMod val="130000"/>
                <a:lumMod val="92000"/>
              </a:schemeClr>
            </a:gs>
            <a:gs pos="100000">
              <a:schemeClr val="phClr">
                <a:shade val="78000"/>
                <a:satMod val="130000"/>
                <a:lumMod val="92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0800" dist="50800" dir="5400000" sx="96000" sy="96000" rotWithShape="0">
              <a:srgbClr val="000000">
                <a:alpha val="48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1080000"/>
            </a:lightRig>
          </a:scene3d>
          <a:sp3d>
            <a:bevelT w="38100" h="12700" prst="softRound"/>
          </a:sp3d>
        </a:effectStyle>
      </a:effectStyleLst>
      <a:bgFillStyleLst>
        <a:solidFill>
          <a:schemeClr val="phClr"/>
        </a:solidFill>
        <a:solidFill>
          <a:schemeClr val="phClr"/>
        </a:solidFill>
        <a:gradFill rotWithShape="1">
          <a:gsLst>
            <a:gs pos="0">
              <a:schemeClr val="phClr">
                <a:tint val="94000"/>
                <a:satMod val="80000"/>
                <a:lumMod val="106000"/>
              </a:schemeClr>
            </a:gs>
            <a:gs pos="100000">
              <a:schemeClr val="phClr">
                <a:shade val="80000"/>
                <a:lumMod val="108000"/>
              </a:schemeClr>
            </a:gs>
          </a:gsLst>
          <a:path path="circle">
            <a:fillToRect l="43000" r="43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Gallery" id="{BBFCD31E-59A1-489D-B089-A3EAD7CAE12E}" vid="{E050AC27-895F-4B90-991D-A6818FC89AB6}"/>
    </a:ext>
  </a:ext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9062</TotalTime>
  <Words>1036</Words>
  <Application>Microsoft Office PowerPoint</Application>
  <PresentationFormat>On-screen Show (4:3)</PresentationFormat>
  <Paragraphs>95</Paragraphs>
  <Slides>18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3" baseType="lpstr">
      <vt:lpstr>Arial</vt:lpstr>
      <vt:lpstr>Calibri</vt:lpstr>
      <vt:lpstr>Century Gothic</vt:lpstr>
      <vt:lpstr>Wingdings</vt:lpstr>
      <vt:lpstr>Gallery</vt:lpstr>
      <vt:lpstr>Projektirányítás az informatikában </vt:lpstr>
      <vt:lpstr> Milyen egy jó vezető? </vt:lpstr>
      <vt:lpstr>Hershey és Blanchard:  a helyzetfüggő vezetés modellje</vt:lpstr>
      <vt:lpstr>A beosztottak, vezetettek, munkakészségét alapvetően befolyásoló tényezők </vt:lpstr>
      <vt:lpstr>Mayo képlete a beosztott munkahelyi hatékonyságáról</vt:lpstr>
      <vt:lpstr>Megfelelő vezetői hozzáállás</vt:lpstr>
      <vt:lpstr>Megfelelő vezetői hozzáállás</vt:lpstr>
      <vt:lpstr>Megfelelő vezetői hozzáállás</vt:lpstr>
      <vt:lpstr>Megfelelő vezetői hozzáállás</vt:lpstr>
      <vt:lpstr>PowerPoint Presentation</vt:lpstr>
      <vt:lpstr>Könyv és videó ajánló</vt:lpstr>
      <vt:lpstr> Hogyan vezetnél be egy változást a szervezetbe? </vt:lpstr>
      <vt:lpstr>Szervezeti változás és változtatás </vt:lpstr>
      <vt:lpstr>A szervezeti átalakulás modelljei Kurt Lewin háromfázisos modellje </vt:lpstr>
      <vt:lpstr>A szervezeti átalakulás modelljei John Kotter nyolcszakaszos elmélete</vt:lpstr>
      <vt:lpstr>A szervezeti átalakulás modelljei John Kotter nyolcszakaszos elmélete</vt:lpstr>
      <vt:lpstr>A szervezeti átalakulás modelljei John Kotter nyolcszakaszos elmélete</vt:lpstr>
      <vt:lpstr>A változással kapcsolatos ellenállás kezelése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Projektirányítás az informatikában</dc:title>
  <dc:creator>Eniko Ilyes</dc:creator>
  <cp:lastModifiedBy>Eniko Ilyes</cp:lastModifiedBy>
  <cp:revision>284</cp:revision>
  <dcterms:created xsi:type="dcterms:W3CDTF">2018-10-18T14:26:32Z</dcterms:created>
  <dcterms:modified xsi:type="dcterms:W3CDTF">2023-10-19T15:40:49Z</dcterms:modified>
</cp:coreProperties>
</file>