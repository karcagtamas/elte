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9" r:id="rId1"/>
  </p:sldMasterIdLst>
  <p:notesMasterIdLst>
    <p:notesMasterId r:id="rId17"/>
  </p:notesMasterIdLst>
  <p:handoutMasterIdLst>
    <p:handoutMasterId r:id="rId18"/>
  </p:handoutMasterIdLst>
  <p:sldIdLst>
    <p:sldId id="432" r:id="rId2"/>
    <p:sldId id="439" r:id="rId3"/>
    <p:sldId id="459" r:id="rId4"/>
    <p:sldId id="440" r:id="rId5"/>
    <p:sldId id="441" r:id="rId6"/>
    <p:sldId id="442" r:id="rId7"/>
    <p:sldId id="446" r:id="rId8"/>
    <p:sldId id="443" r:id="rId9"/>
    <p:sldId id="444" r:id="rId10"/>
    <p:sldId id="445" r:id="rId11"/>
    <p:sldId id="457" r:id="rId12"/>
    <p:sldId id="448" r:id="rId13"/>
    <p:sldId id="458" r:id="rId14"/>
    <p:sldId id="450" r:id="rId15"/>
    <p:sldId id="408" r:id="rId16"/>
  </p:sldIdLst>
  <p:sldSz cx="9144000" cy="6858000" type="screen4x3"/>
  <p:notesSz cx="6888163" cy="100187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niko Ilyes" initials="EI" lastIdx="4" clrIdx="0">
    <p:extLst>
      <p:ext uri="{19B8F6BF-5375-455C-9EA6-DF929625EA0E}">
        <p15:presenceInfo xmlns:p15="http://schemas.microsoft.com/office/powerpoint/2012/main" userId="073219e8400ee53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6724E"/>
    <a:srgbClr val="4948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3842" autoAdjust="0"/>
  </p:normalViewPr>
  <p:slideViewPr>
    <p:cSldViewPr>
      <p:cViewPr varScale="1">
        <p:scale>
          <a:sx n="62" d="100"/>
          <a:sy n="62" d="100"/>
        </p:scale>
        <p:origin x="1384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>
        <p:scale>
          <a:sx n="100" d="100"/>
          <a:sy n="100" d="100"/>
        </p:scale>
        <p:origin x="3115" y="-394"/>
      </p:cViewPr>
      <p:guideLst>
        <p:guide orient="horz" pos="3156"/>
        <p:guide pos="217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1009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1009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fld id="{C5480E4B-253C-4CAC-8645-D1B61B5198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676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1009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1388" y="752475"/>
            <a:ext cx="5005387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977" y="4758157"/>
            <a:ext cx="5510211" cy="4508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1009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fld id="{747A745F-031D-4129-9C3D-4CC2DEC5AB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940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4682"/>
            <a:fld id="{4C522B52-1AD6-4857-B50D-D2E2420124D7}" type="slidenum">
              <a:rPr lang="en-US" smtClean="0"/>
              <a:pPr defTabSz="964682"/>
              <a:t>1</a:t>
            </a:fld>
            <a:endParaRPr lang="en-US" dirty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17985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4682"/>
            <a:fld id="{4C522B52-1AD6-4857-B50D-D2E2420124D7}" type="slidenum">
              <a:rPr lang="en-US" smtClean="0"/>
              <a:pPr defTabSz="964682"/>
              <a:t>2</a:t>
            </a:fld>
            <a:endParaRPr lang="en-US" dirty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75192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5459" y="959313"/>
            <a:ext cx="5760741" cy="257189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5459" y="3531205"/>
            <a:ext cx="5760741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5459" y="329308"/>
            <a:ext cx="3392144" cy="309201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86200" y="131730"/>
            <a:ext cx="802005" cy="503578"/>
          </a:xfrm>
        </p:spPr>
        <p:txBody>
          <a:bodyPr/>
          <a:lstStyle/>
          <a:p>
            <a:pPr>
              <a:defRPr/>
            </a:pPr>
            <a:fld id="{E8FCCD30-07D4-41FE-9D57-5014BFD245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234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3B17E5-C457-4297-BDE7-E43B45805AC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2465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1756130"/>
            <a:ext cx="5764142" cy="2050066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5460" y="3806196"/>
            <a:ext cx="576414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535314-2042-4B54-A736-61F6AD8671C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4437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959314"/>
            <a:ext cx="6564015" cy="10441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5459" y="2172548"/>
            <a:ext cx="3125871" cy="32789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63822" y="2172548"/>
            <a:ext cx="3125652" cy="327894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1BEFDA-E99A-4D41-8333-0C32F9551E6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95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652" y="959903"/>
            <a:ext cx="6571344" cy="1044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8131" y="2169094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8131" y="2973815"/>
            <a:ext cx="3125766" cy="24916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3822" y="2172548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63822" y="2971035"/>
            <a:ext cx="3125652" cy="24849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F47641-861F-4814-8B79-B97FA695A93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9239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47B3DD-CEDE-49DD-AB86-4B06F19829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9952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872202-3281-44D3-98CF-738D941B0C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51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041" y="959313"/>
            <a:ext cx="2425950" cy="224205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9877" y="960890"/>
            <a:ext cx="3828178" cy="4496910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041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30A95A-CA8B-4B38-AB15-C91730F99A1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4627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996501" y="482171"/>
            <a:ext cx="3511387" cy="5149101"/>
            <a:chOff x="4996501" y="482171"/>
            <a:chExt cx="3511387" cy="5149101"/>
          </a:xfrm>
        </p:grpSpPr>
        <p:sp>
          <p:nvSpPr>
            <p:cNvPr id="14" name="Rectangle 13"/>
            <p:cNvSpPr/>
            <p:nvPr/>
          </p:nvSpPr>
          <p:spPr>
            <a:xfrm>
              <a:off x="4996501" y="482171"/>
              <a:ext cx="3511387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5312152" y="812506"/>
              <a:ext cx="2883013" cy="4479361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077" y="1129512"/>
            <a:ext cx="3386166" cy="191848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1420" y="3057166"/>
            <a:ext cx="3390817" cy="2092568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4592" y="5469857"/>
            <a:ext cx="3393977" cy="320123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459" y="318641"/>
            <a:ext cx="2601032" cy="320931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726491" y="131730"/>
            <a:ext cx="795746" cy="503578"/>
          </a:xfrm>
        </p:spPr>
        <p:txBody>
          <a:bodyPr/>
          <a:lstStyle/>
          <a:p>
            <a:pPr>
              <a:defRPr/>
            </a:pPr>
            <a:fld id="{52DF02FD-BF36-43C3-AC94-7C918C2B66F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70363" b="36435"/>
          <a:stretch/>
        </p:blipFill>
        <p:spPr>
          <a:xfrm>
            <a:off x="1125460" y="643464"/>
            <a:ext cx="339242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3061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5213F2-8DD6-4C11-ADE4-B55F8C63896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1752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447" y="796298"/>
            <a:ext cx="1103027" cy="466256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1910" y="796298"/>
            <a:ext cx="5301095" cy="466256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4C950F-F20D-408C-9358-7E11B1877AD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59215" b="36435"/>
          <a:stretch/>
        </p:blipFill>
        <p:spPr>
          <a:xfrm rot="5400000">
            <a:off x="5605390" y="3050294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3258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854"/>
            <a:ext cx="9144000" cy="7429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68769"/>
            <a:ext cx="9144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/>
          <p:cNvCxnSpPr/>
          <p:nvPr/>
        </p:nvCxnSpPr>
        <p:spPr>
          <a:xfrm>
            <a:off x="0" y="6121005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28684" y="956172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8684" y="2167385"/>
            <a:ext cx="6571343" cy="328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1309" y="330371"/>
            <a:ext cx="2368292" cy="304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8684" y="329308"/>
            <a:ext cx="3388498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3728" y="131730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CC94613A-2D11-4185-B20E-220A3974BD0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03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hu-HU" dirty="0"/>
              <a:t>Projektirányítás az informatikában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Grp="1" noChangeArrowheads="1"/>
          </p:cNvSpPr>
          <p:nvPr>
            <p:ph type="ctrTitle"/>
          </p:nvPr>
        </p:nvSpPr>
        <p:spPr>
          <a:xfrm>
            <a:off x="1125459" y="959313"/>
            <a:ext cx="5760741" cy="1326687"/>
          </a:xfrm>
        </p:spPr>
        <p:txBody>
          <a:bodyPr>
            <a:normAutofit/>
          </a:bodyPr>
          <a:lstStyle/>
          <a:p>
            <a:pPr eaLnBrk="1" hangingPunct="1"/>
            <a:r>
              <a:rPr lang="hu-HU" dirty="0"/>
              <a:t>Kiégés</a:t>
            </a:r>
          </a:p>
        </p:txBody>
      </p:sp>
      <p:pic>
        <p:nvPicPr>
          <p:cNvPr id="2050" name="Picture 2" descr="Related image">
            <a:extLst>
              <a:ext uri="{FF2B5EF4-FFF2-40B4-BE49-F238E27FC236}">
                <a16:creationId xmlns:a16="http://schemas.microsoft.com/office/drawing/2014/main" id="{188BC8E5-366C-446E-8FD3-81116DEF3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520" y="2514600"/>
            <a:ext cx="4170680" cy="3128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0548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callcentrehelper.com/images/stories/2010/2016/05/team-meeting-improve-760.jpg">
            <a:extLst>
              <a:ext uri="{FF2B5EF4-FFF2-40B4-BE49-F238E27FC236}">
                <a16:creationId xmlns:a16="http://schemas.microsoft.com/office/drawing/2014/main" id="{21F7D3D1-4366-4B82-BFB3-DCA8CCAB0A0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02" r="1" b="1"/>
          <a:stretch/>
        </p:blipFill>
        <p:spPr bwMode="auto">
          <a:xfrm>
            <a:off x="20" y="10"/>
            <a:ext cx="914375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29E93F-9AC9-4BEE-80E6-8466CDFF3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1" y="4495801"/>
            <a:ext cx="4034626" cy="1703418"/>
          </a:xfrm>
          <a:solidFill>
            <a:schemeClr val="tx1"/>
          </a:solidFill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br>
              <a:rPr lang="hu-HU" sz="3000" dirty="0">
                <a:solidFill>
                  <a:srgbClr val="FFFFFE"/>
                </a:solidFill>
              </a:rPr>
            </a:br>
            <a:r>
              <a:rPr lang="hu-HU" sz="3000" dirty="0">
                <a:solidFill>
                  <a:srgbClr val="FFFFFE"/>
                </a:solidFill>
              </a:rPr>
              <a:t>Mi okozza a kiégést?</a:t>
            </a:r>
            <a:br>
              <a:rPr lang="hu-HU" sz="3000" dirty="0">
                <a:solidFill>
                  <a:srgbClr val="FFFFFE"/>
                </a:solidFill>
              </a:rPr>
            </a:br>
            <a:endParaRPr lang="en-US" sz="3000" dirty="0">
              <a:solidFill>
                <a:srgbClr val="FFFF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278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253EE-AAD8-4ACA-996E-4B60F9A3E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Okok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6DBCA-82F7-4248-AE5C-34978D6C4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munka intenzívebbé válása</a:t>
            </a:r>
          </a:p>
          <a:p>
            <a:r>
              <a:rPr lang="hu-HU" dirty="0"/>
              <a:t>Folyamatos információ túlterhelés</a:t>
            </a:r>
          </a:p>
          <a:p>
            <a:r>
              <a:rPr lang="hu-HU" dirty="0"/>
              <a:t>Nem értékelik az egyes személyeket</a:t>
            </a:r>
          </a:p>
          <a:p>
            <a:r>
              <a:rPr lang="hu-HU" dirty="0"/>
              <a:t>Szétesnek a társasági kapcsolatok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81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253EE-AAD8-4ACA-996E-4B60F9A3E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Példák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6DBCA-82F7-4248-AE5C-34978D6C4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684" y="1676400"/>
            <a:ext cx="6643716" cy="4419600"/>
          </a:xfrm>
        </p:spPr>
        <p:txBody>
          <a:bodyPr>
            <a:normAutofit lnSpcReduction="10000"/>
          </a:bodyPr>
          <a:lstStyle/>
          <a:p>
            <a:r>
              <a:rPr lang="hu-HU" dirty="0"/>
              <a:t>Leépített pozíciókat nem töltik be újra</a:t>
            </a:r>
          </a:p>
          <a:p>
            <a:r>
              <a:rPr lang="hu-HU" dirty="0"/>
              <a:t>Nincsenek szabályok ünnepi</a:t>
            </a:r>
            <a:r>
              <a:rPr lang="en-US" dirty="0"/>
              <a:t>/</a:t>
            </a:r>
            <a:r>
              <a:rPr lang="en-US" dirty="0" err="1"/>
              <a:t>betegszabad</a:t>
            </a:r>
            <a:r>
              <a:rPr lang="hu-HU" dirty="0"/>
              <a:t>ág helyettesítésre</a:t>
            </a:r>
          </a:p>
          <a:p>
            <a:r>
              <a:rPr lang="hu-HU" dirty="0"/>
              <a:t>Néha a dolgozókat jobban kihasználják, mint a gépeket</a:t>
            </a:r>
          </a:p>
          <a:p>
            <a:r>
              <a:rPr lang="hu-HU" dirty="0"/>
              <a:t>Sok vezetőnek nincs ideje a vezetésre és nincs is felkészülve rá emberileg</a:t>
            </a:r>
          </a:p>
          <a:p>
            <a:r>
              <a:rPr lang="hu-HU" dirty="0"/>
              <a:t>Be nem tartott ígéretek: motiváció gyilkosai</a:t>
            </a:r>
          </a:p>
          <a:p>
            <a:r>
              <a:rPr lang="hu-HU" dirty="0"/>
              <a:t>Irreális célok kitűzése</a:t>
            </a:r>
          </a:p>
          <a:p>
            <a:r>
              <a:rPr lang="hu-HU" dirty="0"/>
              <a:t>Csökkenő teljesítményű embereket megbélyegzik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181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6DBCA-82F7-4248-AE5C-34978D6C4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902862"/>
            <a:ext cx="6705600" cy="52693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b="1" dirty="0" err="1"/>
              <a:t>Reziliencia</a:t>
            </a:r>
            <a:r>
              <a:rPr lang="hu-HU" b="1" dirty="0"/>
              <a:t> tréning: </a:t>
            </a:r>
            <a:r>
              <a:rPr lang="hu-HU" dirty="0"/>
              <a:t>A csapat pszichikai ellenálló képességének fejlesztése</a:t>
            </a:r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r>
              <a:rPr lang="hu-HU" i="1" dirty="0" err="1"/>
              <a:t>Reziliencia</a:t>
            </a:r>
            <a:r>
              <a:rPr lang="hu-HU" i="1" dirty="0"/>
              <a:t>: Anyagtudományból eredő kifejezés: mennyire képes a rendszer a kívülről vagy belülről jövő torzulást ellensúlyozni vagy elviselni anélkül, hogy </a:t>
            </a:r>
            <a:r>
              <a:rPr lang="hu-HU" i="1" dirty="0" err="1"/>
              <a:t>tönkremenne</a:t>
            </a:r>
            <a:r>
              <a:rPr lang="hu-HU" i="1" dirty="0"/>
              <a:t>. </a:t>
            </a:r>
          </a:p>
          <a:p>
            <a:endParaRPr lang="en-US" dirty="0"/>
          </a:p>
        </p:txBody>
      </p:sp>
      <p:pic>
        <p:nvPicPr>
          <p:cNvPr id="8194" name="Picture 2" descr="http://moly.hu/system/covers/big/covers_327637.jpg?1416591565">
            <a:extLst>
              <a:ext uri="{FF2B5EF4-FFF2-40B4-BE49-F238E27FC236}">
                <a16:creationId xmlns:a16="http://schemas.microsoft.com/office/drawing/2014/main" id="{43C2BF32-A386-47B7-8C4F-C260D2782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535537"/>
            <a:ext cx="2000277" cy="2932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2324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http://www.assiconsult.com/images/content/924741_11728_1_S_0_600_0_93226653/newsimage.jpg">
            <a:extLst>
              <a:ext uri="{FF2B5EF4-FFF2-40B4-BE49-F238E27FC236}">
                <a16:creationId xmlns:a16="http://schemas.microsoft.com/office/drawing/2014/main" id="{22D2B047-F1FF-4C4E-9E25-04C6F013D3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872676"/>
            <a:ext cx="6629400" cy="5112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9374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9D2AF-D1A6-4368-8A94-55096947D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104900"/>
            <a:ext cx="6553200" cy="46482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hu-HU" dirty="0"/>
              <a:t>„</a:t>
            </a:r>
            <a:r>
              <a:rPr lang="hu-HU" i="1" dirty="0"/>
              <a:t>Aki ma egészséges akar maradni, annak jól kell tudnia magát ismerni és irányítani. Meg kell értenie hogyan tölti fel a személyes </a:t>
            </a:r>
            <a:r>
              <a:rPr lang="hu-HU" i="1" dirty="0" err="1"/>
              <a:t>erőtartalékait</a:t>
            </a:r>
            <a:r>
              <a:rPr lang="hu-HU" i="1" dirty="0"/>
              <a:t>, és milyen terhelési határértékig mehet el hosszú távon.”</a:t>
            </a:r>
          </a:p>
          <a:p>
            <a:pPr marL="0" indent="0">
              <a:buNone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229826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9D2AF-D1A6-4368-8A94-55096947D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609600"/>
            <a:ext cx="7239000" cy="54102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hu-HU" i="1" dirty="0"/>
              <a:t>„Sok szempont játszik szerepet: </a:t>
            </a:r>
          </a:p>
          <a:p>
            <a:pPr marL="0" indent="0">
              <a:buNone/>
            </a:pPr>
            <a:r>
              <a:rPr lang="hu-HU" i="1" dirty="0"/>
              <a:t>önszervezés és </a:t>
            </a:r>
            <a:r>
              <a:rPr lang="hu-HU" i="1" dirty="0" err="1"/>
              <a:t>időgazdálkozdás</a:t>
            </a:r>
            <a:r>
              <a:rPr lang="hu-HU" i="1" dirty="0"/>
              <a:t>,</a:t>
            </a:r>
          </a:p>
          <a:p>
            <a:pPr marL="0" indent="0">
              <a:buNone/>
            </a:pPr>
            <a:r>
              <a:rPr lang="hu-HU" i="1" dirty="0"/>
              <a:t>hatékonyság,</a:t>
            </a:r>
          </a:p>
          <a:p>
            <a:pPr marL="0" indent="0">
              <a:buNone/>
            </a:pPr>
            <a:r>
              <a:rPr lang="hu-HU" i="1" dirty="0"/>
              <a:t> a prioritások megállapítása,</a:t>
            </a:r>
          </a:p>
          <a:p>
            <a:pPr marL="0" indent="0">
              <a:buNone/>
            </a:pPr>
            <a:r>
              <a:rPr lang="hu-HU" i="1" dirty="0"/>
              <a:t> delegálás,</a:t>
            </a:r>
          </a:p>
          <a:p>
            <a:pPr marL="0" indent="0">
              <a:buNone/>
            </a:pPr>
            <a:r>
              <a:rPr lang="hu-HU" i="1" dirty="0"/>
              <a:t> világos és érthető kommunikálás,</a:t>
            </a:r>
          </a:p>
          <a:p>
            <a:pPr marL="0" indent="0">
              <a:buNone/>
            </a:pPr>
            <a:r>
              <a:rPr lang="hu-HU" i="1" dirty="0"/>
              <a:t> döntéshozatal,</a:t>
            </a:r>
          </a:p>
          <a:p>
            <a:pPr marL="0" indent="0">
              <a:buNone/>
            </a:pPr>
            <a:r>
              <a:rPr lang="hu-HU" i="1" dirty="0"/>
              <a:t> lényeglátás,</a:t>
            </a:r>
          </a:p>
          <a:p>
            <a:pPr marL="0" indent="0">
              <a:buNone/>
            </a:pPr>
            <a:r>
              <a:rPr lang="hu-HU" i="1" dirty="0"/>
              <a:t>megbecsülés, tisztel saját maguk és mások felé ...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hu-HU" i="1" dirty="0"/>
              <a:t>Ezeknek a képességeknek a gyakorlása magas fokú </a:t>
            </a:r>
            <a:r>
              <a:rPr lang="hu-HU" b="1" i="1" dirty="0"/>
              <a:t>egyéni felelősséget </a:t>
            </a:r>
            <a:r>
              <a:rPr lang="hu-HU" i="1" dirty="0"/>
              <a:t>és </a:t>
            </a:r>
            <a:r>
              <a:rPr lang="hu-HU" b="1" i="1" dirty="0"/>
              <a:t>személyes elkötelezettség</a:t>
            </a:r>
            <a:r>
              <a:rPr lang="hu-HU" i="1" dirty="0"/>
              <a:t>et jelent. ”</a:t>
            </a:r>
          </a:p>
          <a:p>
            <a:pPr marL="0" indent="0">
              <a:buNone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65271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9D2AF-D1A6-4368-8A94-55096947D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104900"/>
            <a:ext cx="6553200" cy="46482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i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BF86E8-46B6-4E1B-9219-C8B453BDB283}"/>
              </a:ext>
            </a:extLst>
          </p:cNvPr>
          <p:cNvGraphicFramePr>
            <a:graphicFrameLocks noGrp="1"/>
          </p:cNvGraphicFramePr>
          <p:nvPr/>
        </p:nvGraphicFramePr>
        <p:xfrm>
          <a:off x="1376680" y="1905000"/>
          <a:ext cx="6096000" cy="409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37622318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098555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</a:t>
                      </a:r>
                      <a:r>
                        <a:rPr lang="hu-HU" dirty="0">
                          <a:solidFill>
                            <a:schemeClr val="tx1"/>
                          </a:solidFill>
                        </a:rPr>
                        <a:t>élek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u-HU" dirty="0">
                          <a:solidFill>
                            <a:schemeClr val="tx1"/>
                          </a:solidFill>
                        </a:rPr>
                        <a:t>Test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144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1600" dirty="0"/>
                        <a:t>Értékek</a:t>
                      </a:r>
                      <a:r>
                        <a:rPr lang="en-US" sz="1600" dirty="0"/>
                        <a:t> / </a:t>
                      </a:r>
                      <a:r>
                        <a:rPr lang="en-US" sz="1600" dirty="0" err="1"/>
                        <a:t>jelent</a:t>
                      </a:r>
                      <a:r>
                        <a:rPr lang="hu-HU" sz="1600" dirty="0"/>
                        <a:t>őség</a:t>
                      </a:r>
                    </a:p>
                    <a:p>
                      <a:r>
                        <a:rPr lang="hu-HU" sz="1600" dirty="0"/>
                        <a:t>Hit </a:t>
                      </a:r>
                      <a:r>
                        <a:rPr lang="en-US" sz="1600" dirty="0"/>
                        <a:t>/ </a:t>
                      </a:r>
                      <a:r>
                        <a:rPr lang="en-US" sz="1600" dirty="0" err="1"/>
                        <a:t>spiritualit</a:t>
                      </a:r>
                      <a:r>
                        <a:rPr lang="hu-HU" sz="1600" dirty="0"/>
                        <a:t>ás</a:t>
                      </a:r>
                    </a:p>
                    <a:p>
                      <a:r>
                        <a:rPr lang="hu-HU" sz="1600" dirty="0"/>
                        <a:t>Vágy </a:t>
                      </a:r>
                    </a:p>
                    <a:p>
                      <a:r>
                        <a:rPr lang="hu-HU" sz="1600" dirty="0"/>
                        <a:t>Kudarc</a:t>
                      </a:r>
                      <a:r>
                        <a:rPr lang="en-US" sz="1600" dirty="0"/>
                        <a:t> / </a:t>
                      </a:r>
                      <a:r>
                        <a:rPr lang="en-US" sz="1600" dirty="0" err="1"/>
                        <a:t>tehetetlens</a:t>
                      </a:r>
                      <a:r>
                        <a:rPr lang="hu-HU" sz="1600" dirty="0"/>
                        <a:t>ég, apátia</a:t>
                      </a:r>
                    </a:p>
                    <a:p>
                      <a:r>
                        <a:rPr lang="hu-HU" sz="1600" dirty="0"/>
                        <a:t>Hivatás </a:t>
                      </a:r>
                      <a:r>
                        <a:rPr lang="en-US" sz="1600" dirty="0"/>
                        <a:t>/ </a:t>
                      </a:r>
                      <a:r>
                        <a:rPr lang="en-US" sz="1600" dirty="0" err="1"/>
                        <a:t>megva</a:t>
                      </a:r>
                      <a:r>
                        <a:rPr lang="hu-HU" sz="1600" dirty="0"/>
                        <a:t>lósítás</a:t>
                      </a:r>
                    </a:p>
                    <a:p>
                      <a:r>
                        <a:rPr lang="hu-HU" sz="1600" dirty="0"/>
                        <a:t>Transzcendencia</a:t>
                      </a:r>
                    </a:p>
                    <a:p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Egészség </a:t>
                      </a:r>
                      <a:r>
                        <a:rPr lang="en-US" sz="1600" dirty="0"/>
                        <a:t>/ </a:t>
                      </a:r>
                      <a:r>
                        <a:rPr lang="en-US" sz="1600" dirty="0" err="1"/>
                        <a:t>pszichoszomatika</a:t>
                      </a:r>
                      <a:endParaRPr lang="hu-HU" sz="1600" dirty="0"/>
                    </a:p>
                    <a:p>
                      <a:r>
                        <a:rPr lang="hu-HU" sz="1600" dirty="0"/>
                        <a:t>Teljesítőképesség</a:t>
                      </a:r>
                    </a:p>
                    <a:p>
                      <a:r>
                        <a:rPr lang="hu-HU" sz="1600" dirty="0"/>
                        <a:t>Stresszkezelés</a:t>
                      </a:r>
                    </a:p>
                    <a:p>
                      <a:r>
                        <a:rPr lang="hu-HU" sz="1600" dirty="0"/>
                        <a:t>Fittség </a:t>
                      </a:r>
                      <a:r>
                        <a:rPr lang="en-US" sz="1600" dirty="0"/>
                        <a:t>/ </a:t>
                      </a:r>
                      <a:r>
                        <a:rPr lang="hu-HU" sz="1600" dirty="0"/>
                        <a:t>K</a:t>
                      </a:r>
                      <a:r>
                        <a:rPr lang="en-US" sz="1600" dirty="0" err="1"/>
                        <a:t>oordin</a:t>
                      </a:r>
                      <a:r>
                        <a:rPr lang="hu-HU" sz="1600" dirty="0" err="1"/>
                        <a:t>áció</a:t>
                      </a:r>
                      <a:endParaRPr lang="hu-HU" sz="1600" dirty="0"/>
                    </a:p>
                    <a:p>
                      <a:r>
                        <a:rPr lang="hu-HU" sz="1600" dirty="0"/>
                        <a:t>Testi öröm </a:t>
                      </a:r>
                      <a:r>
                        <a:rPr lang="en-US" sz="1600" dirty="0"/>
                        <a:t>/ </a:t>
                      </a:r>
                      <a:r>
                        <a:rPr lang="hu-HU" sz="1600" dirty="0"/>
                        <a:t>Ér</a:t>
                      </a:r>
                      <a:r>
                        <a:rPr lang="en-US" sz="1600" dirty="0"/>
                        <a:t>z</a:t>
                      </a:r>
                      <a:r>
                        <a:rPr lang="hu-HU" sz="1600" dirty="0" err="1"/>
                        <a:t>ékiség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90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1600" b="1" dirty="0"/>
                        <a:t>Értelem</a:t>
                      </a:r>
                      <a:endParaRPr lang="en-US" sz="16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u-HU" sz="1600" b="1" dirty="0"/>
                        <a:t>Érzelem</a:t>
                      </a:r>
                      <a:endParaRPr lang="en-US" sz="16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580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1600" dirty="0"/>
                        <a:t>Tanulás </a:t>
                      </a:r>
                      <a:r>
                        <a:rPr lang="en-US" sz="1600" dirty="0"/>
                        <a:t>/ </a:t>
                      </a:r>
                      <a:r>
                        <a:rPr lang="en-US" sz="1600" dirty="0" err="1"/>
                        <a:t>fejlesz</a:t>
                      </a:r>
                      <a:r>
                        <a:rPr lang="hu-HU" sz="1600" dirty="0" err="1"/>
                        <a:t>tés</a:t>
                      </a:r>
                      <a:endParaRPr lang="hu-HU" sz="1600" dirty="0"/>
                    </a:p>
                    <a:p>
                      <a:r>
                        <a:rPr lang="hu-HU" sz="1600" dirty="0"/>
                        <a:t>Állás </a:t>
                      </a:r>
                      <a:r>
                        <a:rPr lang="en-US" sz="1600" dirty="0"/>
                        <a:t>/ </a:t>
                      </a:r>
                      <a:r>
                        <a:rPr lang="en-US" sz="1600" dirty="0" err="1"/>
                        <a:t>karrier</a:t>
                      </a:r>
                      <a:endParaRPr lang="en-US" sz="1600" dirty="0"/>
                    </a:p>
                    <a:p>
                      <a:r>
                        <a:rPr lang="en-US" sz="1600" dirty="0" err="1"/>
                        <a:t>Kreativit</a:t>
                      </a:r>
                      <a:r>
                        <a:rPr lang="hu-HU" sz="1600" dirty="0"/>
                        <a:t>ás</a:t>
                      </a:r>
                      <a:r>
                        <a:rPr lang="en-US" sz="1600" dirty="0"/>
                        <a:t> / </a:t>
                      </a:r>
                      <a:r>
                        <a:rPr lang="en-US" sz="1600" dirty="0" err="1"/>
                        <a:t>kult</a:t>
                      </a:r>
                      <a:r>
                        <a:rPr lang="hu-HU" sz="1600" dirty="0" err="1"/>
                        <a:t>úra</a:t>
                      </a:r>
                      <a:endParaRPr lang="hu-HU" sz="1600" dirty="0"/>
                    </a:p>
                    <a:p>
                      <a:r>
                        <a:rPr lang="hu-HU" sz="1600" dirty="0"/>
                        <a:t>Szociális elkötelezettség</a:t>
                      </a:r>
                    </a:p>
                    <a:p>
                      <a:r>
                        <a:rPr lang="hu-HU" sz="1600" dirty="0"/>
                        <a:t>Társadalom</a:t>
                      </a:r>
                      <a:r>
                        <a:rPr lang="en-US" sz="1600" dirty="0"/>
                        <a:t> 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Kapcsolat a szülőkkel, gyerekekkel, a partnerrel,</a:t>
                      </a:r>
                    </a:p>
                    <a:p>
                      <a:r>
                        <a:rPr lang="hu-HU" sz="1600" dirty="0"/>
                        <a:t>Barátokkal illetve szakmai kapcsolatok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984627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CD278E21-50FD-4488-BD6B-D5C143090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893973"/>
            <a:ext cx="6571343" cy="1049235"/>
          </a:xfrm>
        </p:spPr>
        <p:txBody>
          <a:bodyPr/>
          <a:lstStyle/>
          <a:p>
            <a:r>
              <a:rPr lang="hu-HU" dirty="0"/>
              <a:t>Figyeljünk a teljes emberre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73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7AC7-4D7F-4111-9257-CC0492318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Kiégésre hajlamos típusok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E7D91-B44C-4826-913B-AC2BDE8D2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hu-HU" dirty="0"/>
              <a:t>Folyamatosan segít másokat (</a:t>
            </a:r>
            <a:r>
              <a:rPr lang="hu-HU" dirty="0" err="1"/>
              <a:t>helper</a:t>
            </a:r>
            <a:r>
              <a:rPr lang="hu-HU" dirty="0"/>
              <a:t> szindróma)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dirty="0"/>
              <a:t>Maximalista (minden munkát nagyon pontosan)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dirty="0"/>
              <a:t>Nem tud nemet mondani, nem húz határokat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dirty="0"/>
              <a:t>Mindent kontroll alatt tart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dirty="0"/>
              <a:t>Idealista: terhelést előnynek tünteti fel</a:t>
            </a:r>
          </a:p>
          <a:p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43498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6FE86-0B37-44BB-BB0F-42D1D200C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kiégés négy fázisa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83D36-2FE4-42D4-BABF-C967C605C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1. Túlzott aktivitás</a:t>
            </a:r>
          </a:p>
          <a:p>
            <a:pPr lvl="1"/>
            <a:r>
              <a:rPr lang="hu-HU" dirty="0"/>
              <a:t>Nélkülözhetetlenség érzése</a:t>
            </a:r>
          </a:p>
          <a:p>
            <a:pPr lvl="1"/>
            <a:r>
              <a:rPr lang="hu-HU" dirty="0"/>
              <a:t>Saját szükségletek megtagadása</a:t>
            </a:r>
          </a:p>
          <a:p>
            <a:pPr lvl="1"/>
            <a:r>
              <a:rPr lang="hu-HU" dirty="0"/>
              <a:t>Túl magas igény az elismerés iránt</a:t>
            </a:r>
          </a:p>
          <a:p>
            <a:r>
              <a:rPr lang="hu-HU" dirty="0"/>
              <a:t>2. Lecsökkent elkötelezettség</a:t>
            </a:r>
          </a:p>
          <a:p>
            <a:pPr lvl="1"/>
            <a:r>
              <a:rPr lang="hu-HU" dirty="0"/>
              <a:t>Általános eltompulás és megkeményedés érzése</a:t>
            </a:r>
          </a:p>
          <a:p>
            <a:pPr lvl="1"/>
            <a:r>
              <a:rPr lang="hu-HU" dirty="0"/>
              <a:t>Kapcsolatvesztés</a:t>
            </a:r>
          </a:p>
          <a:p>
            <a:pPr lvl="1"/>
            <a:r>
              <a:rPr lang="hu-HU" dirty="0"/>
              <a:t>Mások fokozódó hibáztatása</a:t>
            </a:r>
          </a:p>
          <a:p>
            <a:endParaRPr lang="hu-H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703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6FE86-0B37-44BB-BB0F-42D1D200C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kiégés négy fázisa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83D36-2FE4-42D4-BABF-C967C605C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/>
              <a:t>3. Teljesítőképesség tényleges romlása</a:t>
            </a:r>
          </a:p>
          <a:p>
            <a:pPr lvl="1"/>
            <a:r>
              <a:rPr lang="hu-HU" dirty="0"/>
              <a:t>Csökkenő kezdeményező képesség</a:t>
            </a:r>
          </a:p>
          <a:p>
            <a:pPr lvl="1"/>
            <a:r>
              <a:rPr lang="hu-HU" dirty="0"/>
              <a:t>Merev, fekete-fehér gondolkodás</a:t>
            </a:r>
          </a:p>
          <a:p>
            <a:pPr lvl="1"/>
            <a:r>
              <a:rPr lang="hu-HU" dirty="0"/>
              <a:t>Ellenállás bármilyen változással szemben</a:t>
            </a:r>
          </a:p>
          <a:p>
            <a:r>
              <a:rPr lang="hu-HU" dirty="0"/>
              <a:t>4. Kétségbeesés</a:t>
            </a:r>
          </a:p>
          <a:p>
            <a:pPr lvl="1"/>
            <a:r>
              <a:rPr lang="hu-HU" dirty="0"/>
              <a:t>Fokozott tehetetlenségérzet</a:t>
            </a:r>
          </a:p>
          <a:p>
            <a:pPr lvl="1"/>
            <a:r>
              <a:rPr lang="hu-HU" dirty="0"/>
              <a:t>Hiábavalóság érzése</a:t>
            </a:r>
          </a:p>
          <a:p>
            <a:pPr lvl="1"/>
            <a:r>
              <a:rPr lang="hu-HU" dirty="0"/>
              <a:t>Az „energiatároló” már nem töltődik fel</a:t>
            </a:r>
          </a:p>
          <a:p>
            <a:pPr lvl="1"/>
            <a:r>
              <a:rPr lang="hu-HU" dirty="0"/>
              <a:t>Egészségproblémák, </a:t>
            </a:r>
            <a:r>
              <a:rPr lang="hu-HU" dirty="0" err="1"/>
              <a:t>veszélyeztettség</a:t>
            </a:r>
            <a:endParaRPr lang="hu-H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552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90FBE-74B0-4429-B7AD-476D5E584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295400"/>
            <a:ext cx="7010400" cy="426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„  Egy cégben a kultúra tölti be az immunrendszer szerepét. (…) </a:t>
            </a:r>
          </a:p>
          <a:p>
            <a:pPr marL="0" indent="0">
              <a:buNone/>
            </a:pPr>
            <a:r>
              <a:rPr lang="hu-HU" dirty="0"/>
              <a:t>A kultúra egészséges működéséhet a bizalom  ugyanolyan fontos, mint az elegendő fehérje és vitamin az immunrendszer számára.”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sz="3600" b="1" dirty="0"/>
              <a:t>Te is alakíthatod a kultúrát!</a:t>
            </a:r>
          </a:p>
          <a:p>
            <a:pPr marL="0" indent="0">
              <a:buNone/>
            </a:pPr>
            <a:r>
              <a:rPr lang="hu-HU" b="1" i="1" dirty="0"/>
              <a:t>Sőt … alakítsd tudatosan! </a:t>
            </a:r>
            <a:r>
              <a:rPr lang="hu-HU" b="1" i="1" dirty="0">
                <a:sym typeface="Wingdings" panose="05000000000000000000" pitchFamily="2" charset="2"/>
              </a:rPr>
              <a:t></a:t>
            </a:r>
            <a:endParaRPr lang="hu-HU" b="1" i="1" dirty="0"/>
          </a:p>
          <a:p>
            <a:pPr marL="0" indent="0">
              <a:buNone/>
            </a:pPr>
            <a:endParaRPr lang="hu-HU" sz="3600" b="1" dirty="0"/>
          </a:p>
        </p:txBody>
      </p:sp>
    </p:spTree>
    <p:extLst>
      <p:ext uri="{BB962C8B-B14F-4D97-AF65-F5344CB8AC3E}">
        <p14:creationId xmlns:p14="http://schemas.microsoft.com/office/powerpoint/2010/main" val="30243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www.kepeslap.com/images/24245/lanchid2_origi.jpg">
            <a:extLst>
              <a:ext uri="{FF2B5EF4-FFF2-40B4-BE49-F238E27FC236}">
                <a16:creationId xmlns:a16="http://schemas.microsoft.com/office/drawing/2014/main" id="{7CC61933-3711-4090-8B76-403005D407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0" r="4971" b="-1"/>
          <a:stretch/>
        </p:blipFill>
        <p:spPr bwMode="auto">
          <a:xfrm>
            <a:off x="20" y="10"/>
            <a:ext cx="914375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743200" y="5193569"/>
            <a:ext cx="3352800" cy="955630"/>
          </a:xfrm>
          <a:solidFill>
            <a:schemeClr val="tx1">
              <a:alpha val="58000"/>
            </a:schemeClr>
          </a:solidFill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dirty="0" err="1">
                <a:solidFill>
                  <a:srgbClr val="FFFFFE"/>
                </a:solidFill>
              </a:rPr>
              <a:t>Jó</a:t>
            </a:r>
            <a:r>
              <a:rPr lang="en-US" dirty="0">
                <a:solidFill>
                  <a:srgbClr val="FFFFFE"/>
                </a:solidFill>
              </a:rPr>
              <a:t> </a:t>
            </a:r>
            <a:r>
              <a:rPr lang="en-US" dirty="0" err="1">
                <a:solidFill>
                  <a:srgbClr val="FFFFFE"/>
                </a:solidFill>
              </a:rPr>
              <a:t>éjszakát</a:t>
            </a:r>
            <a:r>
              <a:rPr lang="en-US" dirty="0">
                <a:solidFill>
                  <a:srgbClr val="FFFFFE"/>
                </a:solidFill>
              </a:rPr>
              <a:t> … </a:t>
            </a:r>
          </a:p>
        </p:txBody>
      </p:sp>
    </p:spTree>
    <p:extLst>
      <p:ext uri="{BB962C8B-B14F-4D97-AF65-F5344CB8AC3E}">
        <p14:creationId xmlns:p14="http://schemas.microsoft.com/office/powerpoint/2010/main" val="210971806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04B663"/>
      </a:accent4>
      <a:accent5>
        <a:srgbClr val="DF8822"/>
      </a:accent5>
      <a:accent6>
        <a:srgbClr val="BC410A"/>
      </a:accent6>
      <a:hlink>
        <a:srgbClr val="5977C4"/>
      </a:hlink>
      <a:folHlink>
        <a:srgbClr val="0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9055</TotalTime>
  <Words>427</Words>
  <Application>Microsoft Office PowerPoint</Application>
  <PresentationFormat>On-screen Show (4:3)</PresentationFormat>
  <Paragraphs>96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Century Gothic</vt:lpstr>
      <vt:lpstr>Wingdings</vt:lpstr>
      <vt:lpstr>Gallery</vt:lpstr>
      <vt:lpstr>Projektirányítás az informatikában </vt:lpstr>
      <vt:lpstr>Kiégés</vt:lpstr>
      <vt:lpstr> Mi okozza a kiégést? </vt:lpstr>
      <vt:lpstr>Okok</vt:lpstr>
      <vt:lpstr>Példák</vt:lpstr>
      <vt:lpstr>PowerPoint Presentation</vt:lpstr>
      <vt:lpstr>PowerPoint Presentation</vt:lpstr>
      <vt:lpstr>PowerPoint Presentation</vt:lpstr>
      <vt:lpstr>PowerPoint Presentation</vt:lpstr>
      <vt:lpstr>Figyeljünk a teljes emberre</vt:lpstr>
      <vt:lpstr>Kiégésre hajlamos típusok</vt:lpstr>
      <vt:lpstr>A kiégés négy fázisa</vt:lpstr>
      <vt:lpstr>A kiégés négy fázisa</vt:lpstr>
      <vt:lpstr>PowerPoint Presentation</vt:lpstr>
      <vt:lpstr>Jó éjszakát …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Projektirányítás az informatikában </dc:title>
  <dc:creator>Eniko Ilyes</dc:creator>
  <cp:lastModifiedBy>Eniko Ilyes</cp:lastModifiedBy>
  <cp:revision>283</cp:revision>
  <dcterms:created xsi:type="dcterms:W3CDTF">2018-10-18T14:26:32Z</dcterms:created>
  <dcterms:modified xsi:type="dcterms:W3CDTF">2023-12-07T16:48:16Z</dcterms:modified>
</cp:coreProperties>
</file>