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9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409" r:id="rId4"/>
    <p:sldId id="410" r:id="rId5"/>
    <p:sldId id="411" r:id="rId6"/>
    <p:sldId id="412" r:id="rId7"/>
    <p:sldId id="413" r:id="rId8"/>
    <p:sldId id="414" r:id="rId9"/>
    <p:sldId id="415" r:id="rId10"/>
    <p:sldId id="416" r:id="rId11"/>
    <p:sldId id="417" r:id="rId12"/>
    <p:sldId id="418" r:id="rId13"/>
    <p:sldId id="420" r:id="rId14"/>
    <p:sldId id="419" r:id="rId15"/>
    <p:sldId id="421" r:id="rId16"/>
    <p:sldId id="422" r:id="rId17"/>
    <p:sldId id="423" r:id="rId18"/>
    <p:sldId id="424" r:id="rId19"/>
    <p:sldId id="425" r:id="rId20"/>
    <p:sldId id="426" r:id="rId21"/>
    <p:sldId id="427" r:id="rId22"/>
    <p:sldId id="428" r:id="rId23"/>
    <p:sldId id="429" r:id="rId24"/>
    <p:sldId id="430" r:id="rId25"/>
    <p:sldId id="431" r:id="rId26"/>
    <p:sldId id="432" r:id="rId27"/>
    <p:sldId id="408" r:id="rId28"/>
  </p:sldIdLst>
  <p:sldSz cx="9144000" cy="6858000" type="screen4x3"/>
  <p:notesSz cx="6888163" cy="100187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niko Ilyes" initials="EI" lastIdx="1" clrIdx="0">
    <p:extLst>
      <p:ext uri="{19B8F6BF-5375-455C-9EA6-DF929625EA0E}">
        <p15:presenceInfo xmlns:p15="http://schemas.microsoft.com/office/powerpoint/2012/main" userId="073219e8400ee53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724E"/>
    <a:srgbClr val="49482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3842" autoAdjust="0"/>
  </p:normalViewPr>
  <p:slideViewPr>
    <p:cSldViewPr>
      <p:cViewPr varScale="1">
        <p:scale>
          <a:sx n="62" d="100"/>
          <a:sy n="62" d="100"/>
        </p:scale>
        <p:origin x="1416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>
        <p:scale>
          <a:sx n="100" d="100"/>
          <a:sy n="100" d="100"/>
        </p:scale>
        <p:origin x="3115" y="-394"/>
      </p:cViewPr>
      <p:guideLst>
        <p:guide orient="horz" pos="3156"/>
        <p:guide pos="217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3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>
            <a:lvl1pPr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01009" y="3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>
            <a:lvl1pPr algn="r"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9516312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b" anchorCtr="0" compatLnSpc="1">
            <a:prstTxWarp prst="textNoShape">
              <a:avLst/>
            </a:prstTxWarp>
          </a:bodyPr>
          <a:lstStyle>
            <a:lvl1pPr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1009" y="9516312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b" anchorCtr="0" compatLnSpc="1">
            <a:prstTxWarp prst="textNoShape">
              <a:avLst/>
            </a:prstTxWarp>
          </a:bodyPr>
          <a:lstStyle>
            <a:lvl1pPr algn="r" defTabSz="965961">
              <a:defRPr sz="1300"/>
            </a:lvl1pPr>
          </a:lstStyle>
          <a:p>
            <a:pPr>
              <a:defRPr/>
            </a:pPr>
            <a:fld id="{C5480E4B-253C-4CAC-8645-D1B61B5198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676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3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>
            <a:lvl1pPr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1009" y="3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>
            <a:lvl1pPr algn="r"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6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1388" y="752475"/>
            <a:ext cx="5005387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977" y="4758157"/>
            <a:ext cx="5510211" cy="4508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312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b" anchorCtr="0" compatLnSpc="1">
            <a:prstTxWarp prst="textNoShape">
              <a:avLst/>
            </a:prstTxWarp>
          </a:bodyPr>
          <a:lstStyle>
            <a:lvl1pPr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1009" y="9516312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b" anchorCtr="0" compatLnSpc="1">
            <a:prstTxWarp prst="textNoShape">
              <a:avLst/>
            </a:prstTxWarp>
          </a:bodyPr>
          <a:lstStyle>
            <a:lvl1pPr algn="r" defTabSz="965961">
              <a:defRPr sz="1300"/>
            </a:lvl1pPr>
          </a:lstStyle>
          <a:p>
            <a:pPr>
              <a:defRPr/>
            </a:pPr>
            <a:fld id="{747A745F-031D-4129-9C3D-4CC2DEC5AB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3940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4682"/>
            <a:fld id="{4C522B52-1AD6-4857-B50D-D2E2420124D7}" type="slidenum">
              <a:rPr lang="en-US" smtClean="0"/>
              <a:pPr defTabSz="964682"/>
              <a:t>1</a:t>
            </a:fld>
            <a:endParaRPr lang="en-US" dirty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17985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1D334D-EA72-46C3-B8BF-9C9CD98711CB}" type="slidenum">
              <a:rPr lang="en-US"/>
              <a:pPr/>
              <a:t>2</a:t>
            </a:fld>
            <a:endParaRPr lang="en-US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1256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1D334D-EA72-46C3-B8BF-9C9CD98711CB}" type="slidenum">
              <a:rPr lang="en-US"/>
              <a:pPr/>
              <a:t>3</a:t>
            </a:fld>
            <a:endParaRPr lang="en-US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853220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5459" y="959313"/>
            <a:ext cx="5760741" cy="257189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5459" y="3531205"/>
            <a:ext cx="5760741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5459" y="329308"/>
            <a:ext cx="3392144" cy="309201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86200" y="131730"/>
            <a:ext cx="802005" cy="503578"/>
          </a:xfrm>
        </p:spPr>
        <p:txBody>
          <a:bodyPr/>
          <a:lstStyle/>
          <a:p>
            <a:pPr>
              <a:defRPr/>
            </a:pPr>
            <a:fld id="{E8FCCD30-07D4-41FE-9D57-5014BFD2453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4234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3B17E5-C457-4297-BDE7-E43B45805AC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2465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459" y="1756130"/>
            <a:ext cx="5764142" cy="2050066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5460" y="3806196"/>
            <a:ext cx="576414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535314-2042-4B54-A736-61F6AD8671C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4437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459" y="959314"/>
            <a:ext cx="6564015" cy="10441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5459" y="2172548"/>
            <a:ext cx="3125871" cy="327894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63822" y="2172548"/>
            <a:ext cx="3125652" cy="327894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1BEFDA-E99A-4D41-8333-0C32F9551E6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95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652" y="959903"/>
            <a:ext cx="6571344" cy="1044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8131" y="2169094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8131" y="2973815"/>
            <a:ext cx="3125766" cy="24916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3822" y="2172548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63822" y="2971035"/>
            <a:ext cx="3125652" cy="24849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F47641-861F-4814-8B79-B97FA695A93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49239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47B3DD-CEDE-49DD-AB86-4B06F198296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9952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872202-3281-44D3-98CF-738D941B0C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251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041" y="959313"/>
            <a:ext cx="2425950" cy="224205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9877" y="960890"/>
            <a:ext cx="3828178" cy="4496910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041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30A95A-CA8B-4B38-AB15-C91730F99A1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4627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4996501" y="482171"/>
            <a:ext cx="3511387" cy="5149101"/>
            <a:chOff x="4996501" y="482171"/>
            <a:chExt cx="3511387" cy="5149101"/>
          </a:xfrm>
        </p:grpSpPr>
        <p:sp>
          <p:nvSpPr>
            <p:cNvPr id="14" name="Rectangle 13"/>
            <p:cNvSpPr/>
            <p:nvPr/>
          </p:nvSpPr>
          <p:spPr>
            <a:xfrm>
              <a:off x="4996501" y="482171"/>
              <a:ext cx="3511387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5312152" y="812506"/>
              <a:ext cx="2883013" cy="4479361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077" y="1129512"/>
            <a:ext cx="3386166" cy="191848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1420" y="3057166"/>
            <a:ext cx="3390817" cy="2092568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4592" y="5469857"/>
            <a:ext cx="3393977" cy="320123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459" y="318641"/>
            <a:ext cx="2601032" cy="320931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726491" y="131730"/>
            <a:ext cx="795746" cy="503578"/>
          </a:xfrm>
        </p:spPr>
        <p:txBody>
          <a:bodyPr/>
          <a:lstStyle/>
          <a:p>
            <a:pPr>
              <a:defRPr/>
            </a:pPr>
            <a:fld id="{52DF02FD-BF36-43C3-AC94-7C918C2B66F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70363" b="36435"/>
          <a:stretch/>
        </p:blipFill>
        <p:spPr>
          <a:xfrm>
            <a:off x="1125460" y="643464"/>
            <a:ext cx="339242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3061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5213F2-8DD6-4C11-ADE4-B55F8C63896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1752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6447" y="796298"/>
            <a:ext cx="1103027" cy="466256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1910" y="796298"/>
            <a:ext cx="5301095" cy="466256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4C950F-F20D-408C-9358-7E11B1877AD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59215" b="36435"/>
          <a:stretch/>
        </p:blipFill>
        <p:spPr>
          <a:xfrm rot="5400000">
            <a:off x="5605390" y="3050294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3258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854"/>
            <a:ext cx="9144000" cy="7429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468769"/>
            <a:ext cx="9144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/>
          <p:cNvCxnSpPr/>
          <p:nvPr/>
        </p:nvCxnSpPr>
        <p:spPr>
          <a:xfrm>
            <a:off x="0" y="6121005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28684" y="956172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8684" y="2167385"/>
            <a:ext cx="6571343" cy="328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21309" y="330371"/>
            <a:ext cx="2368292" cy="3049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8684" y="329308"/>
            <a:ext cx="3388498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3728" y="131730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CC94613A-2D11-4185-B20E-220A3974BD0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03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hu-HU" dirty="0"/>
              <a:t>Projektirányítás az informatikában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C1132491-0C49-4D37-B9F2-4FC5763E8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Kérdőív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F9C177D-55DC-4CA4-ABF7-2AA41B0290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4199277"/>
              </p:ext>
            </p:extLst>
          </p:nvPr>
        </p:nvGraphicFramePr>
        <p:xfrm>
          <a:off x="1128684" y="1640533"/>
          <a:ext cx="6491316" cy="41331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85613">
                  <a:extLst>
                    <a:ext uri="{9D8B030D-6E8A-4147-A177-3AD203B41FA5}">
                      <a16:colId xmlns:a16="http://schemas.microsoft.com/office/drawing/2014/main" val="2695872520"/>
                    </a:ext>
                  </a:extLst>
                </a:gridCol>
                <a:gridCol w="795215">
                  <a:extLst>
                    <a:ext uri="{9D8B030D-6E8A-4147-A177-3AD203B41FA5}">
                      <a16:colId xmlns:a16="http://schemas.microsoft.com/office/drawing/2014/main" val="3043121693"/>
                    </a:ext>
                  </a:extLst>
                </a:gridCol>
                <a:gridCol w="2000287">
                  <a:extLst>
                    <a:ext uri="{9D8B030D-6E8A-4147-A177-3AD203B41FA5}">
                      <a16:colId xmlns:a16="http://schemas.microsoft.com/office/drawing/2014/main" val="3757538627"/>
                    </a:ext>
                  </a:extLst>
                </a:gridCol>
                <a:gridCol w="665189">
                  <a:extLst>
                    <a:ext uri="{9D8B030D-6E8A-4147-A177-3AD203B41FA5}">
                      <a16:colId xmlns:a16="http://schemas.microsoft.com/office/drawing/2014/main" val="3773548827"/>
                    </a:ext>
                  </a:extLst>
                </a:gridCol>
                <a:gridCol w="2245012">
                  <a:extLst>
                    <a:ext uri="{9D8B030D-6E8A-4147-A177-3AD203B41FA5}">
                      <a16:colId xmlns:a16="http://schemas.microsoft.com/office/drawing/2014/main" val="3759746462"/>
                    </a:ext>
                  </a:extLst>
                </a:gridCol>
              </a:tblGrid>
              <a:tr h="1162825">
                <a:tc gridSpan="5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</a:rPr>
                        <a:t>Tekintse át az alábbi 12 tulajdonságpárt, majd válassza ki, hogy az egyes párok tagjai közül melyik jellemző inkább Önre?</a:t>
                      </a:r>
                      <a:endParaRPr lang="en-US" sz="16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5734"/>
                  </a:ext>
                </a:extLst>
              </a:tr>
              <a:tr h="23832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1.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A: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</a:rPr>
                        <a:t>önérvényesítő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B: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vidám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extLst>
                  <a:ext uri="{0D108BD9-81ED-4DB2-BD59-A6C34878D82A}">
                    <a16:rowId xmlns:a16="http://schemas.microsoft.com/office/drawing/2014/main" val="1276637235"/>
                  </a:ext>
                </a:extLst>
              </a:tr>
              <a:tr h="23832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2.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A: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</a:rPr>
                        <a:t>megnyerő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B: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lojális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extLst>
                  <a:ext uri="{0D108BD9-81ED-4DB2-BD59-A6C34878D82A}">
                    <a16:rowId xmlns:a16="http://schemas.microsoft.com/office/drawing/2014/main" val="3870591904"/>
                  </a:ext>
                </a:extLst>
              </a:tr>
              <a:tr h="23832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3.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A: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tapintatos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B: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kritikus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extLst>
                  <a:ext uri="{0D108BD9-81ED-4DB2-BD59-A6C34878D82A}">
                    <a16:rowId xmlns:a16="http://schemas.microsoft.com/office/drawing/2014/main" val="3598866597"/>
                  </a:ext>
                </a:extLst>
              </a:tr>
              <a:tr h="23832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4.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A: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diplomatikus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B: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</a:rPr>
                        <a:t>célorientált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extLst>
                  <a:ext uri="{0D108BD9-81ED-4DB2-BD59-A6C34878D82A}">
                    <a16:rowId xmlns:a16="http://schemas.microsoft.com/office/drawing/2014/main" val="3957560530"/>
                  </a:ext>
                </a:extLst>
              </a:tr>
              <a:tr h="23832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5.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A: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határozott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B: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figyelmes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extLst>
                  <a:ext uri="{0D108BD9-81ED-4DB2-BD59-A6C34878D82A}">
                    <a16:rowId xmlns:a16="http://schemas.microsoft.com/office/drawing/2014/main" val="2422470218"/>
                  </a:ext>
                </a:extLst>
              </a:tr>
              <a:tr h="23832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6.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A: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lelkes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B: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elemző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extLst>
                  <a:ext uri="{0D108BD9-81ED-4DB2-BD59-A6C34878D82A}">
                    <a16:rowId xmlns:a16="http://schemas.microsoft.com/office/drawing/2014/main" val="779317475"/>
                  </a:ext>
                </a:extLst>
              </a:tr>
              <a:tr h="23832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7.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A: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elszánt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B: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kifejező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extLst>
                  <a:ext uri="{0D108BD9-81ED-4DB2-BD59-A6C34878D82A}">
                    <a16:rowId xmlns:a16="http://schemas.microsoft.com/office/drawing/2014/main" val="1768052495"/>
                  </a:ext>
                </a:extLst>
              </a:tr>
              <a:tr h="23832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8.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A: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</a:rPr>
                        <a:t>társasági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B: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nyugodt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extLst>
                  <a:ext uri="{0D108BD9-81ED-4DB2-BD59-A6C34878D82A}">
                    <a16:rowId xmlns:a16="http://schemas.microsoft.com/office/drawing/2014/main" val="2018473174"/>
                  </a:ext>
                </a:extLst>
              </a:tr>
              <a:tr h="23832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9.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A: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precíz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</a:rPr>
                        <a:t>B: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együttérző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extLst>
                  <a:ext uri="{0D108BD9-81ED-4DB2-BD59-A6C34878D82A}">
                    <a16:rowId xmlns:a16="http://schemas.microsoft.com/office/drawing/2014/main" val="2423090434"/>
                  </a:ext>
                </a:extLst>
              </a:tr>
              <a:tr h="23832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10.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A: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</a:rPr>
                        <a:t>fegyelmezett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B: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</a:rPr>
                        <a:t>kihívást kereső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extLst>
                  <a:ext uri="{0D108BD9-81ED-4DB2-BD59-A6C34878D82A}">
                    <a16:rowId xmlns:a16="http://schemas.microsoft.com/office/drawing/2014/main" val="3242805189"/>
                  </a:ext>
                </a:extLst>
              </a:tr>
              <a:tr h="23832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11.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A: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</a:rPr>
                        <a:t>versengő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</a:rPr>
                        <a:t>B: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</a:rPr>
                        <a:t>segítőkész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extLst>
                  <a:ext uri="{0D108BD9-81ED-4DB2-BD59-A6C34878D82A}">
                    <a16:rowId xmlns:a16="http://schemas.microsoft.com/office/drawing/2014/main" val="68211947"/>
                  </a:ext>
                </a:extLst>
              </a:tr>
              <a:tr h="23832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12.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A: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optimista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B: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</a:rPr>
                        <a:t>rendszerető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extLst>
                  <a:ext uri="{0D108BD9-81ED-4DB2-BD59-A6C34878D82A}">
                    <a16:rowId xmlns:a16="http://schemas.microsoft.com/office/drawing/2014/main" val="24063591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C1132491-0C49-4D37-B9F2-4FC5763E8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Megoldó kulcs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F9C177D-55DC-4CA4-ABF7-2AA41B0290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0412728"/>
              </p:ext>
            </p:extLst>
          </p:nvPr>
        </p:nvGraphicFramePr>
        <p:xfrm>
          <a:off x="1128685" y="1640533"/>
          <a:ext cx="6719916" cy="428263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3279">
                  <a:extLst>
                    <a:ext uri="{9D8B030D-6E8A-4147-A177-3AD203B41FA5}">
                      <a16:colId xmlns:a16="http://schemas.microsoft.com/office/drawing/2014/main" val="2695872520"/>
                    </a:ext>
                  </a:extLst>
                </a:gridCol>
                <a:gridCol w="823220">
                  <a:extLst>
                    <a:ext uri="{9D8B030D-6E8A-4147-A177-3AD203B41FA5}">
                      <a16:colId xmlns:a16="http://schemas.microsoft.com/office/drawing/2014/main" val="3043121693"/>
                    </a:ext>
                  </a:extLst>
                </a:gridCol>
                <a:gridCol w="2070730">
                  <a:extLst>
                    <a:ext uri="{9D8B030D-6E8A-4147-A177-3AD203B41FA5}">
                      <a16:colId xmlns:a16="http://schemas.microsoft.com/office/drawing/2014/main" val="3757538627"/>
                    </a:ext>
                  </a:extLst>
                </a:gridCol>
                <a:gridCol w="688614">
                  <a:extLst>
                    <a:ext uri="{9D8B030D-6E8A-4147-A177-3AD203B41FA5}">
                      <a16:colId xmlns:a16="http://schemas.microsoft.com/office/drawing/2014/main" val="3773548827"/>
                    </a:ext>
                  </a:extLst>
                </a:gridCol>
                <a:gridCol w="2324073">
                  <a:extLst>
                    <a:ext uri="{9D8B030D-6E8A-4147-A177-3AD203B41FA5}">
                      <a16:colId xmlns:a16="http://schemas.microsoft.com/office/drawing/2014/main" val="3759746462"/>
                    </a:ext>
                  </a:extLst>
                </a:gridCol>
              </a:tblGrid>
              <a:tr h="1279273">
                <a:tc gridSpan="5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</a:rPr>
                        <a:t>Az alábbi táblázatban karikázza be, hogy az egyes kérdésekre melyik választ adta. Adja össze, hogy az egyes stílusokra (D,I,S,C) hány választ adott!</a:t>
                      </a:r>
                      <a:endParaRPr lang="en-US" sz="16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5734"/>
                  </a:ext>
                </a:extLst>
              </a:tr>
              <a:tr h="23832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1.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A: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B: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extLst>
                  <a:ext uri="{0D108BD9-81ED-4DB2-BD59-A6C34878D82A}">
                    <a16:rowId xmlns:a16="http://schemas.microsoft.com/office/drawing/2014/main" val="1276637235"/>
                  </a:ext>
                </a:extLst>
              </a:tr>
              <a:tr h="23832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2.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A: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B: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extLst>
                  <a:ext uri="{0D108BD9-81ED-4DB2-BD59-A6C34878D82A}">
                    <a16:rowId xmlns:a16="http://schemas.microsoft.com/office/drawing/2014/main" val="3870591904"/>
                  </a:ext>
                </a:extLst>
              </a:tr>
              <a:tr h="23832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3.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A: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B: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extLst>
                  <a:ext uri="{0D108BD9-81ED-4DB2-BD59-A6C34878D82A}">
                    <a16:rowId xmlns:a16="http://schemas.microsoft.com/office/drawing/2014/main" val="3598866597"/>
                  </a:ext>
                </a:extLst>
              </a:tr>
              <a:tr h="23832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4.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A: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B: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extLst>
                  <a:ext uri="{0D108BD9-81ED-4DB2-BD59-A6C34878D82A}">
                    <a16:rowId xmlns:a16="http://schemas.microsoft.com/office/drawing/2014/main" val="3957560530"/>
                  </a:ext>
                </a:extLst>
              </a:tr>
              <a:tr h="23832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5.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A: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B: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extLst>
                  <a:ext uri="{0D108BD9-81ED-4DB2-BD59-A6C34878D82A}">
                    <a16:rowId xmlns:a16="http://schemas.microsoft.com/office/drawing/2014/main" val="2422470218"/>
                  </a:ext>
                </a:extLst>
              </a:tr>
              <a:tr h="23832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6.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A: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B: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extLst>
                  <a:ext uri="{0D108BD9-81ED-4DB2-BD59-A6C34878D82A}">
                    <a16:rowId xmlns:a16="http://schemas.microsoft.com/office/drawing/2014/main" val="779317475"/>
                  </a:ext>
                </a:extLst>
              </a:tr>
              <a:tr h="23832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7.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A: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B: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extLst>
                  <a:ext uri="{0D108BD9-81ED-4DB2-BD59-A6C34878D82A}">
                    <a16:rowId xmlns:a16="http://schemas.microsoft.com/office/drawing/2014/main" val="1768052495"/>
                  </a:ext>
                </a:extLst>
              </a:tr>
              <a:tr h="23832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8.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A: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B: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extLst>
                  <a:ext uri="{0D108BD9-81ED-4DB2-BD59-A6C34878D82A}">
                    <a16:rowId xmlns:a16="http://schemas.microsoft.com/office/drawing/2014/main" val="2018473174"/>
                  </a:ext>
                </a:extLst>
              </a:tr>
              <a:tr h="23832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9.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A: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</a:rPr>
                        <a:t>B: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extLst>
                  <a:ext uri="{0D108BD9-81ED-4DB2-BD59-A6C34878D82A}">
                    <a16:rowId xmlns:a16="http://schemas.microsoft.com/office/drawing/2014/main" val="2423090434"/>
                  </a:ext>
                </a:extLst>
              </a:tr>
              <a:tr h="23832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10.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A: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B: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extLst>
                  <a:ext uri="{0D108BD9-81ED-4DB2-BD59-A6C34878D82A}">
                    <a16:rowId xmlns:a16="http://schemas.microsoft.com/office/drawing/2014/main" val="3242805189"/>
                  </a:ext>
                </a:extLst>
              </a:tr>
              <a:tr h="23832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11.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A: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</a:rPr>
                        <a:t>B: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extLst>
                  <a:ext uri="{0D108BD9-81ED-4DB2-BD59-A6C34878D82A}">
                    <a16:rowId xmlns:a16="http://schemas.microsoft.com/office/drawing/2014/main" val="68211947"/>
                  </a:ext>
                </a:extLst>
              </a:tr>
              <a:tr h="23832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12.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A: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B: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30" marR="42830" marT="0" marB="0"/>
                </a:tc>
                <a:extLst>
                  <a:ext uri="{0D108BD9-81ED-4DB2-BD59-A6C34878D82A}">
                    <a16:rowId xmlns:a16="http://schemas.microsoft.com/office/drawing/2014/main" val="240635912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AD55A22-5D15-46D6-87D8-D7A706819FCD}"/>
              </a:ext>
            </a:extLst>
          </p:cNvPr>
          <p:cNvSpPr txBox="1"/>
          <p:nvPr/>
        </p:nvSpPr>
        <p:spPr>
          <a:xfrm>
            <a:off x="1295400" y="6400800"/>
            <a:ext cx="624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Precízebb, megbízhatóbb teszt: </a:t>
            </a:r>
            <a:r>
              <a:rPr lang="hu-HU" i="1" dirty="0"/>
              <a:t>www.psidiumdisc.hu</a:t>
            </a:r>
            <a:endParaRPr lang="en-US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D14096-9610-4995-94BE-2CBB9DF7BB69}"/>
              </a:ext>
            </a:extLst>
          </p:cNvPr>
          <p:cNvSpPr txBox="1"/>
          <p:nvPr/>
        </p:nvSpPr>
        <p:spPr>
          <a:xfrm>
            <a:off x="1295400" y="6172200"/>
            <a:ext cx="784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Rövid online teszt: </a:t>
            </a:r>
            <a:r>
              <a:rPr lang="en-US" dirty="0"/>
              <a:t>https://www.nn.hu/szemelyiseg-teszt</a:t>
            </a:r>
          </a:p>
        </p:txBody>
      </p:sp>
    </p:spTree>
    <p:extLst>
      <p:ext uri="{BB962C8B-B14F-4D97-AF65-F5344CB8AC3E}">
        <p14:creationId xmlns:p14="http://schemas.microsoft.com/office/powerpoint/2010/main" val="2414579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27069-7230-470C-AFFC-AF19247A8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800" dirty="0"/>
              <a:t>DISC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9C2B0-B2D3-4527-87DA-0AB69AC28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684" y="2167385"/>
            <a:ext cx="7329516" cy="3288635"/>
          </a:xfrm>
        </p:spPr>
        <p:txBody>
          <a:bodyPr>
            <a:normAutofit fontScale="92500" lnSpcReduction="10000"/>
          </a:bodyPr>
          <a:lstStyle/>
          <a:p>
            <a:r>
              <a:rPr lang="hu-HU" dirty="0"/>
              <a:t>Amikor más emberekkel találkozunk – otthon, munkahelyen, az utcán, bevásárlásnál – hajlamosak vagyunk azt feltételezni, hogy ők is ugyanúgy viselkednek bizonyos szituációkban, mint mi … </a:t>
            </a:r>
          </a:p>
          <a:p>
            <a:r>
              <a:rPr lang="hu-HU" dirty="0"/>
              <a:t>Viselkedésünk mintákat követ: ezeket nevezhetjük </a:t>
            </a:r>
            <a:r>
              <a:rPr lang="hu-HU" i="1" dirty="0"/>
              <a:t>viselkedési stílusoknak. </a:t>
            </a:r>
            <a:r>
              <a:rPr lang="hu-HU" dirty="0"/>
              <a:t>A DISC 4  alap stílust különít el.</a:t>
            </a:r>
          </a:p>
          <a:p>
            <a:r>
              <a:rPr lang="hu-HU" b="1" dirty="0"/>
              <a:t>DISC felhasználási lehetősége: megérteni önmagunk és mások viselkedését, ezáltal elsajátítani a hatékonyabb kommunikáció alapjait.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54681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27069-7230-470C-AFFC-AF19247A8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800" dirty="0"/>
              <a:t>DISC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9C2B0-B2D3-4527-87DA-0AB69AC28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684" y="2167385"/>
            <a:ext cx="7329516" cy="3288635"/>
          </a:xfrm>
        </p:spPr>
        <p:txBody>
          <a:bodyPr>
            <a:normAutofit lnSpcReduction="10000"/>
          </a:bodyPr>
          <a:lstStyle/>
          <a:p>
            <a:r>
              <a:rPr lang="hu-HU" dirty="0"/>
              <a:t>Mindannyiunk viselkedésében megvan mind a négy stílus, kérdés, hogy: Milyen arányban?</a:t>
            </a:r>
          </a:p>
          <a:p>
            <a:r>
              <a:rPr lang="hu-HU" dirty="0"/>
              <a:t>A stílusokat nem érdemes jó vagy rossz-ként kategorizálni. Mindegyiknek megvan az előnye és a hátránya. Ugyanaz a tulajdonság is lehet hatékony és kártékony, szituáció függvényében. 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- A DISC modell </a:t>
            </a:r>
            <a:r>
              <a:rPr lang="hu-HU" dirty="0" err="1"/>
              <a:t>atyja</a:t>
            </a:r>
            <a:r>
              <a:rPr lang="hu-HU" dirty="0"/>
              <a:t>: William M. </a:t>
            </a:r>
            <a:r>
              <a:rPr lang="hu-HU" dirty="0" err="1"/>
              <a:t>Marston</a:t>
            </a:r>
            <a:r>
              <a:rPr lang="hu-HU" dirty="0"/>
              <a:t> (1893-1947)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528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58FE1-2489-4F6E-952D-46D123408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DISC modell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E6E43E4-0A10-4EF7-955E-AC70F51E7E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614329"/>
              </p:ext>
            </p:extLst>
          </p:nvPr>
        </p:nvGraphicFramePr>
        <p:xfrm>
          <a:off x="1128684" y="1524000"/>
          <a:ext cx="6545987" cy="44694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4148">
                  <a:extLst>
                    <a:ext uri="{9D8B030D-6E8A-4147-A177-3AD203B41FA5}">
                      <a16:colId xmlns:a16="http://schemas.microsoft.com/office/drawing/2014/main" val="3304037603"/>
                    </a:ext>
                  </a:extLst>
                </a:gridCol>
                <a:gridCol w="1673543">
                  <a:extLst>
                    <a:ext uri="{9D8B030D-6E8A-4147-A177-3AD203B41FA5}">
                      <a16:colId xmlns:a16="http://schemas.microsoft.com/office/drawing/2014/main" val="1172448584"/>
                    </a:ext>
                  </a:extLst>
                </a:gridCol>
                <a:gridCol w="1624148">
                  <a:extLst>
                    <a:ext uri="{9D8B030D-6E8A-4147-A177-3AD203B41FA5}">
                      <a16:colId xmlns:a16="http://schemas.microsoft.com/office/drawing/2014/main" val="1718845952"/>
                    </a:ext>
                  </a:extLst>
                </a:gridCol>
                <a:gridCol w="1624148">
                  <a:extLst>
                    <a:ext uri="{9D8B030D-6E8A-4147-A177-3AD203B41FA5}">
                      <a16:colId xmlns:a16="http://schemas.microsoft.com/office/drawing/2014/main" val="2212494342"/>
                    </a:ext>
                  </a:extLst>
                </a:gridCol>
              </a:tblGrid>
              <a:tr h="753228">
                <a:tc gridSpan="4">
                  <a:txBody>
                    <a:bodyPr/>
                    <a:lstStyle/>
                    <a:p>
                      <a:pPr algn="ctr"/>
                      <a:endParaRPr lang="hu-HU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hu-HU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Feladatorientált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844274"/>
                  </a:ext>
                </a:extLst>
              </a:tr>
              <a:tr h="145657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1600" b="1" dirty="0"/>
                    </a:p>
                    <a:p>
                      <a:pPr algn="ctr"/>
                      <a:endParaRPr lang="hu-HU" sz="1600" b="1" dirty="0"/>
                    </a:p>
                    <a:p>
                      <a:pPr algn="ctr"/>
                      <a:r>
                        <a:rPr lang="hu-HU" sz="1600" b="1" dirty="0"/>
                        <a:t>C </a:t>
                      </a:r>
                    </a:p>
                    <a:p>
                      <a:pPr algn="ctr"/>
                      <a:r>
                        <a:rPr lang="hu-HU" sz="1600" b="1" dirty="0"/>
                        <a:t>Szabálytisztelő</a:t>
                      </a:r>
                      <a:endParaRPr lang="en-US" sz="1600" b="1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1600" b="1" dirty="0"/>
                    </a:p>
                    <a:p>
                      <a:pPr algn="ctr"/>
                      <a:endParaRPr lang="hu-HU" sz="1600" b="1" dirty="0"/>
                    </a:p>
                    <a:p>
                      <a:pPr algn="ctr"/>
                      <a:r>
                        <a:rPr lang="hu-HU" sz="1600" b="1" dirty="0"/>
                        <a:t>D</a:t>
                      </a:r>
                    </a:p>
                    <a:p>
                      <a:pPr algn="ctr"/>
                      <a:r>
                        <a:rPr lang="hu-HU" sz="1600" b="1" dirty="0"/>
                        <a:t>Domináns</a:t>
                      </a:r>
                      <a:endParaRPr lang="en-US" sz="1600" b="1" dirty="0"/>
                    </a:p>
                  </a:txBody>
                  <a:tcPr>
                    <a:solidFill>
                      <a:srgbClr val="F6724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79361"/>
                  </a:ext>
                </a:extLst>
              </a:tr>
              <a:tr h="1558612">
                <a:tc>
                  <a:txBody>
                    <a:bodyPr/>
                    <a:lstStyle/>
                    <a:p>
                      <a:r>
                        <a:rPr lang="hu-HU" dirty="0"/>
                        <a:t>   </a:t>
                      </a:r>
                      <a:r>
                        <a:rPr lang="hu-HU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Introvertált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1600" b="1" dirty="0"/>
                    </a:p>
                    <a:p>
                      <a:pPr algn="ctr"/>
                      <a:endParaRPr lang="hu-HU" sz="1600" b="1" dirty="0"/>
                    </a:p>
                    <a:p>
                      <a:pPr algn="ctr"/>
                      <a:r>
                        <a:rPr lang="hu-HU" sz="1600" b="1" dirty="0"/>
                        <a:t>S</a:t>
                      </a:r>
                    </a:p>
                    <a:p>
                      <a:pPr algn="ctr"/>
                      <a:r>
                        <a:rPr lang="hu-HU" sz="1600" b="1" dirty="0"/>
                        <a:t>Kitartó</a:t>
                      </a:r>
                      <a:endParaRPr lang="en-US" sz="1600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1600" b="1" dirty="0"/>
                    </a:p>
                    <a:p>
                      <a:pPr algn="ctr"/>
                      <a:endParaRPr lang="hu-HU" sz="1600" b="1" dirty="0"/>
                    </a:p>
                    <a:p>
                      <a:pPr algn="ctr"/>
                      <a:r>
                        <a:rPr lang="hu-HU" sz="1600" b="1" dirty="0"/>
                        <a:t>I</a:t>
                      </a:r>
                    </a:p>
                    <a:p>
                      <a:pPr algn="ctr"/>
                      <a:r>
                        <a:rPr lang="hu-HU" sz="1600" b="1" dirty="0"/>
                        <a:t>Befolyásoló</a:t>
                      </a:r>
                      <a:endParaRPr lang="en-US" sz="1600" b="1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u-HU" sz="1800" b="1" dirty="0"/>
                        <a:t>Extrovertált</a:t>
                      </a:r>
                      <a:endParaRPr lang="en-US" sz="18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824248"/>
                  </a:ext>
                </a:extLst>
              </a:tr>
              <a:tr h="694117">
                <a:tc gridSpan="4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2000" b="1" dirty="0">
                          <a:solidFill>
                            <a:schemeClr val="tx1"/>
                          </a:solidFill>
                        </a:rPr>
                        <a:t>Kapcsolatorientált</a:t>
                      </a:r>
                      <a:endParaRPr lang="en-US" sz="2000" b="1" dirty="0"/>
                    </a:p>
                    <a:p>
                      <a:endParaRPr lang="en-US" sz="20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65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6589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58FE1-2489-4F6E-952D-46D123408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Ahogyan mi látjuk magunkat …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62E4032-42AE-474D-9C6D-9701E9B08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761428"/>
              </p:ext>
            </p:extLst>
          </p:nvPr>
        </p:nvGraphicFramePr>
        <p:xfrm>
          <a:off x="1219200" y="1752600"/>
          <a:ext cx="5957887" cy="3951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3565">
                  <a:extLst>
                    <a:ext uri="{9D8B030D-6E8A-4147-A177-3AD203B41FA5}">
                      <a16:colId xmlns:a16="http://schemas.microsoft.com/office/drawing/2014/main" val="4191925566"/>
                    </a:ext>
                  </a:extLst>
                </a:gridCol>
                <a:gridCol w="2934322">
                  <a:extLst>
                    <a:ext uri="{9D8B030D-6E8A-4147-A177-3AD203B41FA5}">
                      <a16:colId xmlns:a16="http://schemas.microsoft.com/office/drawing/2014/main" val="3444458496"/>
                    </a:ext>
                  </a:extLst>
                </a:gridCol>
              </a:tblGrid>
              <a:tr h="1898048">
                <a:tc>
                  <a:txBody>
                    <a:bodyPr/>
                    <a:lstStyle/>
                    <a:p>
                      <a:pPr algn="l"/>
                      <a:r>
                        <a:rPr lang="hu-HU" sz="2000" b="1" dirty="0">
                          <a:solidFill>
                            <a:schemeClr val="tx1"/>
                          </a:solidFill>
                        </a:rPr>
                        <a:t>Precíz</a:t>
                      </a:r>
                    </a:p>
                    <a:p>
                      <a:pPr algn="l"/>
                      <a:r>
                        <a:rPr lang="hu-HU" sz="2000" b="1" dirty="0">
                          <a:solidFill>
                            <a:schemeClr val="tx1"/>
                          </a:solidFill>
                        </a:rPr>
                        <a:t>Rendszerető</a:t>
                      </a:r>
                    </a:p>
                    <a:p>
                      <a:pPr algn="l"/>
                      <a:r>
                        <a:rPr lang="hu-HU" sz="2000" b="1" dirty="0">
                          <a:solidFill>
                            <a:schemeClr val="tx1"/>
                          </a:solidFill>
                        </a:rPr>
                        <a:t>Diplomatikus</a:t>
                      </a:r>
                    </a:p>
                    <a:p>
                      <a:pPr algn="l"/>
                      <a:r>
                        <a:rPr lang="hu-HU" sz="2000" b="1" dirty="0">
                          <a:solidFill>
                            <a:schemeClr val="tx1"/>
                          </a:solidFill>
                        </a:rPr>
                        <a:t>Aprólékos</a:t>
                      </a:r>
                    </a:p>
                    <a:p>
                      <a:pPr algn="l"/>
                      <a:r>
                        <a:rPr lang="hu-HU" sz="2000" b="1" dirty="0">
                          <a:solidFill>
                            <a:schemeClr val="tx1"/>
                          </a:solidFill>
                        </a:rPr>
                        <a:t>Maximalista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hu-HU" sz="2000" b="1" dirty="0">
                          <a:solidFill>
                            <a:schemeClr val="tx1"/>
                          </a:solidFill>
                        </a:rPr>
                        <a:t>Ösztönző</a:t>
                      </a:r>
                    </a:p>
                    <a:p>
                      <a:pPr algn="l"/>
                      <a:r>
                        <a:rPr lang="hu-HU" sz="2000" b="1" dirty="0">
                          <a:solidFill>
                            <a:schemeClr val="tx1"/>
                          </a:solidFill>
                        </a:rPr>
                        <a:t>Úttörő</a:t>
                      </a:r>
                    </a:p>
                    <a:p>
                      <a:pPr algn="l"/>
                      <a:r>
                        <a:rPr lang="hu-HU" sz="2000" b="1" dirty="0">
                          <a:solidFill>
                            <a:schemeClr val="tx1"/>
                          </a:solidFill>
                        </a:rPr>
                        <a:t>Eltökélt</a:t>
                      </a:r>
                    </a:p>
                    <a:p>
                      <a:pPr algn="l"/>
                      <a:r>
                        <a:rPr lang="hu-HU" sz="2000" b="1" dirty="0">
                          <a:solidFill>
                            <a:schemeClr val="tx1"/>
                          </a:solidFill>
                        </a:rPr>
                        <a:t>Határozott</a:t>
                      </a:r>
                    </a:p>
                    <a:p>
                      <a:pPr algn="l"/>
                      <a:r>
                        <a:rPr lang="hu-HU" sz="2000" b="1" dirty="0">
                          <a:solidFill>
                            <a:schemeClr val="tx1"/>
                          </a:solidFill>
                        </a:rPr>
                        <a:t>Céltudatos</a:t>
                      </a:r>
                    </a:p>
                    <a:p>
                      <a:pPr algn="l"/>
                      <a:endParaRPr lang="hu-HU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672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372987"/>
                  </a:ext>
                </a:extLst>
              </a:tr>
              <a:tr h="2031014">
                <a:tc>
                  <a:txBody>
                    <a:bodyPr/>
                    <a:lstStyle/>
                    <a:p>
                      <a:pPr algn="l"/>
                      <a:r>
                        <a:rPr lang="hu-HU" sz="2000" b="1" dirty="0"/>
                        <a:t>Nyugodt</a:t>
                      </a:r>
                    </a:p>
                    <a:p>
                      <a:pPr algn="l"/>
                      <a:r>
                        <a:rPr lang="hu-HU" sz="2000" b="1" dirty="0"/>
                        <a:t>Alkalmazkodó</a:t>
                      </a:r>
                    </a:p>
                    <a:p>
                      <a:pPr algn="l"/>
                      <a:r>
                        <a:rPr lang="hu-HU" sz="2000" b="1" dirty="0"/>
                        <a:t>Barátságos</a:t>
                      </a:r>
                    </a:p>
                    <a:p>
                      <a:pPr algn="l"/>
                      <a:r>
                        <a:rPr lang="hu-HU" sz="2000" b="1" dirty="0"/>
                        <a:t>Figyelmes</a:t>
                      </a:r>
                    </a:p>
                    <a:p>
                      <a:pPr algn="l"/>
                      <a:r>
                        <a:rPr lang="hu-HU" sz="2000" b="1" dirty="0"/>
                        <a:t>Hűséges</a:t>
                      </a:r>
                    </a:p>
                    <a:p>
                      <a:pPr algn="l"/>
                      <a:endParaRPr lang="hu-HU" sz="2000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hu-HU" sz="2000" b="1" dirty="0"/>
                        <a:t>Társaságkedvelő</a:t>
                      </a:r>
                    </a:p>
                    <a:p>
                      <a:pPr algn="l"/>
                      <a:r>
                        <a:rPr lang="hu-HU" sz="2000" b="1" dirty="0"/>
                        <a:t>Bizalommal teli</a:t>
                      </a:r>
                    </a:p>
                    <a:p>
                      <a:pPr algn="l"/>
                      <a:r>
                        <a:rPr lang="hu-HU" sz="2000" b="1" dirty="0"/>
                        <a:t>Optimista</a:t>
                      </a:r>
                    </a:p>
                    <a:p>
                      <a:pPr algn="l"/>
                      <a:r>
                        <a:rPr lang="hu-HU" sz="2000" b="1" dirty="0"/>
                        <a:t>Lelkesítő</a:t>
                      </a:r>
                    </a:p>
                    <a:p>
                      <a:pPr algn="l"/>
                      <a:r>
                        <a:rPr lang="hu-HU" sz="2000" b="1" dirty="0"/>
                        <a:t>Rábeszélő</a:t>
                      </a:r>
                    </a:p>
                    <a:p>
                      <a:pPr algn="l"/>
                      <a:endParaRPr lang="hu-HU" sz="2000" b="1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060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7455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58FE1-2489-4F6E-952D-46D123408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684" y="956172"/>
            <a:ext cx="7177116" cy="1049235"/>
          </a:xfrm>
        </p:spPr>
        <p:txBody>
          <a:bodyPr/>
          <a:lstStyle/>
          <a:p>
            <a:r>
              <a:rPr lang="hu-HU" dirty="0"/>
              <a:t>Ahogyan </a:t>
            </a:r>
            <a:r>
              <a:rPr lang="en-US" dirty="0" err="1"/>
              <a:t>kritikusaink</a:t>
            </a:r>
            <a:r>
              <a:rPr lang="hu-HU" dirty="0"/>
              <a:t> láthatnak minket …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562D276-D26F-424C-9EF9-F99061F2E1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336679"/>
              </p:ext>
            </p:extLst>
          </p:nvPr>
        </p:nvGraphicFramePr>
        <p:xfrm>
          <a:off x="1219200" y="2005407"/>
          <a:ext cx="5957887" cy="39290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3565">
                  <a:extLst>
                    <a:ext uri="{9D8B030D-6E8A-4147-A177-3AD203B41FA5}">
                      <a16:colId xmlns:a16="http://schemas.microsoft.com/office/drawing/2014/main" val="4191925566"/>
                    </a:ext>
                  </a:extLst>
                </a:gridCol>
                <a:gridCol w="2934322">
                  <a:extLst>
                    <a:ext uri="{9D8B030D-6E8A-4147-A177-3AD203B41FA5}">
                      <a16:colId xmlns:a16="http://schemas.microsoft.com/office/drawing/2014/main" val="3444458496"/>
                    </a:ext>
                  </a:extLst>
                </a:gridCol>
              </a:tblGrid>
              <a:tr h="1898048">
                <a:tc>
                  <a:txBody>
                    <a:bodyPr/>
                    <a:lstStyle/>
                    <a:p>
                      <a:pPr algn="l"/>
                      <a:r>
                        <a:rPr lang="hu-HU" sz="2000" b="1" dirty="0">
                          <a:solidFill>
                            <a:schemeClr val="tx1"/>
                          </a:solidFill>
                        </a:rPr>
                        <a:t>Merev</a:t>
                      </a:r>
                    </a:p>
                    <a:p>
                      <a:pPr algn="l"/>
                      <a:r>
                        <a:rPr lang="hu-HU" sz="2000" b="1" dirty="0">
                          <a:solidFill>
                            <a:schemeClr val="tx1"/>
                          </a:solidFill>
                        </a:rPr>
                        <a:t>Bizalmatlan</a:t>
                      </a:r>
                    </a:p>
                    <a:p>
                      <a:pPr algn="l"/>
                      <a:r>
                        <a:rPr lang="hu-HU" sz="2000" b="1" dirty="0">
                          <a:solidFill>
                            <a:schemeClr val="tx1"/>
                          </a:solidFill>
                        </a:rPr>
                        <a:t>Hűvös</a:t>
                      </a:r>
                    </a:p>
                    <a:p>
                      <a:pPr algn="l"/>
                      <a:r>
                        <a:rPr lang="hu-HU" sz="2000" b="1" dirty="0">
                          <a:solidFill>
                            <a:schemeClr val="tx1"/>
                          </a:solidFill>
                        </a:rPr>
                        <a:t>Tartózkodó</a:t>
                      </a:r>
                    </a:p>
                    <a:p>
                      <a:pPr algn="l"/>
                      <a:r>
                        <a:rPr lang="hu-HU" sz="2000" b="1" dirty="0">
                          <a:solidFill>
                            <a:schemeClr val="tx1"/>
                          </a:solidFill>
                        </a:rPr>
                        <a:t>Bizonytalan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hu-HU" sz="2000" b="1" dirty="0">
                          <a:solidFill>
                            <a:schemeClr val="tx1"/>
                          </a:solidFill>
                        </a:rPr>
                        <a:t>Erőszakos</a:t>
                      </a:r>
                    </a:p>
                    <a:p>
                      <a:pPr algn="l"/>
                      <a:r>
                        <a:rPr lang="hu-HU" sz="2000" b="1" dirty="0">
                          <a:solidFill>
                            <a:schemeClr val="tx1"/>
                          </a:solidFill>
                        </a:rPr>
                        <a:t>Domináns</a:t>
                      </a:r>
                    </a:p>
                    <a:p>
                      <a:pPr algn="l"/>
                      <a:r>
                        <a:rPr lang="hu-HU" sz="2000" b="1" dirty="0">
                          <a:solidFill>
                            <a:schemeClr val="tx1"/>
                          </a:solidFill>
                        </a:rPr>
                        <a:t>Irányadó</a:t>
                      </a:r>
                    </a:p>
                    <a:p>
                      <a:pPr algn="l"/>
                      <a:r>
                        <a:rPr lang="hu-HU" sz="2000" b="1" dirty="0">
                          <a:solidFill>
                            <a:schemeClr val="tx1"/>
                          </a:solidFill>
                        </a:rPr>
                        <a:t>Intoleráns</a:t>
                      </a:r>
                    </a:p>
                    <a:p>
                      <a:pPr algn="l"/>
                      <a:r>
                        <a:rPr lang="hu-HU" sz="2000" b="1" dirty="0">
                          <a:solidFill>
                            <a:schemeClr val="tx1"/>
                          </a:solidFill>
                        </a:rPr>
                        <a:t>Arrogáns</a:t>
                      </a:r>
                    </a:p>
                  </a:txBody>
                  <a:tcPr>
                    <a:solidFill>
                      <a:srgbClr val="F672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372987"/>
                  </a:ext>
                </a:extLst>
              </a:tr>
              <a:tr h="2031014">
                <a:tc>
                  <a:txBody>
                    <a:bodyPr/>
                    <a:lstStyle/>
                    <a:p>
                      <a:pPr algn="l"/>
                      <a:r>
                        <a:rPr lang="hu-HU" sz="2000" b="1" dirty="0"/>
                        <a:t>Közömbös</a:t>
                      </a:r>
                    </a:p>
                    <a:p>
                      <a:pPr algn="l"/>
                      <a:r>
                        <a:rPr lang="hu-HU" sz="2000" b="1" dirty="0"/>
                        <a:t>Passzív</a:t>
                      </a:r>
                    </a:p>
                    <a:p>
                      <a:pPr algn="l"/>
                      <a:r>
                        <a:rPr lang="hu-HU" sz="2000" b="1" dirty="0"/>
                        <a:t>Függő</a:t>
                      </a:r>
                    </a:p>
                    <a:p>
                      <a:pPr algn="l"/>
                      <a:r>
                        <a:rPr lang="hu-HU" sz="2000" b="1" dirty="0"/>
                        <a:t>Makacs</a:t>
                      </a:r>
                    </a:p>
                    <a:p>
                      <a:pPr algn="l"/>
                      <a:r>
                        <a:rPr lang="hu-HU" sz="2000" b="1" dirty="0"/>
                        <a:t>Rugalmatlan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hu-HU" sz="2000" b="1" dirty="0"/>
                        <a:t>Meggondolatlan</a:t>
                      </a:r>
                    </a:p>
                    <a:p>
                      <a:pPr algn="l"/>
                      <a:r>
                        <a:rPr lang="hu-HU" sz="2000" b="1" dirty="0"/>
                        <a:t>Nyugtalan</a:t>
                      </a:r>
                    </a:p>
                    <a:p>
                      <a:pPr algn="l"/>
                      <a:r>
                        <a:rPr lang="hu-HU" sz="2000" b="1" dirty="0"/>
                        <a:t>Tapintatos</a:t>
                      </a:r>
                    </a:p>
                    <a:p>
                      <a:pPr algn="l"/>
                      <a:r>
                        <a:rPr lang="hu-HU" sz="2000" b="1" dirty="0"/>
                        <a:t>Szertelen</a:t>
                      </a:r>
                    </a:p>
                    <a:p>
                      <a:pPr algn="l"/>
                      <a:r>
                        <a:rPr lang="hu-HU" sz="2000" b="1" dirty="0"/>
                        <a:t>Szétszórt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060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2113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942A2-7885-4514-9F48-7587AD09A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606" y="977211"/>
            <a:ext cx="6571343" cy="1049235"/>
          </a:xfrm>
        </p:spPr>
        <p:txBody>
          <a:bodyPr/>
          <a:lstStyle/>
          <a:p>
            <a:r>
              <a:rPr lang="hu-HU" dirty="0"/>
              <a:t>Domináns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64926-F7DC-4FCD-AD63-4179E37F7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683" y="1600201"/>
            <a:ext cx="7634317" cy="3855820"/>
          </a:xfrm>
        </p:spPr>
        <p:txBody>
          <a:bodyPr/>
          <a:lstStyle/>
          <a:p>
            <a:r>
              <a:rPr lang="hu-HU" i="1" dirty="0"/>
              <a:t>Alapvető jellemzők</a:t>
            </a:r>
            <a:r>
              <a:rPr lang="hu-HU" dirty="0"/>
              <a:t>: irányadó, eltökélt, versengő, erélyes, eredmény orientált, felelősséget vállaló, konfrontálódó, kihívást kereső</a:t>
            </a:r>
          </a:p>
          <a:p>
            <a:r>
              <a:rPr lang="hu-HU" dirty="0"/>
              <a:t>Fő témája: kihívások kezelése, célok elérésére törekvés</a:t>
            </a:r>
          </a:p>
          <a:p>
            <a:endParaRPr lang="hu-HU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584F9F4-E702-43F1-A679-53D799F727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369501"/>
              </p:ext>
            </p:extLst>
          </p:nvPr>
        </p:nvGraphicFramePr>
        <p:xfrm>
          <a:off x="1295400" y="3472971"/>
          <a:ext cx="6895986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7993">
                  <a:extLst>
                    <a:ext uri="{9D8B030D-6E8A-4147-A177-3AD203B41FA5}">
                      <a16:colId xmlns:a16="http://schemas.microsoft.com/office/drawing/2014/main" val="2845996938"/>
                    </a:ext>
                  </a:extLst>
                </a:gridCol>
                <a:gridCol w="3447993">
                  <a:extLst>
                    <a:ext uri="{9D8B030D-6E8A-4147-A177-3AD203B41FA5}">
                      <a16:colId xmlns:a16="http://schemas.microsoft.com/office/drawing/2014/main" val="254045368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hu-HU" dirty="0"/>
                        <a:t>Erősségek</a:t>
                      </a:r>
                      <a:endParaRPr lang="en-US" dirty="0"/>
                    </a:p>
                  </a:txBody>
                  <a:tcPr>
                    <a:solidFill>
                      <a:srgbClr val="F67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Gyengeségek</a:t>
                      </a:r>
                      <a:endParaRPr lang="en-US" dirty="0"/>
                    </a:p>
                  </a:txBody>
                  <a:tcPr>
                    <a:solidFill>
                      <a:srgbClr val="F672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8199"/>
                  </a:ext>
                </a:extLst>
              </a:tr>
              <a:tr h="1826304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hu-HU" sz="2000" dirty="0"/>
                        <a:t>Irányító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hu-HU" sz="2000" dirty="0"/>
                        <a:t>Stratégiai gondolkodó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hu-HU" sz="2000" dirty="0"/>
                        <a:t>Az összképet látja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hu-HU" sz="2000" dirty="0"/>
                        <a:t>Célokat tűz ki és megvalósítja azokat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hu-HU" sz="2000" dirty="0"/>
                        <a:t>Nem gondolja végig aprólékosan a döntéseit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hu-HU" sz="2000" dirty="0"/>
                        <a:t>Nem figyel a részletekre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hu-HU" sz="2000" dirty="0"/>
                        <a:t>Arrogánsnak tűnhet, aki nem vesz figyelembe másokat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377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0239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942A2-7885-4514-9F48-7587AD09A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606" y="977211"/>
            <a:ext cx="6571343" cy="1049235"/>
          </a:xfrm>
        </p:spPr>
        <p:txBody>
          <a:bodyPr/>
          <a:lstStyle/>
          <a:p>
            <a:r>
              <a:rPr lang="hu-HU" dirty="0"/>
              <a:t>Befolyásoló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64926-F7DC-4FCD-AD63-4179E37F7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683" y="1600201"/>
            <a:ext cx="7634317" cy="3855820"/>
          </a:xfrm>
        </p:spPr>
        <p:txBody>
          <a:bodyPr/>
          <a:lstStyle/>
          <a:p>
            <a:r>
              <a:rPr lang="hu-HU" i="1" dirty="0"/>
              <a:t>Alapvető jellemzők</a:t>
            </a:r>
            <a:r>
              <a:rPr lang="hu-HU" dirty="0"/>
              <a:t>: társaságkedvelő, kreatív, optimista, barátkozó, lelkes, álmodozó, ötletelő </a:t>
            </a:r>
          </a:p>
          <a:p>
            <a:r>
              <a:rPr lang="hu-HU" dirty="0"/>
              <a:t>Fő témája: kapcsolatok építése, nyitottság, optimizmus, szeressék őt, legyen népszerű</a:t>
            </a:r>
          </a:p>
          <a:p>
            <a:endParaRPr lang="hu-HU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584F9F4-E702-43F1-A679-53D799F727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534247"/>
              </p:ext>
            </p:extLst>
          </p:nvPr>
        </p:nvGraphicFramePr>
        <p:xfrm>
          <a:off x="1295400" y="3472971"/>
          <a:ext cx="6895986" cy="230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7993">
                  <a:extLst>
                    <a:ext uri="{9D8B030D-6E8A-4147-A177-3AD203B41FA5}">
                      <a16:colId xmlns:a16="http://schemas.microsoft.com/office/drawing/2014/main" val="2845996938"/>
                    </a:ext>
                  </a:extLst>
                </a:gridCol>
                <a:gridCol w="3447993">
                  <a:extLst>
                    <a:ext uri="{9D8B030D-6E8A-4147-A177-3AD203B41FA5}">
                      <a16:colId xmlns:a16="http://schemas.microsoft.com/office/drawing/2014/main" val="254045368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hu-HU" dirty="0"/>
                        <a:t>Erősségek</a:t>
                      </a:r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Gyengeségek</a:t>
                      </a:r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8199"/>
                  </a:ext>
                </a:extLst>
              </a:tr>
              <a:tr h="1826304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hu-HU" sz="2000" dirty="0"/>
                        <a:t>Társasági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hu-HU" sz="2000" dirty="0"/>
                        <a:t>Optimista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hu-HU" sz="2000" dirty="0"/>
                        <a:t>Rengeteg ötlete van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hu-HU" sz="2000" dirty="0"/>
                        <a:t>Hat az emberekre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§"/>
                      </a:pPr>
                      <a:r>
                        <a:rPr lang="hu-HU" sz="2000" dirty="0"/>
                        <a:t>Döntéseit nem mindig megfontoltan hozza meg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§"/>
                      </a:pPr>
                      <a:r>
                        <a:rPr lang="hu-HU" sz="2000" dirty="0"/>
                        <a:t>Határidőket nem tudja tartani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§"/>
                      </a:pPr>
                      <a:r>
                        <a:rPr lang="hu-HU" sz="2000" dirty="0"/>
                        <a:t>Szószátyár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377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4928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942A2-7885-4514-9F48-7587AD09A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606" y="977211"/>
            <a:ext cx="6571343" cy="1049235"/>
          </a:xfrm>
        </p:spPr>
        <p:txBody>
          <a:bodyPr/>
          <a:lstStyle/>
          <a:p>
            <a:r>
              <a:rPr lang="hu-HU" dirty="0"/>
              <a:t>Kitartó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64926-F7DC-4FCD-AD63-4179E37F7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683" y="1600201"/>
            <a:ext cx="7634317" cy="3855820"/>
          </a:xfrm>
        </p:spPr>
        <p:txBody>
          <a:bodyPr/>
          <a:lstStyle/>
          <a:p>
            <a:r>
              <a:rPr lang="hu-HU" i="1" dirty="0"/>
              <a:t>Alapvető jellemzők</a:t>
            </a:r>
            <a:r>
              <a:rPr lang="hu-HU" dirty="0"/>
              <a:t>: békés, alázatos, türelmes, érzékeny, önzetlen, csapatjátékos, segítőkész, bizonytalan, őszinte</a:t>
            </a:r>
          </a:p>
          <a:p>
            <a:r>
              <a:rPr lang="hu-HU" dirty="0"/>
              <a:t>Fő témája: biztonság, stabilitás, béke, kölcsönös elfogadás, együttműködés</a:t>
            </a:r>
          </a:p>
          <a:p>
            <a:endParaRPr lang="hu-HU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584F9F4-E702-43F1-A679-53D799F727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995111"/>
              </p:ext>
            </p:extLst>
          </p:nvPr>
        </p:nvGraphicFramePr>
        <p:xfrm>
          <a:off x="1295400" y="3573780"/>
          <a:ext cx="6895986" cy="230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7993">
                  <a:extLst>
                    <a:ext uri="{9D8B030D-6E8A-4147-A177-3AD203B41FA5}">
                      <a16:colId xmlns:a16="http://schemas.microsoft.com/office/drawing/2014/main" val="2845996938"/>
                    </a:ext>
                  </a:extLst>
                </a:gridCol>
                <a:gridCol w="3447993">
                  <a:extLst>
                    <a:ext uri="{9D8B030D-6E8A-4147-A177-3AD203B41FA5}">
                      <a16:colId xmlns:a16="http://schemas.microsoft.com/office/drawing/2014/main" val="254045368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hu-HU" dirty="0"/>
                        <a:t>Erősségek</a:t>
                      </a:r>
                      <a:endParaRPr 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Gyengeségek</a:t>
                      </a:r>
                      <a:endParaRPr 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8199"/>
                  </a:ext>
                </a:extLst>
              </a:tr>
              <a:tr h="1826304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hu-HU" sz="2000" dirty="0"/>
                        <a:t>Alkalmazkodik másokhoz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hu-HU" sz="2000" dirty="0"/>
                        <a:t>Figyeli a határidőket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hu-HU" sz="2000" dirty="0"/>
                        <a:t>Lojális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hu-HU" sz="2000" dirty="0"/>
                        <a:t>Kitartó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§"/>
                      </a:pPr>
                      <a:r>
                        <a:rPr lang="hu-HU" sz="2000" dirty="0"/>
                        <a:t>Sokat hezitál, halogat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§"/>
                      </a:pPr>
                      <a:r>
                        <a:rPr lang="hu-HU" sz="2000" dirty="0"/>
                        <a:t>Nehezen mond nemet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§"/>
                      </a:pPr>
                      <a:r>
                        <a:rPr lang="hu-HU" sz="2000" dirty="0"/>
                        <a:t>Saját érdekeit háttérbe szorítja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§"/>
                      </a:pPr>
                      <a:r>
                        <a:rPr lang="hu-HU" sz="2000" dirty="0"/>
                        <a:t>Nem kedveli a változást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377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7798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942A2-7885-4514-9F48-7587AD09A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606" y="977211"/>
            <a:ext cx="6571343" cy="1049235"/>
          </a:xfrm>
        </p:spPr>
        <p:txBody>
          <a:bodyPr/>
          <a:lstStyle/>
          <a:p>
            <a:r>
              <a:rPr lang="hu-HU" dirty="0"/>
              <a:t>Szabálytisztelő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64926-F7DC-4FCD-AD63-4179E37F7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683" y="1600201"/>
            <a:ext cx="7634317" cy="3855820"/>
          </a:xfrm>
        </p:spPr>
        <p:txBody>
          <a:bodyPr/>
          <a:lstStyle/>
          <a:p>
            <a:r>
              <a:rPr lang="hu-HU" i="1" dirty="0"/>
              <a:t>Alapvető jellemzők</a:t>
            </a:r>
            <a:r>
              <a:rPr lang="hu-HU" dirty="0"/>
              <a:t>: alapos, minőségorientált, logikus, tapintatos, kritikus, részletorientált, rendszerető, óvatos</a:t>
            </a:r>
          </a:p>
          <a:p>
            <a:r>
              <a:rPr lang="hu-HU" dirty="0"/>
              <a:t>Fő témája: precizitás, maximalizmus, mindenben a rendszert keresi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584F9F4-E702-43F1-A679-53D799F727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023001"/>
              </p:ext>
            </p:extLst>
          </p:nvPr>
        </p:nvGraphicFramePr>
        <p:xfrm>
          <a:off x="1219200" y="3472971"/>
          <a:ext cx="6895986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7993">
                  <a:extLst>
                    <a:ext uri="{9D8B030D-6E8A-4147-A177-3AD203B41FA5}">
                      <a16:colId xmlns:a16="http://schemas.microsoft.com/office/drawing/2014/main" val="2845996938"/>
                    </a:ext>
                  </a:extLst>
                </a:gridCol>
                <a:gridCol w="3447993">
                  <a:extLst>
                    <a:ext uri="{9D8B030D-6E8A-4147-A177-3AD203B41FA5}">
                      <a16:colId xmlns:a16="http://schemas.microsoft.com/office/drawing/2014/main" val="254045368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hu-HU" dirty="0"/>
                        <a:t>Erősségek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Gyengeségek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8199"/>
                  </a:ext>
                </a:extLst>
              </a:tr>
              <a:tr h="1826304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hu-HU" sz="2000" dirty="0"/>
                        <a:t>Diplomatikus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hu-HU" sz="2000" dirty="0"/>
                        <a:t>Figyel a folyamatokra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hu-HU" sz="2000" dirty="0"/>
                        <a:t>Mindig van egy „B” terve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hu-HU" sz="2000" dirty="0"/>
                        <a:t>Szabályok, előírások, tények elsődlegesek számára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§"/>
                      </a:pPr>
                      <a:r>
                        <a:rPr lang="hu-HU" sz="2000" dirty="0"/>
                        <a:t>Elvesz a részletekben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§"/>
                      </a:pPr>
                      <a:r>
                        <a:rPr lang="hu-HU" sz="2000" dirty="0"/>
                        <a:t>Túlzottan kudarckerülő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§"/>
                      </a:pPr>
                      <a:r>
                        <a:rPr lang="hu-HU" sz="2000" dirty="0"/>
                        <a:t>Túl kritikus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§"/>
                      </a:pPr>
                      <a:r>
                        <a:rPr lang="hu-HU" sz="2000" dirty="0"/>
                        <a:t>Túlelemzi a dolgokat és </a:t>
                      </a:r>
                      <a:r>
                        <a:rPr lang="hu-HU" sz="2000" dirty="0" err="1"/>
                        <a:t>elcsúszhat</a:t>
                      </a:r>
                      <a:r>
                        <a:rPr lang="hu-HU" sz="2000" dirty="0"/>
                        <a:t> a határidőkkel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377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4969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58FE1-2489-4F6E-952D-46D123408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411" y="977211"/>
            <a:ext cx="6571343" cy="1049235"/>
          </a:xfrm>
        </p:spPr>
        <p:txBody>
          <a:bodyPr>
            <a:normAutofit/>
          </a:bodyPr>
          <a:lstStyle/>
          <a:p>
            <a:r>
              <a:rPr lang="hu-HU" dirty="0"/>
              <a:t>Feladat</a:t>
            </a:r>
            <a:br>
              <a:rPr lang="hu-HU" dirty="0"/>
            </a:b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4D1608-5877-4E02-A3E9-220D577CD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705713"/>
            <a:ext cx="3324225" cy="21145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2757BE-3BC0-400B-BBD0-C0BD4F82FC44}"/>
              </a:ext>
            </a:extLst>
          </p:cNvPr>
          <p:cNvSpPr txBox="1"/>
          <p:nvPr/>
        </p:nvSpPr>
        <p:spPr>
          <a:xfrm>
            <a:off x="1219200" y="1905000"/>
            <a:ext cx="670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1. Minden stílushoz találtass egy-két személyt az ismeretségi körödből!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C3EF3D-6AA8-436E-A95D-444B0F0E0F8D}"/>
              </a:ext>
            </a:extLst>
          </p:cNvPr>
          <p:cNvSpPr txBox="1"/>
          <p:nvPr/>
        </p:nvSpPr>
        <p:spPr>
          <a:xfrm>
            <a:off x="1270457" y="2874716"/>
            <a:ext cx="624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2. Kikkel jössz ki a legjobban?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AE5362-8A70-4C57-B292-7BDED91DB98D}"/>
              </a:ext>
            </a:extLst>
          </p:cNvPr>
          <p:cNvSpPr txBox="1"/>
          <p:nvPr/>
        </p:nvSpPr>
        <p:spPr>
          <a:xfrm>
            <a:off x="1241882" y="3521047"/>
            <a:ext cx="624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3. Kikkel van a legtöbb konfliktusod?</a:t>
            </a:r>
          </a:p>
        </p:txBody>
      </p:sp>
    </p:spTree>
    <p:extLst>
      <p:ext uri="{BB962C8B-B14F-4D97-AF65-F5344CB8AC3E}">
        <p14:creationId xmlns:p14="http://schemas.microsoft.com/office/powerpoint/2010/main" val="2884073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A70BFEC-BBFD-401A-BE20-82A465F78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Hatékony kommunikáció D-vel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4E17A52-40F4-4E9B-80AA-AEF9FE205E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267047"/>
              </p:ext>
            </p:extLst>
          </p:nvPr>
        </p:nvGraphicFramePr>
        <p:xfrm>
          <a:off x="1195600" y="1828800"/>
          <a:ext cx="6819716" cy="3927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9858">
                  <a:extLst>
                    <a:ext uri="{9D8B030D-6E8A-4147-A177-3AD203B41FA5}">
                      <a16:colId xmlns:a16="http://schemas.microsoft.com/office/drawing/2014/main" val="3915128193"/>
                    </a:ext>
                  </a:extLst>
                </a:gridCol>
                <a:gridCol w="3409858">
                  <a:extLst>
                    <a:ext uri="{9D8B030D-6E8A-4147-A177-3AD203B41FA5}">
                      <a16:colId xmlns:a16="http://schemas.microsoft.com/office/drawing/2014/main" val="3555206184"/>
                    </a:ext>
                  </a:extLst>
                </a:gridCol>
              </a:tblGrid>
              <a:tr h="482970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hu-HU" dirty="0"/>
                        <a:t>Ajánlott</a:t>
                      </a:r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Kerülendő</a:t>
                      </a:r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366397"/>
                  </a:ext>
                </a:extLst>
              </a:tr>
              <a:tr h="3271903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hu-HU" sz="2000" dirty="0"/>
                        <a:t>Fogalmazzon világosan, pontosan, röviden, </a:t>
                      </a:r>
                      <a:r>
                        <a:rPr lang="hu-HU" sz="2000" dirty="0" err="1"/>
                        <a:t>lényegretörően</a:t>
                      </a:r>
                      <a:endParaRPr lang="hu-HU" sz="2000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hu-HU" sz="2000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hu-HU" sz="2000" dirty="0"/>
                        <a:t>Vázolja fel a célt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hu-HU" sz="2000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hu-HU" sz="2000" dirty="0"/>
                        <a:t>A részleteket inkább írásban közölje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hu-HU" sz="2000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hu-HU" sz="2000" dirty="0"/>
                        <a:t>Maradjon a témánál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sz="1800" dirty="0"/>
                        <a:t>Ne személyeskedjen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hu-HU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sz="1800" dirty="0"/>
                        <a:t>Ne legyenek olyan kijelentések, melyek nem bizonyíthatók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hu-HU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sz="1800" dirty="0"/>
                        <a:t>Ne legyen felszínes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hu-HU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sz="1800" dirty="0"/>
                        <a:t>Ne tűnjön rendezetlennek (sem ruházatban, sem eszközökben, sem anyagokban)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806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9453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A70BFEC-BBFD-401A-BE20-82A465F78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Hatékony kommunikáció I-vel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4E17A52-40F4-4E9B-80AA-AEF9FE205E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143561"/>
              </p:ext>
            </p:extLst>
          </p:nvPr>
        </p:nvGraphicFramePr>
        <p:xfrm>
          <a:off x="1195600" y="1828800"/>
          <a:ext cx="6819716" cy="37548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9858">
                  <a:extLst>
                    <a:ext uri="{9D8B030D-6E8A-4147-A177-3AD203B41FA5}">
                      <a16:colId xmlns:a16="http://schemas.microsoft.com/office/drawing/2014/main" val="3915128193"/>
                    </a:ext>
                  </a:extLst>
                </a:gridCol>
                <a:gridCol w="3409858">
                  <a:extLst>
                    <a:ext uri="{9D8B030D-6E8A-4147-A177-3AD203B41FA5}">
                      <a16:colId xmlns:a16="http://schemas.microsoft.com/office/drawing/2014/main" val="3555206184"/>
                    </a:ext>
                  </a:extLst>
                </a:gridCol>
              </a:tblGrid>
              <a:tr h="482970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hu-HU" dirty="0"/>
                        <a:t>Ajánlott</a:t>
                      </a:r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Kerülendő</a:t>
                      </a:r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366397"/>
                  </a:ext>
                </a:extLst>
              </a:tr>
              <a:tr h="3271903">
                <a:tc>
                  <a:txBody>
                    <a:bodyPr/>
                    <a:lstStyle/>
                    <a:p>
                      <a:pPr marL="285750" indent="-285750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hu-HU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Legyen nyitott, barátságos</a:t>
                      </a:r>
                    </a:p>
                    <a:p>
                      <a:pPr marL="285750" indent="-285750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hu-HU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Hagyjon időt bevezető társalgásra</a:t>
                      </a:r>
                    </a:p>
                    <a:p>
                      <a:pPr marL="285750" indent="-285750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hu-HU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Mondanivalója legyen érdekes, sokszínű</a:t>
                      </a:r>
                    </a:p>
                    <a:p>
                      <a:pPr marL="285750" indent="-285750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hu-HU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Érdeklődjön a mondanivalója iránt, figyeljen, hallgasson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hu-HU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 térjen rögtön a lényegre</a:t>
                      </a:r>
                    </a:p>
                    <a:p>
                      <a:pPr marL="285750" indent="-285750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hu-HU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 erőltesse a tényeket, számadatokat</a:t>
                      </a:r>
                    </a:p>
                    <a:p>
                      <a:pPr marL="285750" indent="-285750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hu-HU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 hűtse a lelkesedését</a:t>
                      </a:r>
                    </a:p>
                    <a:p>
                      <a:pPr marL="285750" indent="-285750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hu-HU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 vitatkozzon vele</a:t>
                      </a:r>
                    </a:p>
                    <a:p>
                      <a:pPr marL="285750" indent="-285750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hu-HU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 legyen távolságtartó</a:t>
                      </a:r>
                    </a:p>
                    <a:p>
                      <a:pPr marL="285750" indent="-285750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hu-HU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 fojtsa belé a szót</a:t>
                      </a:r>
                    </a:p>
                    <a:p>
                      <a:pPr marL="285750" indent="-285750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806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86436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A70BFEC-BBFD-401A-BE20-82A465F78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Hatékony kommunikáció S-el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4E17A52-40F4-4E9B-80AA-AEF9FE205E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348341"/>
              </p:ext>
            </p:extLst>
          </p:nvPr>
        </p:nvGraphicFramePr>
        <p:xfrm>
          <a:off x="1195600" y="1674056"/>
          <a:ext cx="6819716" cy="464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9858">
                  <a:extLst>
                    <a:ext uri="{9D8B030D-6E8A-4147-A177-3AD203B41FA5}">
                      <a16:colId xmlns:a16="http://schemas.microsoft.com/office/drawing/2014/main" val="3915128193"/>
                    </a:ext>
                  </a:extLst>
                </a:gridCol>
                <a:gridCol w="3409858">
                  <a:extLst>
                    <a:ext uri="{9D8B030D-6E8A-4147-A177-3AD203B41FA5}">
                      <a16:colId xmlns:a16="http://schemas.microsoft.com/office/drawing/2014/main" val="3555206184"/>
                    </a:ext>
                  </a:extLst>
                </a:gridCol>
              </a:tblGrid>
              <a:tr h="505264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hu-HU" dirty="0"/>
                        <a:t>Ajánlott</a:t>
                      </a:r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Kerülendő</a:t>
                      </a:r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366397"/>
                  </a:ext>
                </a:extLst>
              </a:tr>
              <a:tr h="4142936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hu-HU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Mutasson érzelmeket, teremtsen pozitív hangulatot, bizalomteli légkört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hu-HU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Hogyan kezdetű kérdésekkel tájékozódjon a másik véleményéről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hu-HU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Várjon türelmesen a reakciókra, hagyjon időt a válaszra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hu-HU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 nem ért egyet vele az érzéseiről beszéljen, ne a tényekről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hu-H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sz="1800" dirty="0"/>
                        <a:t>Ne vágjon rögtön a téma közepére, ne legyen türelmetlen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sz="1800" dirty="0"/>
                        <a:t>A célokat illetően ne kényszerítse túl gyors döntésre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sz="1800" dirty="0"/>
                        <a:t>Ne tűnjön bizalmatlannak, ellenségesnek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806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0412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A70BFEC-BBFD-401A-BE20-82A465F78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Hatékony kommunikáció C-vel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4E17A52-40F4-4E9B-80AA-AEF9FE205E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17628"/>
              </p:ext>
            </p:extLst>
          </p:nvPr>
        </p:nvGraphicFramePr>
        <p:xfrm>
          <a:off x="1195600" y="1828800"/>
          <a:ext cx="6819716" cy="40730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9858">
                  <a:extLst>
                    <a:ext uri="{9D8B030D-6E8A-4147-A177-3AD203B41FA5}">
                      <a16:colId xmlns:a16="http://schemas.microsoft.com/office/drawing/2014/main" val="3915128193"/>
                    </a:ext>
                  </a:extLst>
                </a:gridCol>
                <a:gridCol w="3409858">
                  <a:extLst>
                    <a:ext uri="{9D8B030D-6E8A-4147-A177-3AD203B41FA5}">
                      <a16:colId xmlns:a16="http://schemas.microsoft.com/office/drawing/2014/main" val="3555206184"/>
                    </a:ext>
                  </a:extLst>
                </a:gridCol>
              </a:tblGrid>
              <a:tr h="382237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hu-HU" dirty="0"/>
                        <a:t>Ajánlott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Kerülendő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366397"/>
                  </a:ext>
                </a:extLst>
              </a:tr>
              <a:tr h="3690791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hu-HU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Precízen fogalmazzon, kerülje a töltelékszavakat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hu-HU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Készüljön fel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hu-HU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Maradjon mindig a témánál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hu-HU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Legyen tárgyilagos: előnyöket és hátrányokat is hozzon fel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sz="1800" dirty="0"/>
                        <a:t>Ne legyen könnyelmű, laza, közvetlen vagy hangoskodó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sz="1800" dirty="0"/>
                        <a:t>Ne akarjon bizalmaskodni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sz="1800" dirty="0"/>
                        <a:t>Ne csináljon show-t, ne rugaszkodjon el a realitástól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sz="1800" dirty="0"/>
                        <a:t>Ne tegyen üres ígéretek, adjon biztonságot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806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3801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58FE1-2489-4F6E-952D-46D123408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Hozzájárulása a csapathoz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62E4032-42AE-474D-9C6D-9701E9B08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574340"/>
              </p:ext>
            </p:extLst>
          </p:nvPr>
        </p:nvGraphicFramePr>
        <p:xfrm>
          <a:off x="1219200" y="1752600"/>
          <a:ext cx="6571343" cy="47607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8241">
                  <a:extLst>
                    <a:ext uri="{9D8B030D-6E8A-4147-A177-3AD203B41FA5}">
                      <a16:colId xmlns:a16="http://schemas.microsoft.com/office/drawing/2014/main" val="4191925566"/>
                    </a:ext>
                  </a:extLst>
                </a:gridCol>
                <a:gridCol w="3353102">
                  <a:extLst>
                    <a:ext uri="{9D8B030D-6E8A-4147-A177-3AD203B41FA5}">
                      <a16:colId xmlns:a16="http://schemas.microsoft.com/office/drawing/2014/main" val="3444458496"/>
                    </a:ext>
                  </a:extLst>
                </a:gridCol>
              </a:tblGrid>
              <a:tr h="2230867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2000" b="1" dirty="0">
                          <a:solidFill>
                            <a:schemeClr val="tx1"/>
                          </a:solidFill>
                        </a:rPr>
                        <a:t>Magas színvonalat követel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2000" b="1" dirty="0">
                          <a:solidFill>
                            <a:schemeClr val="tx1"/>
                          </a:solidFill>
                        </a:rPr>
                        <a:t>Lelkiismeretes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2000" b="1" dirty="0">
                          <a:solidFill>
                            <a:schemeClr val="tx1"/>
                          </a:solidFill>
                        </a:rPr>
                        <a:t>Meghatároz, tisztáz, információt gyűjt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2000" b="1" dirty="0">
                          <a:solidFill>
                            <a:schemeClr val="tx1"/>
                          </a:solidFill>
                        </a:rPr>
                        <a:t>Sokoldalú problémamegoldó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2000" b="1" dirty="0">
                          <a:solidFill>
                            <a:schemeClr val="tx1"/>
                          </a:solidFill>
                        </a:rPr>
                        <a:t>Született vezető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2000" b="1" dirty="0">
                          <a:solidFill>
                            <a:schemeClr val="tx1"/>
                          </a:solidFill>
                        </a:rPr>
                        <a:t>Jövőbe tekintő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2000" b="1" dirty="0">
                          <a:solidFill>
                            <a:schemeClr val="tx1"/>
                          </a:solidFill>
                        </a:rPr>
                        <a:t>Kedveli a kihívást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2000" b="1" dirty="0">
                          <a:solidFill>
                            <a:schemeClr val="tx1"/>
                          </a:solidFill>
                        </a:rPr>
                        <a:t>Cselekvésre buzdít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2000" b="1" dirty="0">
                          <a:solidFill>
                            <a:schemeClr val="tx1"/>
                          </a:solidFill>
                        </a:rPr>
                        <a:t>Innovatív</a:t>
                      </a:r>
                    </a:p>
                  </a:txBody>
                  <a:tcPr>
                    <a:solidFill>
                      <a:srgbClr val="F672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372987"/>
                  </a:ext>
                </a:extLst>
              </a:tr>
              <a:tr h="2036333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2000" b="1" dirty="0"/>
                        <a:t>Megbízható csapatjátékos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2000" b="1" dirty="0"/>
                        <a:t>Türelmes és empatikus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2000" b="1" dirty="0"/>
                        <a:t>Lépésről lépésre gondolkodik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2000" b="1" dirty="0"/>
                        <a:t>Mások igényeire figyel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2000" b="1" dirty="0"/>
                        <a:t>Optimizmus és lelkesedés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2000" b="1" dirty="0"/>
                        <a:t>Kreatív problémamegoldó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2000" b="1" dirty="0"/>
                        <a:t>A cél elérésére buzdít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2000" b="1" dirty="0"/>
                        <a:t>Csapatjátékos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060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40252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A70BFEC-BBFD-401A-BE20-82A465F78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D, mint vezető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4E17A52-40F4-4E9B-80AA-AEF9FE205E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618250"/>
              </p:ext>
            </p:extLst>
          </p:nvPr>
        </p:nvGraphicFramePr>
        <p:xfrm>
          <a:off x="1195600" y="1828800"/>
          <a:ext cx="6653000" cy="40730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3000">
                  <a:extLst>
                    <a:ext uri="{9D8B030D-6E8A-4147-A177-3AD203B41FA5}">
                      <a16:colId xmlns:a16="http://schemas.microsoft.com/office/drawing/2014/main" val="3915128193"/>
                    </a:ext>
                  </a:extLst>
                </a:gridCol>
              </a:tblGrid>
              <a:tr h="523893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hu-HU" sz="2000" dirty="0"/>
                        <a:t>„A tett halála az okoskodás”</a:t>
                      </a:r>
                      <a:endParaRPr lang="en-US" sz="20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366397"/>
                  </a:ext>
                </a:extLst>
              </a:tr>
              <a:tr h="3549135">
                <a:tc>
                  <a:txBody>
                    <a:bodyPr/>
                    <a:lstStyle/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hu-HU" sz="2000" dirty="0"/>
                        <a:t>Szeretik kitűzni a célt, beindítani a dolgokat </a:t>
                      </a:r>
                    </a:p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hu-HU" sz="2000" dirty="0"/>
                        <a:t>Energiát addig raknak bele, amíg kihívást jelent számukra</a:t>
                      </a:r>
                    </a:p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hu-HU" sz="2000" dirty="0"/>
                        <a:t>Olyan emberek szeretnek maguk körül: akik </a:t>
                      </a:r>
                      <a:r>
                        <a:rPr lang="hu-HU" sz="2000" dirty="0" err="1"/>
                        <a:t>önállóak</a:t>
                      </a:r>
                      <a:r>
                        <a:rPr lang="hu-HU" sz="2000" dirty="0"/>
                        <a:t>, önmagukért, munkájukért felelősséget vállalnak, akikre lehet építeni, akikben meg tudnak bízni, akik a háttérből támogatják őket céljaik elérése érdekében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806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40582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A70BFEC-BBFD-401A-BE20-82A465F78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I, mint vezető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4E17A52-40F4-4E9B-80AA-AEF9FE205E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970269"/>
              </p:ext>
            </p:extLst>
          </p:nvPr>
        </p:nvGraphicFramePr>
        <p:xfrm>
          <a:off x="1195600" y="1828800"/>
          <a:ext cx="6653000" cy="40730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3000">
                  <a:extLst>
                    <a:ext uri="{9D8B030D-6E8A-4147-A177-3AD203B41FA5}">
                      <a16:colId xmlns:a16="http://schemas.microsoft.com/office/drawing/2014/main" val="3915128193"/>
                    </a:ext>
                  </a:extLst>
                </a:gridCol>
              </a:tblGrid>
              <a:tr h="523893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hu-HU" sz="2000" dirty="0"/>
                        <a:t>„A változatosság gyönyörködtet”</a:t>
                      </a:r>
                      <a:endParaRPr lang="en-US" sz="2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366397"/>
                  </a:ext>
                </a:extLst>
              </a:tr>
              <a:tr h="3549135">
                <a:tc>
                  <a:txBody>
                    <a:bodyPr/>
                    <a:lstStyle/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hu-HU" sz="2000" dirty="0"/>
                        <a:t>A lelkesedésük vezérli őket</a:t>
                      </a:r>
                    </a:p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hu-HU" sz="2000" dirty="0"/>
                        <a:t>A szimpátia nagyon fontos számukra</a:t>
                      </a:r>
                    </a:p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hu-HU" sz="2000" dirty="0"/>
                        <a:t>Ösztönös megérzéseikre hallgatva hoznak döntéseket</a:t>
                      </a:r>
                    </a:p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hu-HU" sz="2000" dirty="0"/>
                        <a:t>Egy újabb impulzus könnyen el tudja terelni a döntésüket</a:t>
                      </a:r>
                    </a:p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hu-HU" sz="2000" dirty="0"/>
                        <a:t>Emberi kapcsolatokat keresnek, ez tölti fel őket újra energiával</a:t>
                      </a:r>
                    </a:p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hu-HU" sz="2000" dirty="0"/>
                        <a:t>Hajlamosak lehetnek ide-oda kapkodni, elcsúszni határidőkkel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806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93698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A70BFEC-BBFD-401A-BE20-82A465F78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S, mint vezető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4E17A52-40F4-4E9B-80AA-AEF9FE205E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447034"/>
              </p:ext>
            </p:extLst>
          </p:nvPr>
        </p:nvGraphicFramePr>
        <p:xfrm>
          <a:off x="1195600" y="1828800"/>
          <a:ext cx="6957800" cy="4272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7800">
                  <a:extLst>
                    <a:ext uri="{9D8B030D-6E8A-4147-A177-3AD203B41FA5}">
                      <a16:colId xmlns:a16="http://schemas.microsoft.com/office/drawing/2014/main" val="3915128193"/>
                    </a:ext>
                  </a:extLst>
                </a:gridCol>
              </a:tblGrid>
              <a:tr h="523893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hu-HU" sz="2000" dirty="0"/>
                        <a:t>„A türelem rózsát terem”</a:t>
                      </a:r>
                      <a:endParaRPr lang="en-US" sz="20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366397"/>
                  </a:ext>
                </a:extLst>
              </a:tr>
              <a:tr h="3549135">
                <a:tc>
                  <a:txBody>
                    <a:bodyPr/>
                    <a:lstStyle/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hu-HU" sz="2000" dirty="0"/>
                        <a:t>Mivel szeretik a nyugodt, kiszámítható légkört, vezetőként is arra törekszenek, hogy ilyet hozzanak létre maguk körül</a:t>
                      </a:r>
                    </a:p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hu-HU" sz="2000" dirty="0"/>
                        <a:t>A hierarchikus stílus helyett a bizalmi légkörben hisznek, ajtajuk mindig nyitva áll, hozzájuk bármikor be lehet térni</a:t>
                      </a:r>
                    </a:p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hu-HU" sz="2000" dirty="0"/>
                        <a:t>Türelmesek, </a:t>
                      </a:r>
                      <a:r>
                        <a:rPr lang="hu-HU" sz="2000" dirty="0" err="1"/>
                        <a:t>megértőek</a:t>
                      </a:r>
                      <a:r>
                        <a:rPr lang="hu-HU" sz="2000" dirty="0"/>
                        <a:t> a beosztottakkal</a:t>
                      </a:r>
                    </a:p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hu-HU" sz="2000" dirty="0"/>
                        <a:t>Név szerint ismerik az embereket, személyes kapcsolatot is fenntartanak velük</a:t>
                      </a:r>
                    </a:p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hu-HU" sz="2000" dirty="0"/>
                        <a:t>Nehézséget okoz számukra, ha </a:t>
                      </a:r>
                      <a:r>
                        <a:rPr lang="hu-HU" sz="2000" dirty="0" err="1"/>
                        <a:t>számonkérőnek</a:t>
                      </a:r>
                      <a:r>
                        <a:rPr lang="hu-HU" sz="2000" dirty="0"/>
                        <a:t> kell lenni</a:t>
                      </a:r>
                    </a:p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hu-HU" sz="2000" dirty="0"/>
                        <a:t>Személyes kudarcnak élik meg, ha valaki felmond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806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83145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A70BFEC-BBFD-401A-BE20-82A465F78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C, mint vezető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4E17A52-40F4-4E9B-80AA-AEF9FE205E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824989"/>
              </p:ext>
            </p:extLst>
          </p:nvPr>
        </p:nvGraphicFramePr>
        <p:xfrm>
          <a:off x="1195600" y="1828800"/>
          <a:ext cx="6957800" cy="40730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7800">
                  <a:extLst>
                    <a:ext uri="{9D8B030D-6E8A-4147-A177-3AD203B41FA5}">
                      <a16:colId xmlns:a16="http://schemas.microsoft.com/office/drawing/2014/main" val="3915128193"/>
                    </a:ext>
                  </a:extLst>
                </a:gridCol>
              </a:tblGrid>
              <a:tr h="523893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hu-HU" sz="2000" dirty="0"/>
                        <a:t>„Az ördög a részletekben rejlik”</a:t>
                      </a:r>
                      <a:endParaRPr lang="en-US" sz="2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366397"/>
                  </a:ext>
                </a:extLst>
              </a:tr>
              <a:tr h="3549135">
                <a:tc>
                  <a:txBody>
                    <a:bodyPr/>
                    <a:lstStyle/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hu-HU" sz="2000" dirty="0" err="1"/>
                        <a:t>Távolságtartóak</a:t>
                      </a:r>
                      <a:r>
                        <a:rPr lang="hu-HU" sz="2000" dirty="0"/>
                        <a:t>, némiképpen hűvösek</a:t>
                      </a:r>
                    </a:p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hu-HU" sz="2000" dirty="0"/>
                        <a:t>Jobban szeretnek egyedül, elvonultan dolgozni</a:t>
                      </a:r>
                    </a:p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hu-HU" sz="2000" dirty="0"/>
                        <a:t>Embereiket nem feltétlenül ismerik</a:t>
                      </a:r>
                    </a:p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hu-HU" sz="2000" dirty="0"/>
                        <a:t>Azokra figyelnek fel, akik hozzájuk hasonlóan alapos, precíz, pontos munkát végeznek</a:t>
                      </a:r>
                    </a:p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hu-HU" sz="2000" dirty="0"/>
                        <a:t>Szeretik, ha </a:t>
                      </a:r>
                      <a:r>
                        <a:rPr lang="hu-HU" sz="2000" dirty="0" err="1"/>
                        <a:t>struktúrált</a:t>
                      </a:r>
                      <a:r>
                        <a:rPr lang="hu-HU" sz="2000" dirty="0"/>
                        <a:t> rendben haladnak a dolgok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hu-H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806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93877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58FE1-2489-4F6E-952D-46D123408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Kedvelt prezentációs elemek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62E4032-42AE-474D-9C6D-9701E9B08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705059"/>
              </p:ext>
            </p:extLst>
          </p:nvPr>
        </p:nvGraphicFramePr>
        <p:xfrm>
          <a:off x="1219200" y="1752600"/>
          <a:ext cx="6571343" cy="4455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8241">
                  <a:extLst>
                    <a:ext uri="{9D8B030D-6E8A-4147-A177-3AD203B41FA5}">
                      <a16:colId xmlns:a16="http://schemas.microsoft.com/office/drawing/2014/main" val="4191925566"/>
                    </a:ext>
                  </a:extLst>
                </a:gridCol>
                <a:gridCol w="3353102">
                  <a:extLst>
                    <a:ext uri="{9D8B030D-6E8A-4147-A177-3AD203B41FA5}">
                      <a16:colId xmlns:a16="http://schemas.microsoft.com/office/drawing/2014/main" val="3444458496"/>
                    </a:ext>
                  </a:extLst>
                </a:gridCol>
              </a:tblGrid>
              <a:tr h="2230867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Precíz, felkészült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Logikai struktúra mentén, részletekbe menően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Kérdéseikre azonnal kapjanak egzakt és tényszerű választ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 legyen hatásvadász stílus (Kerülni kell a csillogást, felszínesség látszatát.)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400" b="0" dirty="0" err="1">
                          <a:solidFill>
                            <a:schemeClr val="tx1"/>
                          </a:solidFill>
                        </a:rPr>
                        <a:t>Hight-tech</a:t>
                      </a:r>
                      <a:r>
                        <a:rPr lang="hu-HU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400" b="0" dirty="0">
                          <a:solidFill>
                            <a:schemeClr val="tx1"/>
                          </a:solidFill>
                        </a:rPr>
                        <a:t>Képi megjelenítés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400" b="0" dirty="0">
                          <a:solidFill>
                            <a:schemeClr val="tx1"/>
                          </a:solidFill>
                        </a:rPr>
                        <a:t>Modellben gondolkodva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400" b="0" dirty="0">
                          <a:solidFill>
                            <a:schemeClr val="tx1"/>
                          </a:solidFill>
                        </a:rPr>
                        <a:t>Eredményesség, stratégia hangsúlyozása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Jövő orientáció</a:t>
                      </a:r>
                    </a:p>
                    <a:p>
                      <a:pPr marL="342900" indent="-342900" algn="l" defTabSz="6858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hu-HU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Végcélra fókuszálás, részletek kerülése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hu-H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672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372987"/>
                  </a:ext>
                </a:extLst>
              </a:tr>
              <a:tr h="2036333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400" b="0" dirty="0"/>
                        <a:t>Bizalmi, baráti, meleg légkör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400" b="0" dirty="0"/>
                        <a:t>Kapcsolatok hangsúlyozása (milyen ismereteken keresztül jutottunk el hozzá, ki ajánlotta)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400" b="0" dirty="0"/>
                        <a:t>Kerek, harmonikus megfogalmazás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400" b="0" dirty="0"/>
                        <a:t>Lépésről lépésre felépített, nyugodt stílusú előadás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400" b="0" dirty="0"/>
                        <a:t>Írott formában is adott prezentáció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400" b="0" dirty="0"/>
                        <a:t>Érzelmi ráhangolás, személyes </a:t>
                      </a:r>
                      <a:r>
                        <a:rPr lang="hu-HU" sz="1400" b="0" dirty="0" err="1"/>
                        <a:t>bevonódás</a:t>
                      </a:r>
                      <a:endParaRPr lang="hu-HU" sz="1400" b="0" dirty="0"/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400" b="0" dirty="0"/>
                        <a:t>Interaktivitás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400" b="0" dirty="0"/>
                        <a:t>Élmény-központúság, játékosság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400" b="0" dirty="0"/>
                        <a:t>Témák váltogatása az érdeklődés fenntartása érdekében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060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8470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58FE1-2489-4F6E-952D-46D123408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Stressz megjelenésekor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62E4032-42AE-474D-9C6D-9701E9B08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39357"/>
              </p:ext>
            </p:extLst>
          </p:nvPr>
        </p:nvGraphicFramePr>
        <p:xfrm>
          <a:off x="1219200" y="1752600"/>
          <a:ext cx="6571343" cy="35087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8241">
                  <a:extLst>
                    <a:ext uri="{9D8B030D-6E8A-4147-A177-3AD203B41FA5}">
                      <a16:colId xmlns:a16="http://schemas.microsoft.com/office/drawing/2014/main" val="4191925566"/>
                    </a:ext>
                  </a:extLst>
                </a:gridCol>
                <a:gridCol w="3353102">
                  <a:extLst>
                    <a:ext uri="{9D8B030D-6E8A-4147-A177-3AD203B41FA5}">
                      <a16:colId xmlns:a16="http://schemas.microsoft.com/office/drawing/2014/main" val="3444458496"/>
                    </a:ext>
                  </a:extLst>
                </a:gridCol>
              </a:tblGrid>
              <a:tr h="2230867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Kötekedő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Szőrszálhasogató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Túl kritikus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Pesszimista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800" b="0" dirty="0">
                          <a:solidFill>
                            <a:schemeClr val="tx1"/>
                          </a:solidFill>
                        </a:rPr>
                        <a:t>Kötekedő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800" b="0" dirty="0">
                          <a:solidFill>
                            <a:schemeClr val="tx1"/>
                          </a:solidFill>
                        </a:rPr>
                        <a:t>Erőszakos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800" b="0" dirty="0">
                          <a:solidFill>
                            <a:schemeClr val="tx1"/>
                          </a:solidFill>
                        </a:rPr>
                        <a:t>Ideges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800" b="0" dirty="0">
                          <a:solidFill>
                            <a:schemeClr val="tx1"/>
                          </a:solidFill>
                        </a:rPr>
                        <a:t>Önző</a:t>
                      </a:r>
                    </a:p>
                  </a:txBody>
                  <a:tcPr>
                    <a:solidFill>
                      <a:srgbClr val="F672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372987"/>
                  </a:ext>
                </a:extLst>
              </a:tr>
              <a:tr h="1277919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800" b="0" dirty="0"/>
                        <a:t>Szófukar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800" b="0" dirty="0"/>
                        <a:t>Rugalmatlan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800" b="0" dirty="0"/>
                        <a:t>Közönyös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800" b="0" dirty="0"/>
                        <a:t>Habozó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800" b="0" dirty="0"/>
                        <a:t>Fecsegő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800" b="0" dirty="0"/>
                        <a:t>Irreálisan optimista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800" b="0" dirty="0"/>
                        <a:t>Önmagát előtérbe helyező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06073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B8C0156-42DD-40A6-A9DF-2EC31647D515}"/>
              </a:ext>
            </a:extLst>
          </p:cNvPr>
          <p:cNvSpPr txBox="1"/>
          <p:nvPr/>
        </p:nvSpPr>
        <p:spPr>
          <a:xfrm>
            <a:off x="1128684" y="5502016"/>
            <a:ext cx="708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 dirty="0"/>
              <a:t>Stressz megjelenésekor: Az eredeti sajátosságok felerősödnek. 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1295310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58FE1-2489-4F6E-952D-46D123408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Tartós stressz esetén 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62E4032-42AE-474D-9C6D-9701E9B08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134396"/>
              </p:ext>
            </p:extLst>
          </p:nvPr>
        </p:nvGraphicFramePr>
        <p:xfrm>
          <a:off x="1219200" y="1752600"/>
          <a:ext cx="6571343" cy="3693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8241">
                  <a:extLst>
                    <a:ext uri="{9D8B030D-6E8A-4147-A177-3AD203B41FA5}">
                      <a16:colId xmlns:a16="http://schemas.microsoft.com/office/drawing/2014/main" val="4191925566"/>
                    </a:ext>
                  </a:extLst>
                </a:gridCol>
                <a:gridCol w="3353102">
                  <a:extLst>
                    <a:ext uri="{9D8B030D-6E8A-4147-A177-3AD203B41FA5}">
                      <a16:colId xmlns:a16="http://schemas.microsoft.com/office/drawing/2014/main" val="3444458496"/>
                    </a:ext>
                  </a:extLst>
                </a:gridCol>
              </a:tblGrid>
              <a:tr h="2230867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Hanyaggá, felületessé válik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Feladja a maximalizmusát és minőségre való törekvését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800" b="0" dirty="0">
                          <a:solidFill>
                            <a:schemeClr val="tx1"/>
                          </a:solidFill>
                        </a:rPr>
                        <a:t>Elvonul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800" b="0" dirty="0">
                          <a:solidFill>
                            <a:schemeClr val="tx1"/>
                          </a:solidFill>
                        </a:rPr>
                        <a:t>Kivonja magát a dolgok irányításából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800" b="0" dirty="0">
                          <a:solidFill>
                            <a:schemeClr val="tx1"/>
                          </a:solidFill>
                        </a:rPr>
                        <a:t>Befelé fordul, nyalogatja a sebeit</a:t>
                      </a:r>
                    </a:p>
                  </a:txBody>
                  <a:tcPr>
                    <a:solidFill>
                      <a:srgbClr val="F672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372987"/>
                  </a:ext>
                </a:extLst>
              </a:tr>
              <a:tr h="1277919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800" b="0" dirty="0"/>
                        <a:t>Erőteljessé válik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800" b="0" dirty="0"/>
                        <a:t>Kilép az addigi megszokott terepéről, váratlan kitörést produkál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800" b="0" dirty="0"/>
                        <a:t>Kerüli a társaságot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800" b="0" dirty="0"/>
                        <a:t>Hallgataggá válik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800" b="0" dirty="0"/>
                        <a:t>Kikapcsolja a telefonját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06073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0ED6A9A-5C89-4874-96E5-BA5084DFC054}"/>
              </a:ext>
            </a:extLst>
          </p:cNvPr>
          <p:cNvSpPr txBox="1"/>
          <p:nvPr/>
        </p:nvSpPr>
        <p:spPr>
          <a:xfrm>
            <a:off x="838200" y="5717162"/>
            <a:ext cx="7862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 dirty="0"/>
              <a:t>Tartós stressz esetén: Az eredeti sajátosságok </a:t>
            </a:r>
            <a:r>
              <a:rPr lang="hu-HU" i="1" dirty="0" err="1"/>
              <a:t>ellentéte</a:t>
            </a:r>
            <a:r>
              <a:rPr lang="hu-HU" i="1" dirty="0"/>
              <a:t> jelentkezik. 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1887596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58FE1-2489-4F6E-952D-46D123408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Stressz feloldása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62E4032-42AE-474D-9C6D-9701E9B08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315167"/>
              </p:ext>
            </p:extLst>
          </p:nvPr>
        </p:nvGraphicFramePr>
        <p:xfrm>
          <a:off x="1219200" y="1752600"/>
          <a:ext cx="6571343" cy="45168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8241">
                  <a:extLst>
                    <a:ext uri="{9D8B030D-6E8A-4147-A177-3AD203B41FA5}">
                      <a16:colId xmlns:a16="http://schemas.microsoft.com/office/drawing/2014/main" val="4191925566"/>
                    </a:ext>
                  </a:extLst>
                </a:gridCol>
                <a:gridCol w="3353102">
                  <a:extLst>
                    <a:ext uri="{9D8B030D-6E8A-4147-A177-3AD203B41FA5}">
                      <a16:colId xmlns:a16="http://schemas.microsoft.com/office/drawing/2014/main" val="3444458496"/>
                    </a:ext>
                  </a:extLst>
                </a:gridCol>
              </a:tblGrid>
              <a:tr h="2230867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Kielemezni együtt a problémát, igazat adni neki: „</a:t>
                      </a:r>
                      <a:r>
                        <a:rPr lang="hu-HU" sz="1800" b="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Hogy jutottunk ide? Mit kell legközelebb másképpen csinálni</a:t>
                      </a:r>
                      <a:r>
                        <a:rPr lang="hu-H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?”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Részletekbe menni.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Ráparancsolni: </a:t>
                      </a:r>
                      <a:r>
                        <a:rPr lang="hu-HU" sz="1800" b="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„Szedd össze magad!”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hu-HU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Ezzel helyette hoznánk döntéseket, így kiprovokáljuk a dominanciáját.</a:t>
                      </a:r>
                    </a:p>
                  </a:txBody>
                  <a:tcPr>
                    <a:solidFill>
                      <a:srgbClr val="F672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372987"/>
                  </a:ext>
                </a:extLst>
              </a:tr>
              <a:tr h="1277919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Megkérdezni, bizalommal meghallgatni: „</a:t>
                      </a:r>
                      <a:r>
                        <a:rPr lang="hu-HU" sz="1800" b="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Fontos vagy, ezért tudni szeretném, mi van veled</a:t>
                      </a:r>
                      <a:r>
                        <a:rPr lang="hu-H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.”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Nem sürgetni!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Elfogadni.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Kibeszéltetni: </a:t>
                      </a:r>
                      <a:r>
                        <a:rPr lang="hu-HU" sz="1800" b="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„Mi történt, mesélj!”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hu-HU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hu-H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Minél több emberrel, minél több oldalról beszéli át, annál inkább energiát nyer.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060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8764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www.kepeslap.com/images/24245/lanchid2_origi.jpg">
            <a:extLst>
              <a:ext uri="{FF2B5EF4-FFF2-40B4-BE49-F238E27FC236}">
                <a16:creationId xmlns:a16="http://schemas.microsoft.com/office/drawing/2014/main" id="{7CC61933-3711-4090-8B76-403005D407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0" r="4971" b="-1"/>
          <a:stretch/>
        </p:blipFill>
        <p:spPr bwMode="auto">
          <a:xfrm>
            <a:off x="20" y="10"/>
            <a:ext cx="914375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743200" y="5193569"/>
            <a:ext cx="3352800" cy="955630"/>
          </a:xfrm>
          <a:solidFill>
            <a:schemeClr val="tx1">
              <a:alpha val="58000"/>
            </a:schemeClr>
          </a:solidFill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dirty="0" err="1">
                <a:solidFill>
                  <a:srgbClr val="FFFFFE"/>
                </a:solidFill>
              </a:rPr>
              <a:t>Jó</a:t>
            </a:r>
            <a:r>
              <a:rPr lang="en-US" dirty="0">
                <a:solidFill>
                  <a:srgbClr val="FFFFFE"/>
                </a:solidFill>
              </a:rPr>
              <a:t> </a:t>
            </a:r>
            <a:r>
              <a:rPr lang="en-US" dirty="0" err="1">
                <a:solidFill>
                  <a:srgbClr val="FFFFFE"/>
                </a:solidFill>
              </a:rPr>
              <a:t>éjszakát</a:t>
            </a:r>
            <a:r>
              <a:rPr lang="en-US" dirty="0">
                <a:solidFill>
                  <a:srgbClr val="FFFFFE"/>
                </a:solidFill>
              </a:rPr>
              <a:t> … 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>
          <a:xfrm>
            <a:off x="8296300" y="4922730"/>
            <a:ext cx="608264" cy="5035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fld id="{753B17E5-C457-4297-BDE7-E43B45805AC6}" type="slidenum">
              <a:rPr 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pPr algn="l">
                <a:lnSpc>
                  <a:spcPct val="90000"/>
                </a:lnSpc>
                <a:spcAft>
                  <a:spcPts val="600"/>
                </a:spcAft>
                <a:defRPr/>
              </a:pPr>
              <a:t>27</a:t>
            </a:fld>
            <a:endParaRPr 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71806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04B663"/>
      </a:accent4>
      <a:accent5>
        <a:srgbClr val="DF8822"/>
      </a:accent5>
      <a:accent6>
        <a:srgbClr val="BC410A"/>
      </a:accent6>
      <a:hlink>
        <a:srgbClr val="5977C4"/>
      </a:hlink>
      <a:folHlink>
        <a:srgbClr val="0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Gallery">
    <a:dk1>
      <a:sysClr val="windowText" lastClr="000000"/>
    </a:dk1>
    <a:lt1>
      <a:sysClr val="window" lastClr="FFFFFF"/>
    </a:lt1>
    <a:dk2>
      <a:srgbClr val="454545"/>
    </a:dk2>
    <a:lt2>
      <a:srgbClr val="DCDCE0"/>
    </a:lt2>
    <a:accent1>
      <a:srgbClr val="415588"/>
    </a:accent1>
    <a:accent2>
      <a:srgbClr val="4294B6"/>
    </a:accent2>
    <a:accent3>
      <a:srgbClr val="087D7C"/>
    </a:accent3>
    <a:accent4>
      <a:srgbClr val="04B663"/>
    </a:accent4>
    <a:accent5>
      <a:srgbClr val="DF8822"/>
    </a:accent5>
    <a:accent6>
      <a:srgbClr val="BC410A"/>
    </a:accent6>
    <a:hlink>
      <a:srgbClr val="5977C4"/>
    </a:hlink>
    <a:folHlink>
      <a:srgbClr val="01A9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2154</TotalTime>
  <Words>1517</Words>
  <Application>Microsoft Office PowerPoint</Application>
  <PresentationFormat>On-screen Show (4:3)</PresentationFormat>
  <Paragraphs>421</Paragraphs>
  <Slides>27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Century Gothic</vt:lpstr>
      <vt:lpstr>Wingdings</vt:lpstr>
      <vt:lpstr>Gallery</vt:lpstr>
      <vt:lpstr>Projektirányítás az informatikában </vt:lpstr>
      <vt:lpstr>Kérdőív</vt:lpstr>
      <vt:lpstr>Megoldó kulcs</vt:lpstr>
      <vt:lpstr>DISC</vt:lpstr>
      <vt:lpstr>DISC</vt:lpstr>
      <vt:lpstr>DISC modell</vt:lpstr>
      <vt:lpstr>Ahogyan mi látjuk magunkat …</vt:lpstr>
      <vt:lpstr>Ahogyan kritikusaink láthatnak minket …</vt:lpstr>
      <vt:lpstr>Domináns</vt:lpstr>
      <vt:lpstr>Befolyásoló</vt:lpstr>
      <vt:lpstr>Kitartó</vt:lpstr>
      <vt:lpstr>Szabálytisztelő</vt:lpstr>
      <vt:lpstr>Feladat </vt:lpstr>
      <vt:lpstr>Hatékony kommunikáció D-vel</vt:lpstr>
      <vt:lpstr>Hatékony kommunikáció I-vel</vt:lpstr>
      <vt:lpstr>Hatékony kommunikáció S-el</vt:lpstr>
      <vt:lpstr>Hatékony kommunikáció C-vel</vt:lpstr>
      <vt:lpstr>Hozzájárulása a csapathoz</vt:lpstr>
      <vt:lpstr>D, mint vezető</vt:lpstr>
      <vt:lpstr>I, mint vezető</vt:lpstr>
      <vt:lpstr>S, mint vezető</vt:lpstr>
      <vt:lpstr>C, mint vezető</vt:lpstr>
      <vt:lpstr>Kedvelt prezentációs elemek</vt:lpstr>
      <vt:lpstr>Stressz megjelenésekor</vt:lpstr>
      <vt:lpstr>Tartós stressz esetén </vt:lpstr>
      <vt:lpstr>Stressz feloldása</vt:lpstr>
      <vt:lpstr>Jó éjszakát …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Projektirányítás az informatikában</dc:title>
  <dc:creator>Eniko Ilyes</dc:creator>
  <cp:lastModifiedBy>Eniko Ilyes</cp:lastModifiedBy>
  <cp:revision>80</cp:revision>
  <dcterms:created xsi:type="dcterms:W3CDTF">2018-10-18T14:26:32Z</dcterms:created>
  <dcterms:modified xsi:type="dcterms:W3CDTF">2021-11-10T19:29:56Z</dcterms:modified>
</cp:coreProperties>
</file>