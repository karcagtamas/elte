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_rels/notesSlide1.xml.rels" ContentType="application/vnd.openxmlformats-package.relationships+xml"/>
  <Override PartName="/ppt/notesSlides/notesSlide1.xml" ContentType="application/vnd.openxmlformats-officedocument.presentationml.notesSlide+xml"/>
  <Override PartName="/ppt/_rels/presentation.xml.rels" ContentType="application/vnd.openxmlformats-package.relationships+xml"/>
  <Override PartName="/ppt/media/image10.jpeg" ContentType="image/jpeg"/>
  <Override PartName="/ppt/media/image8.jpeg" ContentType="image/jpeg"/>
  <Override PartName="/ppt/media/image5.png" ContentType="image/png"/>
  <Override PartName="/ppt/media/image16.jpeg" ContentType="image/jpeg"/>
  <Override PartName="/ppt/media/image15.jpeg" ContentType="image/jpeg"/>
  <Override PartName="/ppt/media/image14.jpeg" ContentType="image/jpeg"/>
  <Override PartName="/ppt/media/image2.png" ContentType="image/png"/>
  <Override PartName="/ppt/media/image1.jpeg" ContentType="image/jpeg"/>
  <Override PartName="/ppt/media/image3.jpeg" ContentType="image/jpeg"/>
  <Override PartName="/ppt/media/image4.png" ContentType="image/png"/>
  <Override PartName="/ppt/media/image13.jpeg" ContentType="image/jpeg"/>
  <Override PartName="/ppt/media/image6.jpeg" ContentType="image/jpeg"/>
  <Override PartName="/ppt/media/image9.jpeg" ContentType="image/jpeg"/>
  <Override PartName="/ppt/media/image11.jpeg" ContentType="image/jpeg"/>
  <Override PartName="/ppt/media/image7.jpeg" ContentType="image/jpeg"/>
  <Override PartName="/ppt/media/image12.jpeg" ContentType="image/jpeg"/>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8.xml" ContentType="application/vnd.openxmlformats-officedocument.presentationml.slide+xml"/>
  <Override PartName="/ppt/slides/_rels/slide17.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16.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4.xml.rels" ContentType="application/vnd.openxmlformats-package.relationships+xml"/>
  <Override PartName="/ppt/slides/_rels/slide27.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28.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slide16.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x="9144000" cy="6858000"/>
  <p:notesSz cx="6888163" cy="100187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Century Gothic"/>
              </a:rPr>
              <a:t>Click to move the slide</a:t>
            </a:r>
            <a:endParaRPr b="0" lang="en-US" sz="1800" spc="-1" strike="noStrike">
              <a:solidFill>
                <a:srgbClr val="000000"/>
              </a:solidFill>
              <a:latin typeface="Century Gothic"/>
            </a:endParaRPr>
          </a:p>
        </p:txBody>
      </p:sp>
      <p:sp>
        <p:nvSpPr>
          <p:cNvPr id="9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92"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93" name="PlaceHolder 4"/>
          <p:cNvSpPr>
            <a:spLocks noGrp="1"/>
          </p:cNvSpPr>
          <p:nvPr>
            <p:ph type="dt" idx="7"/>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94" name="PlaceHolder 5"/>
          <p:cNvSpPr>
            <a:spLocks noGrp="1"/>
          </p:cNvSpPr>
          <p:nvPr>
            <p:ph type="ftr" idx="8"/>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95" name="PlaceHolder 6"/>
          <p:cNvSpPr>
            <a:spLocks noGrp="1"/>
          </p:cNvSpPr>
          <p:nvPr>
            <p:ph type="sldNum" idx="9"/>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159F78CA-9380-43B4-9A06-E3A1C6101C5A}"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sldNum" idx="10"/>
          </p:nvPr>
        </p:nvSpPr>
        <p:spPr>
          <a:xfrm>
            <a:off x="3900960" y="9516240"/>
            <a:ext cx="2985120" cy="500400"/>
          </a:xfrm>
          <a:prstGeom prst="rect">
            <a:avLst/>
          </a:prstGeom>
          <a:noFill/>
          <a:ln w="9360">
            <a:noFill/>
          </a:ln>
        </p:spPr>
        <p:txBody>
          <a:bodyPr numCol="1" spcCol="0" lIns="96480" rIns="96480" tIns="48240" bIns="48240" anchor="b">
            <a:noAutofit/>
          </a:bodyPr>
          <a:lstStyle>
            <a:lvl1pPr algn="r">
              <a:lnSpc>
                <a:spcPct val="100000"/>
              </a:lnSpc>
              <a:buNone/>
              <a:defRPr b="0" lang="en-US" sz="1300" spc="-1" strike="noStrike">
                <a:latin typeface="Times New Roman"/>
              </a:defRPr>
            </a:lvl1pPr>
          </a:lstStyle>
          <a:p>
            <a:pPr algn="r">
              <a:lnSpc>
                <a:spcPct val="100000"/>
              </a:lnSpc>
              <a:buNone/>
            </a:pPr>
            <a:fld id="{BA7CAE16-C601-494F-9D63-947D8851420F}" type="slidenum">
              <a:rPr b="0" lang="en-US" sz="1300" spc="-1" strike="noStrike">
                <a:latin typeface="Times New Roman"/>
              </a:rPr>
              <a:t>&lt;number&gt;</a:t>
            </a:fld>
            <a:endParaRPr b="0" lang="en-US" sz="1300" spc="-1" strike="noStrike">
              <a:latin typeface="Times New Roman"/>
            </a:endParaRPr>
          </a:p>
        </p:txBody>
      </p:sp>
      <p:sp>
        <p:nvSpPr>
          <p:cNvPr id="174" name="PlaceHolder 2"/>
          <p:cNvSpPr>
            <a:spLocks noGrp="1"/>
          </p:cNvSpPr>
          <p:nvPr>
            <p:ph type="sldImg"/>
          </p:nvPr>
        </p:nvSpPr>
        <p:spPr>
          <a:xfrm>
            <a:off x="941400" y="752400"/>
            <a:ext cx="5005080" cy="3755520"/>
          </a:xfrm>
          <a:prstGeom prst="rect">
            <a:avLst/>
          </a:prstGeom>
          <a:ln w="0">
            <a:noFill/>
          </a:ln>
        </p:spPr>
      </p:sp>
      <p:sp>
        <p:nvSpPr>
          <p:cNvPr id="175" name="PlaceHolder 3"/>
          <p:cNvSpPr>
            <a:spLocks noGrp="1"/>
          </p:cNvSpPr>
          <p:nvPr>
            <p:ph type="body"/>
          </p:nvPr>
        </p:nvSpPr>
        <p:spPr>
          <a:xfrm>
            <a:off x="689040" y="4758120"/>
            <a:ext cx="5509800" cy="4508280"/>
          </a:xfrm>
          <a:prstGeom prst="rect">
            <a:avLst/>
          </a:prstGeom>
          <a:noFill/>
          <a:ln w="9360">
            <a:noFill/>
          </a:ln>
        </p:spPr>
        <p:txBody>
          <a:bodyPr numCol="1" spcCol="0" lIns="96480" rIns="96480" tIns="48240" bIns="48240" anchor="t">
            <a:noAutofit/>
          </a:bodyPr>
          <a:p>
            <a:endParaRPr b="0" lang="en-US" sz="20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DA0FD664-1F8F-4C50-961F-3C88BD4360DB}"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10" name="PlaceHolder 2"/>
          <p:cNvSpPr>
            <a:spLocks noGrp="1"/>
          </p:cNvSpPr>
          <p:nvPr>
            <p:ph type="subTitle"/>
          </p:nvPr>
        </p:nvSpPr>
        <p:spPr>
          <a:xfrm>
            <a:off x="1128600" y="2167560"/>
            <a:ext cx="6571080" cy="32882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DF97E7AA-FCD9-44A4-AAFA-C2BB25C75AD6}"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12" name="PlaceHolder 2"/>
          <p:cNvSpPr>
            <a:spLocks noGrp="1"/>
          </p:cNvSpPr>
          <p:nvPr>
            <p:ph/>
          </p:nvPr>
        </p:nvSpPr>
        <p:spPr>
          <a:xfrm>
            <a:off x="1128600" y="2167560"/>
            <a:ext cx="6571080" cy="328824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02C0380-BE32-46D9-B822-9AE59531EF0C}"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14" name="PlaceHolder 2"/>
          <p:cNvSpPr>
            <a:spLocks noGrp="1"/>
          </p:cNvSpPr>
          <p:nvPr>
            <p:ph/>
          </p:nvPr>
        </p:nvSpPr>
        <p:spPr>
          <a:xfrm>
            <a:off x="1128600" y="2167560"/>
            <a:ext cx="3206520" cy="328824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15" name="PlaceHolder 3"/>
          <p:cNvSpPr>
            <a:spLocks noGrp="1"/>
          </p:cNvSpPr>
          <p:nvPr>
            <p:ph/>
          </p:nvPr>
        </p:nvSpPr>
        <p:spPr>
          <a:xfrm>
            <a:off x="4495680" y="2167560"/>
            <a:ext cx="3206520" cy="328824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4C9E3DFB-2481-48DA-A6A5-8729F5C06FD2}"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1127CD3-3460-4898-82ED-EA569434CB15}"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1128600" y="956160"/>
            <a:ext cx="6571080" cy="4863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425B5A6F-C483-4722-A334-00DE38FC3A55}"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19" name="PlaceHolder 2"/>
          <p:cNvSpPr>
            <a:spLocks noGrp="1"/>
          </p:cNvSpPr>
          <p:nvPr>
            <p:ph/>
          </p:nvPr>
        </p:nvSpPr>
        <p:spPr>
          <a:xfrm>
            <a:off x="1128600" y="216756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20" name="PlaceHolder 3"/>
          <p:cNvSpPr>
            <a:spLocks noGrp="1"/>
          </p:cNvSpPr>
          <p:nvPr>
            <p:ph/>
          </p:nvPr>
        </p:nvSpPr>
        <p:spPr>
          <a:xfrm>
            <a:off x="4495680" y="2167560"/>
            <a:ext cx="3206520" cy="328824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21" name="PlaceHolder 4"/>
          <p:cNvSpPr>
            <a:spLocks noGrp="1"/>
          </p:cNvSpPr>
          <p:nvPr>
            <p:ph/>
          </p:nvPr>
        </p:nvSpPr>
        <p:spPr>
          <a:xfrm>
            <a:off x="1128600" y="388512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B98CFE2-41DB-49FB-9838-8D0DBE8478A8}"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23" name="PlaceHolder 2"/>
          <p:cNvSpPr>
            <a:spLocks noGrp="1"/>
          </p:cNvSpPr>
          <p:nvPr>
            <p:ph/>
          </p:nvPr>
        </p:nvSpPr>
        <p:spPr>
          <a:xfrm>
            <a:off x="1128600" y="2167560"/>
            <a:ext cx="3206520" cy="328824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24" name="PlaceHolder 3"/>
          <p:cNvSpPr>
            <a:spLocks noGrp="1"/>
          </p:cNvSpPr>
          <p:nvPr>
            <p:ph/>
          </p:nvPr>
        </p:nvSpPr>
        <p:spPr>
          <a:xfrm>
            <a:off x="4495680" y="216756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25" name="PlaceHolder 4"/>
          <p:cNvSpPr>
            <a:spLocks noGrp="1"/>
          </p:cNvSpPr>
          <p:nvPr>
            <p:ph/>
          </p:nvPr>
        </p:nvSpPr>
        <p:spPr>
          <a:xfrm>
            <a:off x="4495680" y="388512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74EC2D09-F11D-4E05-8F5B-7FFBF14ACBAE}"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27" name="PlaceHolder 2"/>
          <p:cNvSpPr>
            <a:spLocks noGrp="1"/>
          </p:cNvSpPr>
          <p:nvPr>
            <p:ph/>
          </p:nvPr>
        </p:nvSpPr>
        <p:spPr>
          <a:xfrm>
            <a:off x="1128600" y="216756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28" name="PlaceHolder 3"/>
          <p:cNvSpPr>
            <a:spLocks noGrp="1"/>
          </p:cNvSpPr>
          <p:nvPr>
            <p:ph/>
          </p:nvPr>
        </p:nvSpPr>
        <p:spPr>
          <a:xfrm>
            <a:off x="4495680" y="216756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29" name="PlaceHolder 4"/>
          <p:cNvSpPr>
            <a:spLocks noGrp="1"/>
          </p:cNvSpPr>
          <p:nvPr>
            <p:ph/>
          </p:nvPr>
        </p:nvSpPr>
        <p:spPr>
          <a:xfrm>
            <a:off x="1128600" y="3885120"/>
            <a:ext cx="657108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58F9AF99-E670-4F29-ABE1-C6FA03771093}"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31" name="PlaceHolder 2"/>
          <p:cNvSpPr>
            <a:spLocks noGrp="1"/>
          </p:cNvSpPr>
          <p:nvPr>
            <p:ph/>
          </p:nvPr>
        </p:nvSpPr>
        <p:spPr>
          <a:xfrm>
            <a:off x="1128600" y="2167560"/>
            <a:ext cx="657108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32" name="PlaceHolder 3"/>
          <p:cNvSpPr>
            <a:spLocks noGrp="1"/>
          </p:cNvSpPr>
          <p:nvPr>
            <p:ph/>
          </p:nvPr>
        </p:nvSpPr>
        <p:spPr>
          <a:xfrm>
            <a:off x="1128600" y="3885120"/>
            <a:ext cx="657108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5FCAD6D1-87CB-43E5-B6BD-14EB2A6C70B6}"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34" name="PlaceHolder 2"/>
          <p:cNvSpPr>
            <a:spLocks noGrp="1"/>
          </p:cNvSpPr>
          <p:nvPr>
            <p:ph/>
          </p:nvPr>
        </p:nvSpPr>
        <p:spPr>
          <a:xfrm>
            <a:off x="1128600" y="216756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35" name="PlaceHolder 3"/>
          <p:cNvSpPr>
            <a:spLocks noGrp="1"/>
          </p:cNvSpPr>
          <p:nvPr>
            <p:ph/>
          </p:nvPr>
        </p:nvSpPr>
        <p:spPr>
          <a:xfrm>
            <a:off x="4495680" y="216756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36" name="PlaceHolder 4"/>
          <p:cNvSpPr>
            <a:spLocks noGrp="1"/>
          </p:cNvSpPr>
          <p:nvPr>
            <p:ph/>
          </p:nvPr>
        </p:nvSpPr>
        <p:spPr>
          <a:xfrm>
            <a:off x="1128600" y="388512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37" name="PlaceHolder 5"/>
          <p:cNvSpPr>
            <a:spLocks noGrp="1"/>
          </p:cNvSpPr>
          <p:nvPr>
            <p:ph/>
          </p:nvPr>
        </p:nvSpPr>
        <p:spPr>
          <a:xfrm>
            <a:off x="4495680" y="388512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2430E5F2-E0AF-4E76-970E-49068BD7AC17}"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39" name="PlaceHolder 2"/>
          <p:cNvSpPr>
            <a:spLocks noGrp="1"/>
          </p:cNvSpPr>
          <p:nvPr>
            <p:ph/>
          </p:nvPr>
        </p:nvSpPr>
        <p:spPr>
          <a:xfrm>
            <a:off x="1128600" y="2167560"/>
            <a:ext cx="21157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40" name="PlaceHolder 3"/>
          <p:cNvSpPr>
            <a:spLocks noGrp="1"/>
          </p:cNvSpPr>
          <p:nvPr>
            <p:ph/>
          </p:nvPr>
        </p:nvSpPr>
        <p:spPr>
          <a:xfrm>
            <a:off x="3350520" y="2167560"/>
            <a:ext cx="21157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41" name="PlaceHolder 4"/>
          <p:cNvSpPr>
            <a:spLocks noGrp="1"/>
          </p:cNvSpPr>
          <p:nvPr>
            <p:ph/>
          </p:nvPr>
        </p:nvSpPr>
        <p:spPr>
          <a:xfrm>
            <a:off x="5572440" y="2167560"/>
            <a:ext cx="21157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42" name="PlaceHolder 5"/>
          <p:cNvSpPr>
            <a:spLocks noGrp="1"/>
          </p:cNvSpPr>
          <p:nvPr>
            <p:ph/>
          </p:nvPr>
        </p:nvSpPr>
        <p:spPr>
          <a:xfrm>
            <a:off x="1128600" y="3885120"/>
            <a:ext cx="21157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43" name="PlaceHolder 6"/>
          <p:cNvSpPr>
            <a:spLocks noGrp="1"/>
          </p:cNvSpPr>
          <p:nvPr>
            <p:ph/>
          </p:nvPr>
        </p:nvSpPr>
        <p:spPr>
          <a:xfrm>
            <a:off x="3350520" y="3885120"/>
            <a:ext cx="21157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44" name="PlaceHolder 7"/>
          <p:cNvSpPr>
            <a:spLocks noGrp="1"/>
          </p:cNvSpPr>
          <p:nvPr>
            <p:ph/>
          </p:nvPr>
        </p:nvSpPr>
        <p:spPr>
          <a:xfrm>
            <a:off x="5572440" y="3885120"/>
            <a:ext cx="21157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142BC934-21A1-4A7C-8702-73E5D1FE9747}" type="slidenum">
              <a:t>&lt;#&gt;</a:t>
            </a:fld>
          </a:p>
        </p:txBody>
      </p:sp>
      <p:sp>
        <p:nvSpPr>
          <p:cNvPr id="11" name="PlaceHolder 10"/>
          <p:cNvSpPr>
            <a:spLocks noGrp="1"/>
          </p:cNvSpPr>
          <p:nvPr>
            <p:ph type="dt" idx="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AB74DFC6-140C-49CE-A473-08BDB87E008B}"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4"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55" name="PlaceHolder 2"/>
          <p:cNvSpPr>
            <a:spLocks noGrp="1"/>
          </p:cNvSpPr>
          <p:nvPr>
            <p:ph type="subTitle"/>
          </p:nvPr>
        </p:nvSpPr>
        <p:spPr>
          <a:xfrm>
            <a:off x="1128600" y="2167560"/>
            <a:ext cx="6571080" cy="32882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26E32794-D7DE-47A5-BD14-31A2E8765A37}"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57" name="PlaceHolder 2"/>
          <p:cNvSpPr>
            <a:spLocks noGrp="1"/>
          </p:cNvSpPr>
          <p:nvPr>
            <p:ph/>
          </p:nvPr>
        </p:nvSpPr>
        <p:spPr>
          <a:xfrm>
            <a:off x="1128600" y="2167560"/>
            <a:ext cx="6571080" cy="328824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772F9F3B-C636-4374-B51D-218DDB36D904}"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59" name="PlaceHolder 2"/>
          <p:cNvSpPr>
            <a:spLocks noGrp="1"/>
          </p:cNvSpPr>
          <p:nvPr>
            <p:ph/>
          </p:nvPr>
        </p:nvSpPr>
        <p:spPr>
          <a:xfrm>
            <a:off x="1128600" y="2167560"/>
            <a:ext cx="3206520" cy="328824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60" name="PlaceHolder 3"/>
          <p:cNvSpPr>
            <a:spLocks noGrp="1"/>
          </p:cNvSpPr>
          <p:nvPr>
            <p:ph/>
          </p:nvPr>
        </p:nvSpPr>
        <p:spPr>
          <a:xfrm>
            <a:off x="4495680" y="2167560"/>
            <a:ext cx="3206520" cy="328824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D0C75D2A-E595-44A3-87C8-876F60B60604}"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1"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3A9D2D90-CDC1-4AD0-A930-6341FD9445DE}"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2" name="PlaceHolder 1"/>
          <p:cNvSpPr>
            <a:spLocks noGrp="1"/>
          </p:cNvSpPr>
          <p:nvPr>
            <p:ph type="subTitle"/>
          </p:nvPr>
        </p:nvSpPr>
        <p:spPr>
          <a:xfrm>
            <a:off x="1128600" y="956160"/>
            <a:ext cx="6571080" cy="4863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4CD958F6-CD06-4E83-80D4-94443DB27829}"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64" name="PlaceHolder 2"/>
          <p:cNvSpPr>
            <a:spLocks noGrp="1"/>
          </p:cNvSpPr>
          <p:nvPr>
            <p:ph/>
          </p:nvPr>
        </p:nvSpPr>
        <p:spPr>
          <a:xfrm>
            <a:off x="1128600" y="216756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65" name="PlaceHolder 3"/>
          <p:cNvSpPr>
            <a:spLocks noGrp="1"/>
          </p:cNvSpPr>
          <p:nvPr>
            <p:ph/>
          </p:nvPr>
        </p:nvSpPr>
        <p:spPr>
          <a:xfrm>
            <a:off x="4495680" y="2167560"/>
            <a:ext cx="3206520" cy="328824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66" name="PlaceHolder 4"/>
          <p:cNvSpPr>
            <a:spLocks noGrp="1"/>
          </p:cNvSpPr>
          <p:nvPr>
            <p:ph/>
          </p:nvPr>
        </p:nvSpPr>
        <p:spPr>
          <a:xfrm>
            <a:off x="1128600" y="388512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E9E7255D-73E4-490B-9E71-B2BE3492A61C}"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68" name="PlaceHolder 2"/>
          <p:cNvSpPr>
            <a:spLocks noGrp="1"/>
          </p:cNvSpPr>
          <p:nvPr>
            <p:ph/>
          </p:nvPr>
        </p:nvSpPr>
        <p:spPr>
          <a:xfrm>
            <a:off x="1128600" y="2167560"/>
            <a:ext cx="3206520" cy="328824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69" name="PlaceHolder 3"/>
          <p:cNvSpPr>
            <a:spLocks noGrp="1"/>
          </p:cNvSpPr>
          <p:nvPr>
            <p:ph/>
          </p:nvPr>
        </p:nvSpPr>
        <p:spPr>
          <a:xfrm>
            <a:off x="4495680" y="216756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70" name="PlaceHolder 4"/>
          <p:cNvSpPr>
            <a:spLocks noGrp="1"/>
          </p:cNvSpPr>
          <p:nvPr>
            <p:ph/>
          </p:nvPr>
        </p:nvSpPr>
        <p:spPr>
          <a:xfrm>
            <a:off x="4495680" y="388512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D6607BC6-35F1-4807-8749-3B3C93579F14}"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72" name="PlaceHolder 2"/>
          <p:cNvSpPr>
            <a:spLocks noGrp="1"/>
          </p:cNvSpPr>
          <p:nvPr>
            <p:ph/>
          </p:nvPr>
        </p:nvSpPr>
        <p:spPr>
          <a:xfrm>
            <a:off x="1128600" y="216756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73" name="PlaceHolder 3"/>
          <p:cNvSpPr>
            <a:spLocks noGrp="1"/>
          </p:cNvSpPr>
          <p:nvPr>
            <p:ph/>
          </p:nvPr>
        </p:nvSpPr>
        <p:spPr>
          <a:xfrm>
            <a:off x="4495680" y="216756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74" name="PlaceHolder 4"/>
          <p:cNvSpPr>
            <a:spLocks noGrp="1"/>
          </p:cNvSpPr>
          <p:nvPr>
            <p:ph/>
          </p:nvPr>
        </p:nvSpPr>
        <p:spPr>
          <a:xfrm>
            <a:off x="1128600" y="3885120"/>
            <a:ext cx="657108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DF707AE5-5014-427F-9F96-632862BA8AFD}"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76" name="PlaceHolder 2"/>
          <p:cNvSpPr>
            <a:spLocks noGrp="1"/>
          </p:cNvSpPr>
          <p:nvPr>
            <p:ph/>
          </p:nvPr>
        </p:nvSpPr>
        <p:spPr>
          <a:xfrm>
            <a:off x="1128600" y="2167560"/>
            <a:ext cx="657108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77" name="PlaceHolder 3"/>
          <p:cNvSpPr>
            <a:spLocks noGrp="1"/>
          </p:cNvSpPr>
          <p:nvPr>
            <p:ph/>
          </p:nvPr>
        </p:nvSpPr>
        <p:spPr>
          <a:xfrm>
            <a:off x="1128600" y="3885120"/>
            <a:ext cx="657108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2A37A7C5-4616-48C0-BA49-CFAEDA883DC4}"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79" name="PlaceHolder 2"/>
          <p:cNvSpPr>
            <a:spLocks noGrp="1"/>
          </p:cNvSpPr>
          <p:nvPr>
            <p:ph/>
          </p:nvPr>
        </p:nvSpPr>
        <p:spPr>
          <a:xfrm>
            <a:off x="1128600" y="216756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80" name="PlaceHolder 3"/>
          <p:cNvSpPr>
            <a:spLocks noGrp="1"/>
          </p:cNvSpPr>
          <p:nvPr>
            <p:ph/>
          </p:nvPr>
        </p:nvSpPr>
        <p:spPr>
          <a:xfrm>
            <a:off x="4495680" y="216756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81" name="PlaceHolder 4"/>
          <p:cNvSpPr>
            <a:spLocks noGrp="1"/>
          </p:cNvSpPr>
          <p:nvPr>
            <p:ph/>
          </p:nvPr>
        </p:nvSpPr>
        <p:spPr>
          <a:xfrm>
            <a:off x="1128600" y="388512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82" name="PlaceHolder 5"/>
          <p:cNvSpPr>
            <a:spLocks noGrp="1"/>
          </p:cNvSpPr>
          <p:nvPr>
            <p:ph/>
          </p:nvPr>
        </p:nvSpPr>
        <p:spPr>
          <a:xfrm>
            <a:off x="4495680" y="3885120"/>
            <a:ext cx="32065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D7F5C14F-E434-45E7-BF6B-E73DF9198F14}" type="slidenum">
              <a:t>&lt;#&gt;</a:t>
            </a:fld>
          </a:p>
        </p:txBody>
      </p:sp>
      <p:sp>
        <p:nvSpPr>
          <p:cNvPr id="9" name="PlaceHolder 8"/>
          <p:cNvSpPr>
            <a:spLocks noGrp="1"/>
          </p:cNvSpPr>
          <p:nvPr>
            <p:ph type="dt" idx="4"/>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1128600" y="956160"/>
            <a:ext cx="6571080" cy="1049040"/>
          </a:xfrm>
          <a:prstGeom prst="rect">
            <a:avLst/>
          </a:prstGeom>
          <a:noFill/>
          <a:ln w="0">
            <a:noFill/>
          </a:ln>
        </p:spPr>
        <p:txBody>
          <a:bodyPr lIns="0" rIns="0" tIns="0" bIns="0" anchor="ctr">
            <a:noAutofit/>
          </a:bodyPr>
          <a:p>
            <a:endParaRPr b="0" lang="en-US" sz="1800" spc="-1" strike="noStrike">
              <a:solidFill>
                <a:srgbClr val="000000"/>
              </a:solidFill>
              <a:latin typeface="Century Gothic"/>
            </a:endParaRPr>
          </a:p>
        </p:txBody>
      </p:sp>
      <p:sp>
        <p:nvSpPr>
          <p:cNvPr id="84" name="PlaceHolder 2"/>
          <p:cNvSpPr>
            <a:spLocks noGrp="1"/>
          </p:cNvSpPr>
          <p:nvPr>
            <p:ph/>
          </p:nvPr>
        </p:nvSpPr>
        <p:spPr>
          <a:xfrm>
            <a:off x="1128600" y="2167560"/>
            <a:ext cx="21157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85" name="PlaceHolder 3"/>
          <p:cNvSpPr>
            <a:spLocks noGrp="1"/>
          </p:cNvSpPr>
          <p:nvPr>
            <p:ph/>
          </p:nvPr>
        </p:nvSpPr>
        <p:spPr>
          <a:xfrm>
            <a:off x="3350520" y="2167560"/>
            <a:ext cx="21157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86" name="PlaceHolder 4"/>
          <p:cNvSpPr>
            <a:spLocks noGrp="1"/>
          </p:cNvSpPr>
          <p:nvPr>
            <p:ph/>
          </p:nvPr>
        </p:nvSpPr>
        <p:spPr>
          <a:xfrm>
            <a:off x="5572440" y="2167560"/>
            <a:ext cx="21157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87" name="PlaceHolder 5"/>
          <p:cNvSpPr>
            <a:spLocks noGrp="1"/>
          </p:cNvSpPr>
          <p:nvPr>
            <p:ph/>
          </p:nvPr>
        </p:nvSpPr>
        <p:spPr>
          <a:xfrm>
            <a:off x="1128600" y="3885120"/>
            <a:ext cx="21157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88" name="PlaceHolder 6"/>
          <p:cNvSpPr>
            <a:spLocks noGrp="1"/>
          </p:cNvSpPr>
          <p:nvPr>
            <p:ph/>
          </p:nvPr>
        </p:nvSpPr>
        <p:spPr>
          <a:xfrm>
            <a:off x="3350520" y="3885120"/>
            <a:ext cx="21157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89" name="PlaceHolder 7"/>
          <p:cNvSpPr>
            <a:spLocks noGrp="1"/>
          </p:cNvSpPr>
          <p:nvPr>
            <p:ph/>
          </p:nvPr>
        </p:nvSpPr>
        <p:spPr>
          <a:xfrm>
            <a:off x="5572440" y="3885120"/>
            <a:ext cx="2115720" cy="1568160"/>
          </a:xfrm>
          <a:prstGeom prst="rect">
            <a:avLst/>
          </a:prstGeom>
          <a:noFill/>
          <a:ln w="0">
            <a:noFill/>
          </a:ln>
        </p:spPr>
        <p:txBody>
          <a:bodyPr lIns="0" rIns="0" tIns="0" bIns="0" anchor="t">
            <a:normAutofit/>
          </a:bodyPr>
          <a:p>
            <a:pPr>
              <a:lnSpc>
                <a:spcPct val="120000"/>
              </a:lnSpc>
              <a:spcBef>
                <a:spcPts val="1417"/>
              </a:spcBef>
              <a:buNone/>
            </a:pPr>
            <a:endParaRPr b="0" lang="en-US" sz="2000" spc="-1" strike="noStrike">
              <a:solidFill>
                <a:srgbClr val="000000"/>
              </a:solidFill>
              <a:latin typeface="Century Gothic"/>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73796C3A-FB37-4CCE-96FA-C513B259AB74}" type="slidenum">
              <a:t>&lt;#&gt;</a:t>
            </a:fld>
          </a:p>
        </p:txBody>
      </p:sp>
      <p:sp>
        <p:nvSpPr>
          <p:cNvPr id="11" name="PlaceHolder 10"/>
          <p:cNvSpPr>
            <a:spLocks noGrp="1"/>
          </p:cNvSpPr>
          <p:nvPr>
            <p:ph type="dt" idx="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slideLayout" Target="../slideLayouts/slideLayout23.xml"/><Relationship Id="rId15"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f9f9f9"/>
            </a:gs>
          </a:gsLst>
          <a:path path="circle">
            <a:fillToRect l="50000" t="0" r="50000" b="100000"/>
          </a:path>
        </a:gradFill>
      </p:bgPr>
    </p:bg>
    <p:spTree>
      <p:nvGrpSpPr>
        <p:cNvPr id="1" name=""/>
        <p:cNvGrpSpPr/>
        <p:nvPr/>
      </p:nvGrpSpPr>
      <p:grpSpPr>
        <a:xfrm>
          <a:off x="0" y="0"/>
          <a:ext cx="0" cy="0"/>
          <a:chOff x="0" y="0"/>
          <a:chExt cx="0" cy="0"/>
        </a:xfrm>
      </p:grpSpPr>
      <p:pic>
        <p:nvPicPr>
          <p:cNvPr id="0" name="Picture 8" descr=""/>
          <p:cNvPicPr/>
          <p:nvPr/>
        </p:nvPicPr>
        <p:blipFill>
          <a:blip r:embed="rId2"/>
          <a:srcRect l="0" t="1526" r="0" b="-1526"/>
          <a:stretch/>
        </p:blipFill>
        <p:spPr>
          <a:xfrm>
            <a:off x="0" y="6120000"/>
            <a:ext cx="9143640" cy="742680"/>
          </a:xfrm>
          <a:prstGeom prst="rect">
            <a:avLst/>
          </a:prstGeom>
          <a:ln w="0">
            <a:noFill/>
          </a:ln>
        </p:spPr>
      </p:pic>
      <p:sp>
        <p:nvSpPr>
          <p:cNvPr id="1" name="Rectangle 11"/>
          <p:cNvSpPr/>
          <p:nvPr/>
        </p:nvSpPr>
        <p:spPr>
          <a:xfrm>
            <a:off x="0" y="468720"/>
            <a:ext cx="9143640" cy="5646600"/>
          </a:xfrm>
          <a:prstGeom prst="rect">
            <a:avLst/>
          </a:prstGeom>
          <a:gradFill rotWithShape="0">
            <a:gsLst>
              <a:gs pos="0">
                <a:srgbClr val="dcdce0">
                  <a:alpha val="0"/>
                </a:srgbClr>
              </a:gs>
              <a:gs pos="100000">
                <a:srgbClr val="dedee2"/>
              </a:gs>
            </a:gsLst>
            <a:lin ang="5400000"/>
          </a:gradFill>
          <a:ln>
            <a:noFill/>
          </a:ln>
        </p:spPr>
        <p:style>
          <a:lnRef idx="2">
            <a:schemeClr val="accent1">
              <a:shade val="50000"/>
            </a:schemeClr>
          </a:lnRef>
          <a:fillRef idx="1">
            <a:schemeClr val="accent1"/>
          </a:fillRef>
          <a:effectRef idx="0">
            <a:schemeClr val="accent1"/>
          </a:effectRef>
          <a:fontRef idx="minor"/>
        </p:style>
      </p:sp>
      <p:sp>
        <p:nvSpPr>
          <p:cNvPr id="2" name="Straight Connector 12"/>
          <p:cNvSpPr/>
          <p:nvPr/>
        </p:nvSpPr>
        <p:spPr>
          <a:xfrm>
            <a:off x="0" y="6120720"/>
            <a:ext cx="9144000" cy="360"/>
          </a:xfrm>
          <a:prstGeom prst="line">
            <a:avLst/>
          </a:prstGeom>
          <a:ln w="12700">
            <a:solidFill>
              <a:srgbClr val="000001">
                <a:alpha val="20000"/>
              </a:srgbClr>
            </a:solidFill>
            <a:round/>
          </a:ln>
        </p:spPr>
        <p:style>
          <a:lnRef idx="1">
            <a:schemeClr val="accent1"/>
          </a:lnRef>
          <a:fillRef idx="0">
            <a:schemeClr val="accent1"/>
          </a:fillRef>
          <a:effectRef idx="0">
            <a:schemeClr val="accent1"/>
          </a:effectRef>
          <a:fontRef idx="minor"/>
        </p:style>
      </p:sp>
      <p:sp>
        <p:nvSpPr>
          <p:cNvPr id="3" name="PlaceHolder 1"/>
          <p:cNvSpPr>
            <a:spLocks noGrp="1"/>
          </p:cNvSpPr>
          <p:nvPr>
            <p:ph type="title"/>
          </p:nvPr>
        </p:nvSpPr>
        <p:spPr>
          <a:xfrm>
            <a:off x="1125360" y="959400"/>
            <a:ext cx="5760360" cy="2571480"/>
          </a:xfrm>
          <a:prstGeom prst="rect">
            <a:avLst/>
          </a:prstGeom>
          <a:noFill/>
          <a:ln w="0">
            <a:noFill/>
          </a:ln>
        </p:spPr>
        <p:txBody>
          <a:bodyPr bIns="0" anchor="b">
            <a:normAutofit/>
          </a:bodyPr>
          <a:p>
            <a:pPr>
              <a:lnSpc>
                <a:spcPct val="90000"/>
              </a:lnSpc>
              <a:buNone/>
            </a:pPr>
            <a:r>
              <a:rPr b="0" lang="en-US" sz="5400" spc="-1" strike="noStrike">
                <a:solidFill>
                  <a:srgbClr val="000000"/>
                </a:solidFill>
                <a:latin typeface="Century Gothic"/>
              </a:rPr>
              <a:t>Click to edit Master title style</a:t>
            </a:r>
            <a:endParaRPr b="0" lang="en-US" sz="5400" spc="-1" strike="noStrike">
              <a:solidFill>
                <a:srgbClr val="000000"/>
              </a:solidFill>
              <a:latin typeface="Century Gothic"/>
            </a:endParaRPr>
          </a:p>
        </p:txBody>
      </p:sp>
      <p:sp>
        <p:nvSpPr>
          <p:cNvPr id="4" name="PlaceHolder 2"/>
          <p:cNvSpPr>
            <a:spLocks noGrp="1"/>
          </p:cNvSpPr>
          <p:nvPr>
            <p:ph type="dt" idx="1"/>
          </p:nvPr>
        </p:nvSpPr>
        <p:spPr>
          <a:xfrm>
            <a:off x="4521240" y="330480"/>
            <a:ext cx="2368080" cy="304560"/>
          </a:xfrm>
          <a:prstGeom prst="rect">
            <a:avLst/>
          </a:prstGeom>
          <a:noFill/>
          <a:ln w="0">
            <a:noFill/>
          </a:ln>
        </p:spPr>
        <p:txBody>
          <a:bodyPr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5" name="PlaceHolder 3"/>
          <p:cNvSpPr>
            <a:spLocks noGrp="1"/>
          </p:cNvSpPr>
          <p:nvPr>
            <p:ph type="ftr" idx="2"/>
          </p:nvPr>
        </p:nvSpPr>
        <p:spPr>
          <a:xfrm>
            <a:off x="1125360" y="329400"/>
            <a:ext cx="3391920" cy="3088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6" name="PlaceHolder 4"/>
          <p:cNvSpPr>
            <a:spLocks noGrp="1"/>
          </p:cNvSpPr>
          <p:nvPr>
            <p:ph type="sldNum" idx="3"/>
          </p:nvPr>
        </p:nvSpPr>
        <p:spPr>
          <a:xfrm>
            <a:off x="6886080" y="131760"/>
            <a:ext cx="801720" cy="503280"/>
          </a:xfrm>
          <a:prstGeom prst="rect">
            <a:avLst/>
          </a:prstGeom>
          <a:noFill/>
          <a:ln w="0">
            <a:noFill/>
          </a:ln>
        </p:spPr>
        <p:txBody>
          <a:bodyPr anchor="t">
            <a:noAutofit/>
          </a:bodyPr>
          <a:lstStyle>
            <a:lvl1pPr algn="r">
              <a:lnSpc>
                <a:spcPct val="100000"/>
              </a:lnSpc>
              <a:buNone/>
              <a:defRPr b="0" lang="en-US" sz="2800" spc="-1" strike="noStrike">
                <a:solidFill>
                  <a:srgbClr val="415588"/>
                </a:solidFill>
                <a:latin typeface="Century Gothic"/>
              </a:defRPr>
            </a:lvl1pPr>
          </a:lstStyle>
          <a:p>
            <a:pPr algn="r">
              <a:lnSpc>
                <a:spcPct val="100000"/>
              </a:lnSpc>
              <a:buNone/>
            </a:pPr>
            <a:fld id="{94580C15-E74A-48BB-844E-67A355EF581B}" type="slidenum">
              <a:rPr b="0" lang="en-US" sz="2800" spc="-1" strike="noStrike">
                <a:solidFill>
                  <a:srgbClr val="415588"/>
                </a:solidFill>
                <a:latin typeface="Century Gothic"/>
              </a:rPr>
              <a:t>&lt;number&gt;</a:t>
            </a:fld>
            <a:endParaRPr b="0" lang="en-US" sz="2800" spc="-1" strike="noStrike">
              <a:latin typeface="Times New Roman"/>
            </a:endParaRPr>
          </a:p>
        </p:txBody>
      </p:sp>
      <p:pic>
        <p:nvPicPr>
          <p:cNvPr id="7" name="Picture 15" descr="RedHashing.emf"/>
          <p:cNvPicPr/>
          <p:nvPr/>
        </p:nvPicPr>
        <p:blipFill>
          <a:blip r:embed="rId3"/>
          <a:srcRect l="-116" t="0" r="42454" b="36408"/>
          <a:stretch/>
        </p:blipFill>
        <p:spPr>
          <a:xfrm>
            <a:off x="1125360" y="643320"/>
            <a:ext cx="6574320" cy="155160"/>
          </a:xfrm>
          <a:prstGeom prst="rect">
            <a:avLst/>
          </a:prstGeom>
          <a:ln w="0">
            <a:noFill/>
          </a:ln>
        </p:spPr>
      </p:pic>
      <p:sp>
        <p:nvSpPr>
          <p:cNvPr id="8"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lnSpc>
                <a:spcPct val="120000"/>
              </a:lnSpc>
              <a:spcBef>
                <a:spcPts val="1417"/>
              </a:spcBef>
              <a:buClr>
                <a:srgbClr val="000000"/>
              </a:buClr>
              <a:buSzPct val="45000"/>
              <a:buFont typeface="Wingdings" charset="2"/>
              <a:buChar char=""/>
            </a:pPr>
            <a:r>
              <a:rPr b="0" lang="en-US" sz="2000" spc="-1" strike="noStrike">
                <a:solidFill>
                  <a:srgbClr val="000000"/>
                </a:solidFill>
                <a:latin typeface="Century Gothic"/>
              </a:rPr>
              <a:t>Click to edit the outline text format</a:t>
            </a:r>
            <a:endParaRPr b="0" lang="en-US" sz="2000" spc="-1" strike="noStrike">
              <a:solidFill>
                <a:srgbClr val="000000"/>
              </a:solidFill>
              <a:latin typeface="Century Gothic"/>
            </a:endParaRPr>
          </a:p>
          <a:p>
            <a:pPr lvl="1" marL="864000" indent="-324000">
              <a:lnSpc>
                <a:spcPct val="120000"/>
              </a:lnSpc>
              <a:spcBef>
                <a:spcPts val="1134"/>
              </a:spcBef>
              <a:buClr>
                <a:srgbClr val="000000"/>
              </a:buClr>
              <a:buSzPct val="75000"/>
              <a:buFont typeface="Symbol" charset="2"/>
              <a:buChar char=""/>
            </a:pPr>
            <a:r>
              <a:rPr b="0" lang="en-US" sz="1600" spc="-1" strike="noStrike">
                <a:solidFill>
                  <a:srgbClr val="000000"/>
                </a:solidFill>
                <a:latin typeface="Century Gothic"/>
              </a:rPr>
              <a:t>Second Outline Level</a:t>
            </a:r>
            <a:endParaRPr b="0" lang="en-US" sz="1600" spc="-1" strike="noStrike">
              <a:solidFill>
                <a:srgbClr val="000000"/>
              </a:solidFill>
              <a:latin typeface="Century Gothic"/>
            </a:endParaRPr>
          </a:p>
          <a:p>
            <a:pPr lvl="2" marL="1296000" indent="-288000">
              <a:lnSpc>
                <a:spcPct val="120000"/>
              </a:lnSpc>
              <a:spcBef>
                <a:spcPts val="850"/>
              </a:spcBef>
              <a:buClr>
                <a:srgbClr val="000000"/>
              </a:buClr>
              <a:buSzPct val="45000"/>
              <a:buFont typeface="Wingdings" charset="2"/>
              <a:buChar char=""/>
            </a:pPr>
            <a:r>
              <a:rPr b="0" lang="en-US" sz="1400" spc="-1" strike="noStrike">
                <a:solidFill>
                  <a:srgbClr val="000000"/>
                </a:solidFill>
                <a:latin typeface="Century Gothic"/>
              </a:rPr>
              <a:t>Third Outline Level</a:t>
            </a:r>
            <a:endParaRPr b="0" lang="en-US" sz="1400" spc="-1" strike="noStrike">
              <a:solidFill>
                <a:srgbClr val="000000"/>
              </a:solidFill>
              <a:latin typeface="Century Gothic"/>
            </a:endParaRPr>
          </a:p>
          <a:p>
            <a:pPr lvl="3" marL="1728000" indent="-216000">
              <a:lnSpc>
                <a:spcPct val="120000"/>
              </a:lnSpc>
              <a:spcBef>
                <a:spcPts val="567"/>
              </a:spcBef>
              <a:buClr>
                <a:srgbClr val="000000"/>
              </a:buClr>
              <a:buSzPct val="75000"/>
              <a:buFont typeface="Symbol" charset="2"/>
              <a:buChar char=""/>
            </a:pPr>
            <a:r>
              <a:rPr b="0" lang="en-US" sz="1200" spc="-1" strike="noStrike">
                <a:solidFill>
                  <a:srgbClr val="000000"/>
                </a:solidFill>
                <a:latin typeface="Century Gothic"/>
              </a:rPr>
              <a:t>Fourth Outline Level</a:t>
            </a:r>
            <a:endParaRPr b="0" lang="en-US" sz="1200" spc="-1" strike="noStrike">
              <a:solidFill>
                <a:srgbClr val="000000"/>
              </a:solidFill>
              <a:latin typeface="Century Gothic"/>
            </a:endParaRPr>
          </a:p>
          <a:p>
            <a:pPr lvl="4" marL="2160000" indent="-216000">
              <a:lnSpc>
                <a:spcPct val="120000"/>
              </a:lnSpc>
              <a:spcBef>
                <a:spcPts val="283"/>
              </a:spcBef>
              <a:buClr>
                <a:srgbClr val="000000"/>
              </a:buClr>
              <a:buSzPct val="45000"/>
              <a:buFont typeface="Wingdings" charset="2"/>
              <a:buChar char=""/>
            </a:pPr>
            <a:r>
              <a:rPr b="0" lang="en-US" sz="2000" spc="-1" strike="noStrike">
                <a:solidFill>
                  <a:srgbClr val="000000"/>
                </a:solidFill>
                <a:latin typeface="Century Gothic"/>
              </a:rPr>
              <a:t>Fifth Outline Level</a:t>
            </a:r>
            <a:endParaRPr b="0" lang="en-US" sz="2000" spc="-1" strike="noStrike">
              <a:solidFill>
                <a:srgbClr val="000000"/>
              </a:solidFill>
              <a:latin typeface="Century Gothic"/>
            </a:endParaRPr>
          </a:p>
          <a:p>
            <a:pPr lvl="5" marL="2592000" indent="-216000">
              <a:lnSpc>
                <a:spcPct val="120000"/>
              </a:lnSpc>
              <a:spcBef>
                <a:spcPts val="283"/>
              </a:spcBef>
              <a:buClr>
                <a:srgbClr val="000000"/>
              </a:buClr>
              <a:buSzPct val="45000"/>
              <a:buFont typeface="Wingdings" charset="2"/>
              <a:buChar char=""/>
            </a:pPr>
            <a:r>
              <a:rPr b="0" lang="en-US" sz="2000" spc="-1" strike="noStrike">
                <a:solidFill>
                  <a:srgbClr val="000000"/>
                </a:solidFill>
                <a:latin typeface="Century Gothic"/>
              </a:rPr>
              <a:t>Sixth Outline Level</a:t>
            </a:r>
            <a:endParaRPr b="0" lang="en-US" sz="2000" spc="-1" strike="noStrike">
              <a:solidFill>
                <a:srgbClr val="000000"/>
              </a:solidFill>
              <a:latin typeface="Century Gothic"/>
            </a:endParaRPr>
          </a:p>
          <a:p>
            <a:pPr lvl="6" marL="3024000" indent="-216000">
              <a:lnSpc>
                <a:spcPct val="120000"/>
              </a:lnSpc>
              <a:spcBef>
                <a:spcPts val="283"/>
              </a:spcBef>
              <a:buClr>
                <a:srgbClr val="000000"/>
              </a:buClr>
              <a:buSzPct val="45000"/>
              <a:buFont typeface="Wingdings" charset="2"/>
              <a:buChar char=""/>
            </a:pPr>
            <a:r>
              <a:rPr b="0" lang="en-US" sz="2000" spc="-1" strike="noStrike">
                <a:solidFill>
                  <a:srgbClr val="000000"/>
                </a:solidFill>
                <a:latin typeface="Century Gothic"/>
              </a:rPr>
              <a:t>Seventh Outline Level</a:t>
            </a:r>
            <a:endParaRPr b="0" lang="en-US" sz="2000" spc="-1" strike="noStrike">
              <a:solidFill>
                <a:srgbClr val="000000"/>
              </a:solidFill>
              <a:latin typeface="Century Gothic"/>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f9f9f9"/>
            </a:gs>
          </a:gsLst>
          <a:path path="circle">
            <a:fillToRect l="50000" t="0" r="50000" b="100000"/>
          </a:path>
        </a:gradFill>
      </p:bgPr>
    </p:bg>
    <p:spTree>
      <p:nvGrpSpPr>
        <p:cNvPr id="1" name=""/>
        <p:cNvGrpSpPr/>
        <p:nvPr/>
      </p:nvGrpSpPr>
      <p:grpSpPr>
        <a:xfrm>
          <a:off x="0" y="0"/>
          <a:ext cx="0" cy="0"/>
          <a:chOff x="0" y="0"/>
          <a:chExt cx="0" cy="0"/>
        </a:xfrm>
      </p:grpSpPr>
      <p:pic>
        <p:nvPicPr>
          <p:cNvPr id="45" name="Picture 8" descr=""/>
          <p:cNvPicPr/>
          <p:nvPr/>
        </p:nvPicPr>
        <p:blipFill>
          <a:blip r:embed="rId2"/>
          <a:srcRect l="0" t="1526" r="0" b="-1526"/>
          <a:stretch/>
        </p:blipFill>
        <p:spPr>
          <a:xfrm>
            <a:off x="0" y="6120000"/>
            <a:ext cx="9143640" cy="742680"/>
          </a:xfrm>
          <a:prstGeom prst="rect">
            <a:avLst/>
          </a:prstGeom>
          <a:ln w="0">
            <a:noFill/>
          </a:ln>
        </p:spPr>
      </p:pic>
      <p:sp>
        <p:nvSpPr>
          <p:cNvPr id="46" name="Rectangle 11"/>
          <p:cNvSpPr/>
          <p:nvPr/>
        </p:nvSpPr>
        <p:spPr>
          <a:xfrm>
            <a:off x="0" y="468720"/>
            <a:ext cx="9143640" cy="5646600"/>
          </a:xfrm>
          <a:prstGeom prst="rect">
            <a:avLst/>
          </a:prstGeom>
          <a:gradFill rotWithShape="0">
            <a:gsLst>
              <a:gs pos="0">
                <a:srgbClr val="dcdce0">
                  <a:alpha val="0"/>
                </a:srgbClr>
              </a:gs>
              <a:gs pos="100000">
                <a:srgbClr val="dedee2"/>
              </a:gs>
            </a:gsLst>
            <a:lin ang="5400000"/>
          </a:gradFill>
          <a:ln>
            <a:noFill/>
          </a:ln>
        </p:spPr>
        <p:style>
          <a:lnRef idx="2">
            <a:schemeClr val="accent1">
              <a:shade val="50000"/>
            </a:schemeClr>
          </a:lnRef>
          <a:fillRef idx="1">
            <a:schemeClr val="accent1"/>
          </a:fillRef>
          <a:effectRef idx="0">
            <a:schemeClr val="accent1"/>
          </a:effectRef>
          <a:fontRef idx="minor"/>
        </p:style>
      </p:sp>
      <p:sp>
        <p:nvSpPr>
          <p:cNvPr id="47" name="Straight Connector 12"/>
          <p:cNvSpPr/>
          <p:nvPr/>
        </p:nvSpPr>
        <p:spPr>
          <a:xfrm>
            <a:off x="0" y="6120720"/>
            <a:ext cx="9144000" cy="360"/>
          </a:xfrm>
          <a:prstGeom prst="line">
            <a:avLst/>
          </a:prstGeom>
          <a:ln w="12700">
            <a:solidFill>
              <a:srgbClr val="000001">
                <a:alpha val="20000"/>
              </a:srgbClr>
            </a:solidFill>
            <a:round/>
          </a:ln>
        </p:spPr>
        <p:style>
          <a:lnRef idx="1">
            <a:schemeClr val="accent1"/>
          </a:lnRef>
          <a:fillRef idx="0">
            <a:schemeClr val="accent1"/>
          </a:fillRef>
          <a:effectRef idx="0">
            <a:schemeClr val="accent1"/>
          </a:effectRef>
          <a:fontRef idx="minor"/>
        </p:style>
      </p:sp>
      <p:sp>
        <p:nvSpPr>
          <p:cNvPr id="48" name="PlaceHolder 1"/>
          <p:cNvSpPr>
            <a:spLocks noGrp="1"/>
          </p:cNvSpPr>
          <p:nvPr>
            <p:ph type="title"/>
          </p:nvPr>
        </p:nvSpPr>
        <p:spPr>
          <a:xfrm>
            <a:off x="1128600" y="956160"/>
            <a:ext cx="6571080" cy="1049040"/>
          </a:xfrm>
          <a:prstGeom prst="rect">
            <a:avLst/>
          </a:prstGeom>
          <a:noFill/>
          <a:ln w="0">
            <a:noFill/>
          </a:ln>
        </p:spPr>
        <p:txBody>
          <a:bodyPr anchor="t">
            <a:noAutofit/>
          </a:bodyPr>
          <a:p>
            <a:pPr>
              <a:lnSpc>
                <a:spcPct val="90000"/>
              </a:lnSpc>
              <a:buNone/>
            </a:pPr>
            <a:r>
              <a:rPr b="0" lang="en-US" sz="3200" spc="-1" strike="noStrike">
                <a:solidFill>
                  <a:srgbClr val="000000"/>
                </a:solidFill>
                <a:latin typeface="Century Gothic"/>
              </a:rPr>
              <a:t>Click to edit Master title style</a:t>
            </a:r>
            <a:endParaRPr b="0" lang="en-US" sz="3200" spc="-1" strike="noStrike">
              <a:solidFill>
                <a:srgbClr val="000000"/>
              </a:solidFill>
              <a:latin typeface="Century Gothic"/>
            </a:endParaRPr>
          </a:p>
        </p:txBody>
      </p:sp>
      <p:sp>
        <p:nvSpPr>
          <p:cNvPr id="49" name="PlaceHolder 2"/>
          <p:cNvSpPr>
            <a:spLocks noGrp="1"/>
          </p:cNvSpPr>
          <p:nvPr>
            <p:ph type="body"/>
          </p:nvPr>
        </p:nvSpPr>
        <p:spPr>
          <a:xfrm>
            <a:off x="1128600" y="2167560"/>
            <a:ext cx="6571080" cy="3288240"/>
          </a:xfrm>
          <a:prstGeom prst="rect">
            <a:avLst/>
          </a:prstGeom>
          <a:noFill/>
          <a:ln w="0">
            <a:noFill/>
          </a:ln>
        </p:spPr>
        <p:txBody>
          <a:bodyPr anchor="t">
            <a:noAutofit/>
          </a:bodyPr>
          <a:p>
            <a:pPr marL="228600" indent="-228600">
              <a:lnSpc>
                <a:spcPct val="120000"/>
              </a:lnSpc>
              <a:spcBef>
                <a:spcPts val="1001"/>
              </a:spcBef>
              <a:buClr>
                <a:srgbClr val="415588"/>
              </a:buClr>
              <a:buFont typeface="Arial"/>
              <a:buChar char="•"/>
            </a:pPr>
            <a:r>
              <a:rPr b="0" lang="en-US" sz="2000" spc="-1" strike="noStrike">
                <a:solidFill>
                  <a:srgbClr val="000000"/>
                </a:solidFill>
                <a:latin typeface="Century Gothic"/>
              </a:rPr>
              <a:t>Edit Master text styles</a:t>
            </a:r>
            <a:endParaRPr b="0" lang="en-US" sz="2000" spc="-1" strike="noStrike">
              <a:solidFill>
                <a:srgbClr val="000000"/>
              </a:solidFill>
              <a:latin typeface="Century Gothic"/>
            </a:endParaRPr>
          </a:p>
          <a:p>
            <a:pPr lvl="1" marL="685800" indent="-228600">
              <a:lnSpc>
                <a:spcPct val="120000"/>
              </a:lnSpc>
              <a:spcBef>
                <a:spcPts val="499"/>
              </a:spcBef>
              <a:buClr>
                <a:srgbClr val="415588"/>
              </a:buClr>
              <a:buFont typeface="Arial"/>
              <a:buChar char="•"/>
            </a:pPr>
            <a:r>
              <a:rPr b="0" lang="en-US" sz="1600" spc="-1" strike="noStrike">
                <a:solidFill>
                  <a:srgbClr val="000000"/>
                </a:solidFill>
                <a:latin typeface="Century Gothic"/>
              </a:rPr>
              <a:t>Second level</a:t>
            </a:r>
            <a:endParaRPr b="0" lang="en-US" sz="1600" spc="-1" strike="noStrike">
              <a:solidFill>
                <a:srgbClr val="000000"/>
              </a:solidFill>
              <a:latin typeface="Century Gothic"/>
            </a:endParaRPr>
          </a:p>
          <a:p>
            <a:pPr lvl="2" marL="1143000" indent="-228600">
              <a:lnSpc>
                <a:spcPct val="120000"/>
              </a:lnSpc>
              <a:spcBef>
                <a:spcPts val="499"/>
              </a:spcBef>
              <a:buClr>
                <a:srgbClr val="415588"/>
              </a:buClr>
              <a:buFont typeface="Arial"/>
              <a:buChar char="•"/>
            </a:pPr>
            <a:r>
              <a:rPr b="0" lang="en-US" sz="1600" spc="-1" strike="noStrike">
                <a:solidFill>
                  <a:srgbClr val="000000"/>
                </a:solidFill>
                <a:latin typeface="Century Gothic"/>
              </a:rPr>
              <a:t>Third level</a:t>
            </a:r>
            <a:endParaRPr b="0" lang="en-US" sz="1600" spc="-1" strike="noStrike">
              <a:solidFill>
                <a:srgbClr val="000000"/>
              </a:solidFill>
              <a:latin typeface="Century Gothic"/>
            </a:endParaRPr>
          </a:p>
          <a:p>
            <a:pPr lvl="3" marL="1600200" indent="-228600">
              <a:lnSpc>
                <a:spcPct val="120000"/>
              </a:lnSpc>
              <a:spcBef>
                <a:spcPts val="499"/>
              </a:spcBef>
              <a:buClr>
                <a:srgbClr val="415588"/>
              </a:buClr>
              <a:buFont typeface="Arial"/>
              <a:buChar char="•"/>
            </a:pPr>
            <a:r>
              <a:rPr b="0" lang="en-US" sz="1400" spc="-1" strike="noStrike">
                <a:solidFill>
                  <a:srgbClr val="000000"/>
                </a:solidFill>
                <a:latin typeface="Century Gothic"/>
              </a:rPr>
              <a:t>Fourth level</a:t>
            </a:r>
            <a:endParaRPr b="0" lang="en-US" sz="1400" spc="-1" strike="noStrike">
              <a:solidFill>
                <a:srgbClr val="000000"/>
              </a:solidFill>
              <a:latin typeface="Century Gothic"/>
            </a:endParaRPr>
          </a:p>
          <a:p>
            <a:pPr lvl="4" marL="2057400" indent="-228600">
              <a:lnSpc>
                <a:spcPct val="120000"/>
              </a:lnSpc>
              <a:spcBef>
                <a:spcPts val="499"/>
              </a:spcBef>
              <a:buClr>
                <a:srgbClr val="415588"/>
              </a:buClr>
              <a:buFont typeface="Arial"/>
              <a:buChar char="•"/>
            </a:pPr>
            <a:r>
              <a:rPr b="0" lang="en-US" sz="1200" spc="-1" strike="noStrike">
                <a:solidFill>
                  <a:srgbClr val="000000"/>
                </a:solidFill>
                <a:latin typeface="Century Gothic"/>
              </a:rPr>
              <a:t>Fifth level</a:t>
            </a:r>
            <a:endParaRPr b="0" lang="en-US" sz="1200" spc="-1" strike="noStrike">
              <a:solidFill>
                <a:srgbClr val="000000"/>
              </a:solidFill>
              <a:latin typeface="Century Gothic"/>
            </a:endParaRPr>
          </a:p>
        </p:txBody>
      </p:sp>
      <p:sp>
        <p:nvSpPr>
          <p:cNvPr id="50" name="PlaceHolder 3"/>
          <p:cNvSpPr>
            <a:spLocks noGrp="1"/>
          </p:cNvSpPr>
          <p:nvPr>
            <p:ph type="dt" idx="4"/>
          </p:nvPr>
        </p:nvSpPr>
        <p:spPr>
          <a:xfrm>
            <a:off x="4521240" y="330480"/>
            <a:ext cx="2368080" cy="304560"/>
          </a:xfrm>
          <a:prstGeom prst="rect">
            <a:avLst/>
          </a:prstGeom>
          <a:noFill/>
          <a:ln w="0">
            <a:noFill/>
          </a:ln>
        </p:spPr>
        <p:txBody>
          <a:bodyPr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51" name="PlaceHolder 4"/>
          <p:cNvSpPr>
            <a:spLocks noGrp="1"/>
          </p:cNvSpPr>
          <p:nvPr>
            <p:ph type="ftr" idx="5"/>
          </p:nvPr>
        </p:nvSpPr>
        <p:spPr>
          <a:xfrm>
            <a:off x="1128600" y="329400"/>
            <a:ext cx="3387960" cy="3088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52" name="PlaceHolder 5"/>
          <p:cNvSpPr>
            <a:spLocks noGrp="1"/>
          </p:cNvSpPr>
          <p:nvPr>
            <p:ph type="sldNum" idx="6"/>
          </p:nvPr>
        </p:nvSpPr>
        <p:spPr>
          <a:xfrm>
            <a:off x="6893640" y="131760"/>
            <a:ext cx="795240" cy="503280"/>
          </a:xfrm>
          <a:prstGeom prst="rect">
            <a:avLst/>
          </a:prstGeom>
          <a:noFill/>
          <a:ln w="0">
            <a:noFill/>
          </a:ln>
        </p:spPr>
        <p:txBody>
          <a:bodyPr anchor="t">
            <a:noAutofit/>
          </a:bodyPr>
          <a:lstStyle>
            <a:lvl1pPr algn="r">
              <a:lnSpc>
                <a:spcPct val="100000"/>
              </a:lnSpc>
              <a:buNone/>
              <a:defRPr b="0" lang="en-US" sz="2800" spc="-1" strike="noStrike">
                <a:solidFill>
                  <a:srgbClr val="415588"/>
                </a:solidFill>
                <a:latin typeface="Century Gothic"/>
              </a:defRPr>
            </a:lvl1pPr>
          </a:lstStyle>
          <a:p>
            <a:pPr algn="r">
              <a:lnSpc>
                <a:spcPct val="100000"/>
              </a:lnSpc>
              <a:buNone/>
            </a:pPr>
            <a:fld id="{2B1746A0-5BA6-4BF3-AF4D-51C53E009BB2}" type="slidenum">
              <a:rPr b="0" lang="en-US" sz="2800" spc="-1" strike="noStrike">
                <a:solidFill>
                  <a:srgbClr val="415588"/>
                </a:solidFill>
                <a:latin typeface="Century Gothic"/>
              </a:rPr>
              <a:t>&lt;number&gt;</a:t>
            </a:fld>
            <a:endParaRPr b="0" lang="en-US" sz="2800" spc="-1" strike="noStrike">
              <a:latin typeface="Times New Roman"/>
            </a:endParaRPr>
          </a:p>
        </p:txBody>
      </p:sp>
      <p:pic>
        <p:nvPicPr>
          <p:cNvPr id="53" name="Picture 14" descr="RedHashing.emf"/>
          <p:cNvPicPr/>
          <p:nvPr/>
        </p:nvPicPr>
        <p:blipFill>
          <a:blip r:embed="rId3"/>
          <a:srcRect l="-116" t="0" r="42454" b="36408"/>
          <a:stretch/>
        </p:blipFill>
        <p:spPr>
          <a:xfrm>
            <a:off x="1125360" y="643320"/>
            <a:ext cx="6574320" cy="15516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1125360" y="959400"/>
            <a:ext cx="5760360" cy="2571480"/>
          </a:xfrm>
          <a:prstGeom prst="rect">
            <a:avLst/>
          </a:prstGeom>
          <a:noFill/>
          <a:ln w="0">
            <a:noFill/>
          </a:ln>
        </p:spPr>
        <p:txBody>
          <a:bodyPr bIns="0" anchor="b">
            <a:normAutofit/>
          </a:bodyPr>
          <a:p>
            <a:pPr>
              <a:lnSpc>
                <a:spcPct val="90000"/>
              </a:lnSpc>
              <a:buNone/>
            </a:pPr>
            <a:r>
              <a:rPr b="0" lang="hu-HU" sz="5400" spc="-1" strike="noStrike">
                <a:solidFill>
                  <a:srgbClr val="000000"/>
                </a:solidFill>
                <a:latin typeface="Century Gothic"/>
              </a:rPr>
              <a:t>Projektirányítás az informatikában </a:t>
            </a:r>
            <a:endParaRPr b="0" lang="en-US" sz="5400" spc="-1" strike="noStrike">
              <a:solidFill>
                <a:srgbClr val="000000"/>
              </a:solidFill>
              <a:latin typeface="Century Gothic"/>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1128600" y="956160"/>
            <a:ext cx="6571080" cy="1049040"/>
          </a:xfrm>
          <a:prstGeom prst="rect">
            <a:avLst/>
          </a:prstGeom>
          <a:noFill/>
          <a:ln w="0">
            <a:noFill/>
          </a:ln>
        </p:spPr>
        <p:txBody>
          <a:bodyPr anchor="t">
            <a:noAutofit/>
          </a:bodyPr>
          <a:p>
            <a:pPr>
              <a:lnSpc>
                <a:spcPct val="90000"/>
              </a:lnSpc>
              <a:buNone/>
            </a:pPr>
            <a:r>
              <a:rPr b="0" lang="hu-HU" sz="4800" spc="-1" strike="noStrike">
                <a:solidFill>
                  <a:srgbClr val="000000"/>
                </a:solidFill>
                <a:latin typeface="Century Gothic"/>
              </a:rPr>
              <a:t>Ügyfélfogadás felsőfokon</a:t>
            </a:r>
            <a:endParaRPr b="0" lang="en-US" sz="4800" spc="-1" strike="noStrike">
              <a:solidFill>
                <a:srgbClr val="000000"/>
              </a:solidFill>
              <a:latin typeface="Century Gothic"/>
            </a:endParaRPr>
          </a:p>
        </p:txBody>
      </p:sp>
      <p:sp>
        <p:nvSpPr>
          <p:cNvPr id="98" name="PlaceHolder 2"/>
          <p:cNvSpPr>
            <a:spLocks noGrp="1"/>
          </p:cNvSpPr>
          <p:nvPr>
            <p:ph/>
          </p:nvPr>
        </p:nvSpPr>
        <p:spPr>
          <a:xfrm>
            <a:off x="1219320" y="5181480"/>
            <a:ext cx="6571080" cy="1049040"/>
          </a:xfrm>
          <a:prstGeom prst="rect">
            <a:avLst/>
          </a:prstGeom>
          <a:noFill/>
          <a:ln w="0">
            <a:noFill/>
          </a:ln>
        </p:spPr>
        <p:txBody>
          <a:bodyPr anchor="t">
            <a:noAutofit/>
          </a:bodyPr>
          <a:p>
            <a:pPr marL="228600" indent="-228600">
              <a:lnSpc>
                <a:spcPct val="120000"/>
              </a:lnSpc>
              <a:spcBef>
                <a:spcPts val="1001"/>
              </a:spcBef>
              <a:buClr>
                <a:srgbClr val="415588"/>
              </a:buClr>
              <a:buFont typeface="Arial"/>
              <a:buChar char="•"/>
            </a:pPr>
            <a:r>
              <a:rPr b="0" i="1" lang="hu-HU" sz="2000" spc="-1" strike="noStrike">
                <a:solidFill>
                  <a:srgbClr val="000000"/>
                </a:solidFill>
                <a:latin typeface="Century Gothic"/>
              </a:rPr>
              <a:t>Milyen a jó ügyfélszolgálat? </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pPr>
            <a:r>
              <a:rPr b="0" i="1" lang="hu-HU" sz="2000" spc="-1" strike="noStrike">
                <a:solidFill>
                  <a:srgbClr val="000000"/>
                </a:solidFill>
                <a:latin typeface="Century Gothic"/>
              </a:rPr>
              <a:t>Melyek a tipikus hibák?</a:t>
            </a:r>
            <a:endParaRPr b="0" lang="en-US" sz="2000" spc="-1" strike="noStrike">
              <a:solidFill>
                <a:srgbClr val="000000"/>
              </a:solidFill>
              <a:latin typeface="Century Gothic"/>
            </a:endParaRPr>
          </a:p>
          <a:p>
            <a:pPr>
              <a:lnSpc>
                <a:spcPct val="120000"/>
              </a:lnSpc>
              <a:spcBef>
                <a:spcPts val="1001"/>
              </a:spcBef>
              <a:buNone/>
            </a:pPr>
            <a:endParaRPr b="0" lang="en-US" sz="2000" spc="-1" strike="noStrike">
              <a:solidFill>
                <a:srgbClr val="000000"/>
              </a:solidFill>
              <a:latin typeface="Century Gothic"/>
            </a:endParaRPr>
          </a:p>
        </p:txBody>
      </p:sp>
      <p:pic>
        <p:nvPicPr>
          <p:cNvPr id="99" name="Picture 3" descr=""/>
          <p:cNvPicPr/>
          <p:nvPr/>
        </p:nvPicPr>
        <p:blipFill>
          <a:blip r:embed="rId1"/>
          <a:stretch/>
        </p:blipFill>
        <p:spPr>
          <a:xfrm>
            <a:off x="1219320" y="2451240"/>
            <a:ext cx="7024320" cy="265212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1128600" y="956160"/>
            <a:ext cx="6571080" cy="1049040"/>
          </a:xfrm>
          <a:prstGeom prst="rect">
            <a:avLst/>
          </a:prstGeom>
          <a:noFill/>
          <a:ln w="0">
            <a:noFill/>
          </a:ln>
        </p:spPr>
        <p:txBody>
          <a:bodyPr anchor="t">
            <a:noAutofit/>
          </a:bodyPr>
          <a:p>
            <a:pPr>
              <a:lnSpc>
                <a:spcPct val="90000"/>
              </a:lnSpc>
              <a:buNone/>
            </a:pPr>
            <a:r>
              <a:rPr b="0" lang="hu-HU" sz="3200" spc="-1" strike="noStrike">
                <a:solidFill>
                  <a:srgbClr val="000000"/>
                </a:solidFill>
                <a:latin typeface="Century Gothic"/>
              </a:rPr>
              <a:t>Ügyfélfogadás felsőfokon</a:t>
            </a:r>
            <a:br>
              <a:rPr sz="3200"/>
            </a:br>
            <a:r>
              <a:rPr b="0" lang="hu-HU" sz="1800" spc="-1" strike="noStrike">
                <a:solidFill>
                  <a:srgbClr val="000000"/>
                </a:solidFill>
                <a:latin typeface="Century Gothic"/>
              </a:rPr>
              <a:t>(Példa ismérvekre)</a:t>
            </a:r>
            <a:endParaRPr b="0" lang="en-US" sz="1800" spc="-1" strike="noStrike">
              <a:solidFill>
                <a:srgbClr val="000000"/>
              </a:solidFill>
              <a:latin typeface="Century Gothic"/>
            </a:endParaRPr>
          </a:p>
        </p:txBody>
      </p:sp>
      <p:graphicFrame>
        <p:nvGraphicFramePr>
          <p:cNvPr id="101" name="Content Placeholder 3"/>
          <p:cNvGraphicFramePr/>
          <p:nvPr/>
        </p:nvGraphicFramePr>
        <p:xfrm>
          <a:off x="1219320" y="2286000"/>
          <a:ext cx="6571080" cy="3657240"/>
        </p:xfrm>
        <a:graphic>
          <a:graphicData uri="http://schemas.openxmlformats.org/drawingml/2006/table">
            <a:tbl>
              <a:tblPr/>
              <a:tblGrid>
                <a:gridCol w="3285360"/>
                <a:gridCol w="3285720"/>
              </a:tblGrid>
              <a:tr h="285120">
                <a:tc>
                  <a:txBody>
                    <a:bodyPr lIns="68400" rIns="68400" tIns="0" bIns="0" anchor="t">
                      <a:noAutofit/>
                    </a:bodyPr>
                    <a:p>
                      <a:pPr>
                        <a:lnSpc>
                          <a:spcPct val="107000"/>
                        </a:lnSpc>
                        <a:buNone/>
                      </a:pPr>
                      <a:r>
                        <a:rPr b="1" lang="hu-HU" sz="1600" spc="-1" strike="noStrike">
                          <a:solidFill>
                            <a:srgbClr val="ffffff"/>
                          </a:solidFill>
                          <a:latin typeface="Century Gothic"/>
                        </a:rPr>
                        <a:t>Professzionális</a:t>
                      </a:r>
                      <a:endParaRPr b="0" lang="en-US" sz="16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38160">
                      <a:solidFill>
                        <a:srgbClr val="ffffff"/>
                      </a:solidFill>
                    </a:lnB>
                    <a:solidFill>
                      <a:srgbClr val="8f8f8f"/>
                    </a:solidFill>
                  </a:tcPr>
                </a:tc>
                <a:tc>
                  <a:txBody>
                    <a:bodyPr lIns="68400" rIns="68400" tIns="0" bIns="0" anchor="t">
                      <a:noAutofit/>
                    </a:bodyPr>
                    <a:p>
                      <a:pPr>
                        <a:lnSpc>
                          <a:spcPct val="107000"/>
                        </a:lnSpc>
                        <a:buNone/>
                      </a:pPr>
                      <a:r>
                        <a:rPr b="1" lang="hu-HU" sz="1600" spc="-1" strike="noStrike">
                          <a:solidFill>
                            <a:srgbClr val="ffffff"/>
                          </a:solidFill>
                          <a:latin typeface="Century Gothic"/>
                        </a:rPr>
                        <a:t>Amatőr</a:t>
                      </a:r>
                      <a:endParaRPr b="0" lang="en-US" sz="16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38160">
                      <a:solidFill>
                        <a:srgbClr val="ffffff"/>
                      </a:solidFill>
                    </a:lnB>
                    <a:solidFill>
                      <a:srgbClr val="8f8f8f"/>
                    </a:solidFill>
                  </a:tcPr>
                </a:tc>
              </a:tr>
              <a:tr h="1505160">
                <a:tc>
                  <a:txBody>
                    <a:bodyPr lIns="68400" rIns="68400" tIns="0" bIns="0" anchor="t">
                      <a:noAutofit/>
                    </a:bodyPr>
                    <a:p>
                      <a:pPr>
                        <a:lnSpc>
                          <a:spcPct val="107000"/>
                        </a:lnSpc>
                        <a:buNone/>
                      </a:pPr>
                      <a:r>
                        <a:rPr b="1" lang="hu-HU" sz="1600" spc="-1" strike="noStrike">
                          <a:solidFill>
                            <a:srgbClr val="ffffff"/>
                          </a:solidFill>
                          <a:latin typeface="Century Gothic"/>
                        </a:rPr>
                        <a:t>Látszik rajta a hivatása, tiszta, rendes az öltözéke.</a:t>
                      </a:r>
                      <a:endParaRPr b="0" lang="en-US" sz="16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415588"/>
                    </a:solidFill>
                  </a:tcPr>
                </a:tc>
                <a:tc>
                  <a:txBody>
                    <a:bodyPr lIns="68400" rIns="68400" tIns="0" bIns="0" anchor="t">
                      <a:noAutofit/>
                    </a:bodyPr>
                    <a:p>
                      <a:pPr>
                        <a:lnSpc>
                          <a:spcPct val="107000"/>
                        </a:lnSpc>
                        <a:buNone/>
                      </a:pPr>
                      <a:r>
                        <a:rPr b="0" lang="hu-HU" sz="1600" spc="-1" strike="noStrike">
                          <a:solidFill>
                            <a:srgbClr val="000000"/>
                          </a:solidFill>
                          <a:latin typeface="Century Gothic"/>
                        </a:rPr>
                        <a:t>Ügyet sem vet rád, nagyobb figyelmet szentel egy személyes telefonhívásnak, vagy barátjával folytatott beszélgetésnek.</a:t>
                      </a:r>
                      <a:endParaRPr b="0" lang="en-US" sz="16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ced0d9"/>
                    </a:solidFill>
                  </a:tcPr>
                </a:tc>
              </a:tr>
              <a:tr h="1123920">
                <a:tc>
                  <a:txBody>
                    <a:bodyPr lIns="68400" rIns="68400" tIns="0" bIns="0" anchor="t">
                      <a:noAutofit/>
                    </a:bodyPr>
                    <a:p>
                      <a:pPr>
                        <a:lnSpc>
                          <a:spcPct val="107000"/>
                        </a:lnSpc>
                        <a:buNone/>
                      </a:pPr>
                      <a:r>
                        <a:rPr b="1" lang="hu-HU" sz="1600" spc="-1" strike="noStrike">
                          <a:solidFill>
                            <a:srgbClr val="ffffff"/>
                          </a:solidFill>
                          <a:latin typeface="Century Gothic"/>
                        </a:rPr>
                        <a:t>Magabiztosan kommunikál, nem hümmög és nem forgatja a szemét.</a:t>
                      </a:r>
                      <a:endParaRPr b="0" lang="en-US" sz="16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415588"/>
                    </a:solidFill>
                  </a:tcPr>
                </a:tc>
                <a:tc>
                  <a:txBody>
                    <a:bodyPr lIns="68400" rIns="68400" tIns="0" bIns="0" anchor="t">
                      <a:noAutofit/>
                    </a:bodyPr>
                    <a:p>
                      <a:pPr>
                        <a:lnSpc>
                          <a:spcPct val="107000"/>
                        </a:lnSpc>
                        <a:buNone/>
                      </a:pPr>
                      <a:r>
                        <a:rPr b="0" lang="hu-HU" sz="1600" spc="-1" strike="noStrike">
                          <a:solidFill>
                            <a:srgbClr val="000000"/>
                          </a:solidFill>
                          <a:latin typeface="Century Gothic"/>
                        </a:rPr>
                        <a:t>Egyre csak sóhajtozik és vágja rá, hogy „nem tudom” anélkül, hogy megpróbálná megtalálni a választ.</a:t>
                      </a:r>
                      <a:endParaRPr b="0" lang="en-US" sz="16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e8e9ed"/>
                    </a:solidFill>
                  </a:tcPr>
                </a:tc>
              </a:tr>
              <a:tr h="743040">
                <a:tc>
                  <a:txBody>
                    <a:bodyPr lIns="68400" rIns="68400" tIns="0" bIns="0" anchor="t">
                      <a:noAutofit/>
                    </a:bodyPr>
                    <a:p>
                      <a:pPr>
                        <a:lnSpc>
                          <a:spcPct val="107000"/>
                        </a:lnSpc>
                        <a:buNone/>
                      </a:pPr>
                      <a:r>
                        <a:rPr b="1" lang="hu-HU" sz="1600" spc="-1" strike="noStrike">
                          <a:solidFill>
                            <a:srgbClr val="ffffff"/>
                          </a:solidFill>
                          <a:latin typeface="Century Gothic"/>
                        </a:rPr>
                        <a:t>Mosolyog, segítőkésznek mutatkozik. </a:t>
                      </a:r>
                      <a:endParaRPr b="0" lang="en-US" sz="16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415588"/>
                    </a:solidFill>
                  </a:tcPr>
                </a:tc>
                <a:tc>
                  <a:txBody>
                    <a:bodyPr lIns="68400" rIns="68400" tIns="0" bIns="0" anchor="t">
                      <a:noAutofit/>
                    </a:bodyPr>
                    <a:p>
                      <a:pPr>
                        <a:lnSpc>
                          <a:spcPct val="107000"/>
                        </a:lnSpc>
                        <a:buNone/>
                      </a:pPr>
                      <a:r>
                        <a:rPr b="0" lang="hu-HU" sz="1600" spc="-1" strike="noStrike">
                          <a:solidFill>
                            <a:srgbClr val="000000"/>
                          </a:solidFill>
                          <a:latin typeface="Century Gothic"/>
                        </a:rPr>
                        <a:t>Rágógumizik vagy eszik, miközben veled beszél.</a:t>
                      </a:r>
                      <a:endParaRPr b="0" lang="en-US" sz="16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ced0d9"/>
                    </a:solidFill>
                  </a:tcPr>
                </a:tc>
              </a:tr>
            </a:tbl>
          </a:graphicData>
        </a:graphic>
      </p:graphicFrame>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1128600" y="956160"/>
            <a:ext cx="6571080" cy="1049040"/>
          </a:xfrm>
          <a:prstGeom prst="rect">
            <a:avLst/>
          </a:prstGeom>
          <a:noFill/>
          <a:ln w="0">
            <a:noFill/>
          </a:ln>
        </p:spPr>
        <p:txBody>
          <a:bodyPr anchor="t">
            <a:noAutofit/>
          </a:bodyPr>
          <a:p>
            <a:pPr>
              <a:lnSpc>
                <a:spcPct val="90000"/>
              </a:lnSpc>
              <a:buNone/>
            </a:pPr>
            <a:r>
              <a:rPr b="0" lang="hu-HU" sz="4800" spc="-1" strike="noStrike">
                <a:solidFill>
                  <a:srgbClr val="000000"/>
                </a:solidFill>
                <a:latin typeface="Century Gothic"/>
              </a:rPr>
              <a:t>Ügyfélfogadás felsőfokon</a:t>
            </a:r>
            <a:endParaRPr b="0" lang="en-US" sz="4800" spc="-1" strike="noStrike">
              <a:solidFill>
                <a:srgbClr val="000000"/>
              </a:solidFill>
              <a:latin typeface="Century Gothic"/>
            </a:endParaRPr>
          </a:p>
        </p:txBody>
      </p:sp>
      <p:sp>
        <p:nvSpPr>
          <p:cNvPr id="103" name="PlaceHolder 2"/>
          <p:cNvSpPr>
            <a:spLocks noGrp="1"/>
          </p:cNvSpPr>
          <p:nvPr>
            <p:ph/>
          </p:nvPr>
        </p:nvSpPr>
        <p:spPr>
          <a:xfrm>
            <a:off x="1138680" y="2666880"/>
            <a:ext cx="6571080" cy="3504960"/>
          </a:xfrm>
          <a:prstGeom prst="rect">
            <a:avLst/>
          </a:prstGeom>
          <a:noFill/>
          <a:ln w="0">
            <a:noFill/>
          </a:ln>
        </p:spPr>
        <p:txBody>
          <a:bodyPr anchor="t">
            <a:normAutofit fontScale="96000"/>
          </a:bodyPr>
          <a:p>
            <a:pPr marL="228600" indent="-228600">
              <a:lnSpc>
                <a:spcPct val="120000"/>
              </a:lnSpc>
              <a:spcBef>
                <a:spcPts val="1001"/>
              </a:spcBef>
              <a:buClr>
                <a:srgbClr val="415588"/>
              </a:buClr>
              <a:buFont typeface="Arial"/>
              <a:buChar char="•"/>
            </a:pPr>
            <a:r>
              <a:rPr b="1" lang="hu-HU" sz="2000" spc="-1" strike="noStrike">
                <a:solidFill>
                  <a:srgbClr val="000000"/>
                </a:solidFill>
                <a:latin typeface="Century Gothic"/>
              </a:rPr>
              <a:t>Pozitív, emlékezetes </a:t>
            </a:r>
            <a:r>
              <a:rPr b="0" lang="hu-HU" sz="2000" spc="-1" strike="noStrike">
                <a:solidFill>
                  <a:srgbClr val="000000"/>
                </a:solidFill>
                <a:latin typeface="Century Gothic"/>
              </a:rPr>
              <a:t>tapasztalathoz juttatni </a:t>
            </a:r>
            <a:r>
              <a:rPr b="1" lang="hu-HU" sz="2000" spc="-1" strike="noStrike">
                <a:solidFill>
                  <a:srgbClr val="000000"/>
                </a:solidFill>
                <a:latin typeface="Century Gothic"/>
              </a:rPr>
              <a:t>minden </a:t>
            </a:r>
            <a:r>
              <a:rPr b="0" lang="hu-HU" sz="2000" spc="-1" strike="noStrike">
                <a:solidFill>
                  <a:srgbClr val="000000"/>
                </a:solidFill>
                <a:latin typeface="Century Gothic"/>
              </a:rPr>
              <a:t>egyes vásárlót. </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pPr>
            <a:r>
              <a:rPr b="0" lang="hu-HU" sz="2000" spc="-1" strike="noStrike">
                <a:solidFill>
                  <a:srgbClr val="000000"/>
                </a:solidFill>
                <a:latin typeface="Century Gothic"/>
              </a:rPr>
              <a:t>Ez feltételezi azt, hogy </a:t>
            </a:r>
            <a:r>
              <a:rPr b="1" lang="hu-HU" sz="2000" spc="-1" strike="noStrike">
                <a:solidFill>
                  <a:srgbClr val="000000"/>
                </a:solidFill>
                <a:latin typeface="Century Gothic"/>
              </a:rPr>
              <a:t>megfelelünk az elvárásaiknak </a:t>
            </a:r>
            <a:r>
              <a:rPr b="0" lang="hu-HU" sz="2000" spc="-1" strike="noStrike">
                <a:solidFill>
                  <a:srgbClr val="000000"/>
                </a:solidFill>
                <a:latin typeface="Century Gothic"/>
              </a:rPr>
              <a:t>és </a:t>
            </a:r>
            <a:r>
              <a:rPr b="1" lang="hu-HU" sz="2000" spc="-1" strike="noStrike">
                <a:solidFill>
                  <a:srgbClr val="000000"/>
                </a:solidFill>
                <a:latin typeface="Century Gothic"/>
              </a:rPr>
              <a:t>kielégítjük az igényeiket </a:t>
            </a:r>
            <a:r>
              <a:rPr b="0" lang="hu-HU" sz="2000" spc="-1" strike="noStrike">
                <a:solidFill>
                  <a:srgbClr val="000000"/>
                </a:solidFill>
                <a:latin typeface="Century Gothic"/>
              </a:rPr>
              <a:t>– mégpedig </a:t>
            </a:r>
            <a:r>
              <a:rPr b="1" lang="hu-HU" sz="2000" spc="-1" strike="noStrike">
                <a:solidFill>
                  <a:srgbClr val="000000"/>
                </a:solidFill>
                <a:latin typeface="Century Gothic"/>
              </a:rPr>
              <a:t>erőlködés nélkül.</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pPr>
            <a:r>
              <a:rPr b="0" lang="hu-HU" sz="2000" spc="-1" strike="noStrike">
                <a:solidFill>
                  <a:srgbClr val="000000"/>
                </a:solidFill>
                <a:latin typeface="Century Gothic"/>
              </a:rPr>
              <a:t>Keresni kell annak a lehetőségét, hogy miként szerezhetünk </a:t>
            </a:r>
            <a:r>
              <a:rPr b="1" lang="hu-HU" sz="2000" spc="-1" strike="noStrike">
                <a:solidFill>
                  <a:srgbClr val="000000"/>
                </a:solidFill>
                <a:latin typeface="Century Gothic"/>
              </a:rPr>
              <a:t>örömöt egyedi módon </a:t>
            </a:r>
            <a:r>
              <a:rPr b="0" lang="hu-HU" sz="2000" spc="-1" strike="noStrike">
                <a:solidFill>
                  <a:srgbClr val="000000"/>
                </a:solidFill>
                <a:latin typeface="Century Gothic"/>
              </a:rPr>
              <a:t>az ügyfeleknek, és hogy mi az, amit </a:t>
            </a:r>
            <a:r>
              <a:rPr b="1" lang="hu-HU" sz="2000" spc="-1" strike="noStrike">
                <a:solidFill>
                  <a:srgbClr val="000000"/>
                </a:solidFill>
                <a:latin typeface="Century Gothic"/>
              </a:rPr>
              <a:t>kellemes meglepetésként</a:t>
            </a:r>
            <a:r>
              <a:rPr b="0" lang="hu-HU" sz="2000" spc="-1" strike="noStrike">
                <a:solidFill>
                  <a:srgbClr val="000000"/>
                </a:solidFill>
                <a:latin typeface="Century Gothic"/>
              </a:rPr>
              <a:t> élnek meg. </a:t>
            </a:r>
            <a:endParaRPr b="0" lang="en-US" sz="2000" spc="-1" strike="noStrike">
              <a:solidFill>
                <a:srgbClr val="000000"/>
              </a:solidFill>
              <a:latin typeface="Century Gothic"/>
            </a:endParaRPr>
          </a:p>
          <a:p>
            <a:pPr>
              <a:lnSpc>
                <a:spcPct val="120000"/>
              </a:lnSpc>
              <a:spcBef>
                <a:spcPts val="1001"/>
              </a:spcBef>
              <a:buNone/>
            </a:pPr>
            <a:endParaRPr b="0" lang="en-US" sz="2000" spc="-1" strike="noStrike">
              <a:solidFill>
                <a:srgbClr val="000000"/>
              </a:solidFill>
              <a:latin typeface="Century Gothic"/>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1128600" y="956160"/>
            <a:ext cx="7405200" cy="1049040"/>
          </a:xfrm>
          <a:prstGeom prst="rect">
            <a:avLst/>
          </a:prstGeom>
          <a:noFill/>
          <a:ln w="0">
            <a:noFill/>
          </a:ln>
        </p:spPr>
        <p:txBody>
          <a:bodyPr anchor="t">
            <a:normAutofit fontScale="95000"/>
          </a:bodyPr>
          <a:p>
            <a:pPr>
              <a:lnSpc>
                <a:spcPct val="90000"/>
              </a:lnSpc>
              <a:buNone/>
            </a:pPr>
            <a:r>
              <a:rPr b="1" lang="hu-HU" sz="2000" spc="-1" strike="noStrike">
                <a:solidFill>
                  <a:srgbClr val="8d3108"/>
                </a:solidFill>
                <a:latin typeface="Century Gothic"/>
              </a:rPr>
              <a:t>A legfontosabb alapszabály: </a:t>
            </a:r>
            <a:br>
              <a:rPr sz="2800"/>
            </a:br>
            <a:r>
              <a:rPr b="1" lang="hu-HU" sz="2800" spc="-1" strike="noStrike">
                <a:solidFill>
                  <a:srgbClr val="8d3108"/>
                </a:solidFill>
                <a:latin typeface="Century Gothic"/>
              </a:rPr>
              <a:t>Az ügyfél számára te vagy a vállalat!</a:t>
            </a:r>
            <a:endParaRPr b="0" lang="en-US" sz="2800" spc="-1" strike="noStrike">
              <a:solidFill>
                <a:srgbClr val="000000"/>
              </a:solidFill>
              <a:latin typeface="Century Gothic"/>
            </a:endParaRPr>
          </a:p>
        </p:txBody>
      </p:sp>
      <p:sp>
        <p:nvSpPr>
          <p:cNvPr id="105" name="PlaceHolder 2"/>
          <p:cNvSpPr>
            <a:spLocks noGrp="1"/>
          </p:cNvSpPr>
          <p:nvPr>
            <p:ph/>
          </p:nvPr>
        </p:nvSpPr>
        <p:spPr>
          <a:xfrm>
            <a:off x="1128600" y="2167560"/>
            <a:ext cx="6571080" cy="3288240"/>
          </a:xfrm>
          <a:prstGeom prst="rect">
            <a:avLst/>
          </a:prstGeom>
          <a:noFill/>
          <a:ln w="0">
            <a:noFill/>
          </a:ln>
        </p:spPr>
        <p:txBody>
          <a:bodyPr anchor="t">
            <a:noAutofit/>
          </a:bodyPr>
          <a:p>
            <a:pPr marL="228600" indent="-228600">
              <a:lnSpc>
                <a:spcPct val="120000"/>
              </a:lnSpc>
              <a:spcBef>
                <a:spcPts val="1001"/>
              </a:spcBef>
              <a:buClr>
                <a:srgbClr val="415588"/>
              </a:buClr>
              <a:buFont typeface="Arial"/>
              <a:buChar char="•"/>
            </a:pPr>
            <a:r>
              <a:rPr b="0" lang="hu-HU" sz="2000" spc="-1" strike="noStrike">
                <a:solidFill>
                  <a:srgbClr val="000000"/>
                </a:solidFill>
                <a:latin typeface="Century Gothic"/>
              </a:rPr>
              <a:t>Az ügyfelek nem tesznek különbséget közötted és a cég között. Ez természetes így.</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pPr>
            <a:r>
              <a:rPr b="0" lang="hu-HU" sz="2000" spc="-1" strike="noStrike">
                <a:solidFill>
                  <a:srgbClr val="000000"/>
                </a:solidFill>
                <a:latin typeface="Century Gothic"/>
              </a:rPr>
              <a:t>Ha te mégis elhatárolódsz  szavaiddal a vállalattól („ők”), az kételyt ébreszt az ügyfélben.</a:t>
            </a:r>
            <a:endParaRPr b="0" lang="en-US" sz="2000" spc="-1" strike="noStrike">
              <a:solidFill>
                <a:srgbClr val="000000"/>
              </a:solidFill>
              <a:latin typeface="Century Gothic"/>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2" presetSubtype="4">
                                  <p:stCondLst>
                                    <p:cond delay="0"/>
                                  </p:stCondLst>
                                  <p:childTnLst>
                                    <p:set>
                                      <p:cBhvr>
                                        <p:cTn id="6" dur="1" fill="hold">
                                          <p:stCondLst>
                                            <p:cond delay="0"/>
                                          </p:stCondLst>
                                        </p:cTn>
                                        <p:tgtEl>
                                          <p:spTgt spid="105">
                                            <p:txEl>
                                              <p:pRg st="0" end="0"/>
                                            </p:txEl>
                                          </p:spTgt>
                                        </p:tgtEl>
                                        <p:attrNameLst>
                                          <p:attrName>style.visibility</p:attrName>
                                        </p:attrNameLst>
                                      </p:cBhvr>
                                      <p:to>
                                        <p:strVal val="visible"/>
                                      </p:to>
                                    </p:set>
                                    <p:anim calcmode="lin" valueType="num">
                                      <p:cBhvr additive="repl">
                                        <p:cTn id="7" dur="500" fill="hold"/>
                                        <p:tgtEl>
                                          <p:spTgt spid="105">
                                            <p:txEl>
                                              <p:pRg st="0" end="0"/>
                                            </p:txEl>
                                          </p:spTgt>
                                        </p:tgtEl>
                                        <p:attrNameLst>
                                          <p:attrName>ppt_x</p:attrName>
                                        </p:attrNameLst>
                                      </p:cBhvr>
                                      <p:tavLst>
                                        <p:tav tm="0">
                                          <p:val>
                                            <p:strVal val="#ppt_x"/>
                                          </p:val>
                                        </p:tav>
                                        <p:tav tm="100000">
                                          <p:val>
                                            <p:strVal val="#ppt_x"/>
                                          </p:val>
                                        </p:tav>
                                      </p:tavLst>
                                    </p:anim>
                                    <p:anim calcmode="lin" valueType="num">
                                      <p:cBhvr additive="repl">
                                        <p:cTn id="8" dur="500" fill="hold"/>
                                        <p:tgtEl>
                                          <p:spTgt spid="10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nodeType="clickEffect" fill="hold" presetClass="entr" presetID="2" presetSubtype="4">
                                  <p:stCondLst>
                                    <p:cond delay="0"/>
                                  </p:stCondLst>
                                  <p:childTnLst>
                                    <p:set>
                                      <p:cBhvr>
                                        <p:cTn id="12" dur="1" fill="hold">
                                          <p:stCondLst>
                                            <p:cond delay="0"/>
                                          </p:stCondLst>
                                        </p:cTn>
                                        <p:tgtEl>
                                          <p:spTgt spid="105">
                                            <p:txEl>
                                              <p:pRg st="1" end="1"/>
                                            </p:txEl>
                                          </p:spTgt>
                                        </p:tgtEl>
                                        <p:attrNameLst>
                                          <p:attrName>style.visibility</p:attrName>
                                        </p:attrNameLst>
                                      </p:cBhvr>
                                      <p:to>
                                        <p:strVal val="visible"/>
                                      </p:to>
                                    </p:set>
                                    <p:anim calcmode="lin" valueType="num">
                                      <p:cBhvr additive="repl">
                                        <p:cTn id="13" dur="500" fill="hold"/>
                                        <p:tgtEl>
                                          <p:spTgt spid="105">
                                            <p:txEl>
                                              <p:pRg st="1" end="1"/>
                                            </p:txEl>
                                          </p:spTgt>
                                        </p:tgtEl>
                                        <p:attrNameLst>
                                          <p:attrName>ppt_x</p:attrName>
                                        </p:attrNameLst>
                                      </p:cBhvr>
                                      <p:tavLst>
                                        <p:tav tm="0">
                                          <p:val>
                                            <p:strVal val="#ppt_x"/>
                                          </p:val>
                                        </p:tav>
                                        <p:tav tm="100000">
                                          <p:val>
                                            <p:strVal val="#ppt_x"/>
                                          </p:val>
                                        </p:tav>
                                      </p:tavLst>
                                    </p:anim>
                                    <p:anim calcmode="lin" valueType="num">
                                      <p:cBhvr additive="repl">
                                        <p:cTn id="14" dur="500" fill="hold"/>
                                        <p:tgtEl>
                                          <p:spTgt spid="10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1128600" y="956160"/>
            <a:ext cx="7405200" cy="1049040"/>
          </a:xfrm>
          <a:prstGeom prst="rect">
            <a:avLst/>
          </a:prstGeom>
          <a:noFill/>
          <a:ln w="0">
            <a:noFill/>
          </a:ln>
        </p:spPr>
        <p:txBody>
          <a:bodyPr anchor="t">
            <a:normAutofit/>
          </a:bodyPr>
          <a:p>
            <a:pPr>
              <a:lnSpc>
                <a:spcPct val="90000"/>
              </a:lnSpc>
              <a:buNone/>
            </a:pPr>
            <a:r>
              <a:rPr b="1" lang="hu-HU" sz="2800" spc="-1" strike="noStrike">
                <a:solidFill>
                  <a:srgbClr val="8d3108"/>
                </a:solidFill>
                <a:latin typeface="Century Gothic"/>
              </a:rPr>
              <a:t>A szolgáltatások értékelésének</a:t>
            </a:r>
            <a:br>
              <a:rPr sz="2800"/>
            </a:br>
            <a:r>
              <a:rPr b="1" lang="hu-HU" sz="2800" spc="-1" strike="noStrike">
                <a:solidFill>
                  <a:srgbClr val="8d3108"/>
                </a:solidFill>
                <a:latin typeface="Century Gothic"/>
              </a:rPr>
              <a:t> 5 szempontja</a:t>
            </a:r>
            <a:endParaRPr b="0" lang="en-US" sz="2800" spc="-1" strike="noStrike">
              <a:solidFill>
                <a:srgbClr val="000000"/>
              </a:solidFill>
              <a:latin typeface="Century Gothic"/>
            </a:endParaRPr>
          </a:p>
        </p:txBody>
      </p:sp>
      <p:sp>
        <p:nvSpPr>
          <p:cNvPr id="107" name="PlaceHolder 2"/>
          <p:cNvSpPr>
            <a:spLocks noGrp="1"/>
          </p:cNvSpPr>
          <p:nvPr>
            <p:ph/>
          </p:nvPr>
        </p:nvSpPr>
        <p:spPr>
          <a:xfrm>
            <a:off x="1128600" y="2040840"/>
            <a:ext cx="7772040" cy="4080600"/>
          </a:xfrm>
          <a:prstGeom prst="rect">
            <a:avLst/>
          </a:prstGeom>
          <a:noFill/>
          <a:ln w="0">
            <a:noFill/>
          </a:ln>
        </p:spPr>
        <p:txBody>
          <a:bodyPr anchor="t">
            <a:normAutofit fontScale="58000"/>
          </a:bodyPr>
          <a:p>
            <a:pPr marL="228600" indent="-228600">
              <a:lnSpc>
                <a:spcPct val="120000"/>
              </a:lnSpc>
              <a:spcBef>
                <a:spcPts val="1001"/>
              </a:spcBef>
              <a:buClr>
                <a:srgbClr val="415588"/>
              </a:buClr>
              <a:buFont typeface="Arial"/>
              <a:buChar char="•"/>
            </a:pPr>
            <a:r>
              <a:rPr b="1" lang="hu-HU" sz="2900" spc="-1" strike="noStrike">
                <a:solidFill>
                  <a:srgbClr val="000000"/>
                </a:solidFill>
                <a:latin typeface="Century Gothic"/>
              </a:rPr>
              <a:t>Megbízhatóság: </a:t>
            </a:r>
            <a:r>
              <a:rPr b="0" lang="hu-HU" sz="2900" spc="-1" strike="noStrike">
                <a:solidFill>
                  <a:srgbClr val="000000"/>
                </a:solidFill>
                <a:latin typeface="Century Gothic"/>
              </a:rPr>
              <a:t>A képesség és készség, hogy a szolgáltató azt nyújtsa, ami </a:t>
            </a:r>
            <a:r>
              <a:rPr b="0" i="1" lang="hu-HU" sz="2900" spc="-1" strike="noStrike">
                <a:solidFill>
                  <a:srgbClr val="000000"/>
                </a:solidFill>
                <a:latin typeface="Century Gothic"/>
              </a:rPr>
              <a:t>megígért</a:t>
            </a:r>
            <a:r>
              <a:rPr b="0" lang="hu-HU" sz="2900" spc="-1" strike="noStrike">
                <a:solidFill>
                  <a:srgbClr val="000000"/>
                </a:solidFill>
                <a:latin typeface="Century Gothic"/>
              </a:rPr>
              <a:t>, megbízhatóan és pontosan.</a:t>
            </a:r>
            <a:endParaRPr b="0" lang="en-US" sz="2900" spc="-1" strike="noStrike">
              <a:solidFill>
                <a:srgbClr val="000000"/>
              </a:solidFill>
              <a:latin typeface="Century Gothic"/>
            </a:endParaRPr>
          </a:p>
          <a:p>
            <a:pPr marL="228600" indent="-228600">
              <a:lnSpc>
                <a:spcPct val="120000"/>
              </a:lnSpc>
              <a:spcBef>
                <a:spcPts val="1001"/>
              </a:spcBef>
              <a:buClr>
                <a:srgbClr val="415588"/>
              </a:buClr>
              <a:buFont typeface="Arial"/>
              <a:buChar char="•"/>
            </a:pPr>
            <a:r>
              <a:rPr b="1" lang="hu-HU" sz="2900" spc="-1" strike="noStrike">
                <a:solidFill>
                  <a:srgbClr val="000000"/>
                </a:solidFill>
                <a:latin typeface="Century Gothic"/>
              </a:rPr>
              <a:t>Biztonságérzet: </a:t>
            </a:r>
            <a:r>
              <a:rPr b="0" lang="hu-HU" sz="2900" spc="-1" strike="noStrike">
                <a:solidFill>
                  <a:srgbClr val="000000"/>
                </a:solidFill>
                <a:latin typeface="Century Gothic"/>
              </a:rPr>
              <a:t>A szakértelem és az ügyfél iránti udvariasság, valamint annak a képessége, hogy </a:t>
            </a:r>
            <a:r>
              <a:rPr b="0" i="1" lang="hu-HU" sz="2900" spc="-1" strike="noStrike">
                <a:solidFill>
                  <a:srgbClr val="000000"/>
                </a:solidFill>
                <a:latin typeface="Century Gothic"/>
              </a:rPr>
              <a:t>bizalmat ébresszünk</a:t>
            </a:r>
            <a:r>
              <a:rPr b="0" lang="hu-HU" sz="2900" spc="-1" strike="noStrike">
                <a:solidFill>
                  <a:srgbClr val="000000"/>
                </a:solidFill>
                <a:latin typeface="Century Gothic"/>
              </a:rPr>
              <a:t>, hozzáértést és magabiztosságot sugározzunk.</a:t>
            </a:r>
            <a:endParaRPr b="0" lang="en-US" sz="2900" spc="-1" strike="noStrike">
              <a:solidFill>
                <a:srgbClr val="000000"/>
              </a:solidFill>
              <a:latin typeface="Century Gothic"/>
            </a:endParaRPr>
          </a:p>
          <a:p>
            <a:pPr marL="228600" indent="-228600">
              <a:lnSpc>
                <a:spcPct val="120000"/>
              </a:lnSpc>
              <a:spcBef>
                <a:spcPts val="1001"/>
              </a:spcBef>
              <a:buClr>
                <a:srgbClr val="415588"/>
              </a:buClr>
              <a:buFont typeface="Arial"/>
              <a:buChar char="•"/>
            </a:pPr>
            <a:r>
              <a:rPr b="1" lang="hu-HU" sz="2900" spc="-1" strike="noStrike">
                <a:solidFill>
                  <a:srgbClr val="000000"/>
                </a:solidFill>
                <a:latin typeface="Century Gothic"/>
              </a:rPr>
              <a:t>A fizikai valóság: </a:t>
            </a:r>
            <a:r>
              <a:rPr b="0" i="1" lang="hu-HU" sz="2900" spc="-1" strike="noStrike">
                <a:solidFill>
                  <a:srgbClr val="000000"/>
                </a:solidFill>
                <a:latin typeface="Century Gothic"/>
              </a:rPr>
              <a:t>Érzékszervekkel felfogható</a:t>
            </a:r>
            <a:r>
              <a:rPr b="0" lang="hu-HU" sz="2900" spc="-1" strike="noStrike">
                <a:solidFill>
                  <a:srgbClr val="000000"/>
                </a:solidFill>
                <a:latin typeface="Century Gothic"/>
              </a:rPr>
              <a:t> adottságok, a hely felszereltsége, küllemünk, megjelenésünk (a többi munkatársé is)</a:t>
            </a:r>
            <a:endParaRPr b="0" lang="en-US" sz="2900" spc="-1" strike="noStrike">
              <a:solidFill>
                <a:srgbClr val="000000"/>
              </a:solidFill>
              <a:latin typeface="Century Gothic"/>
            </a:endParaRPr>
          </a:p>
          <a:p>
            <a:pPr marL="228600" indent="-228600">
              <a:lnSpc>
                <a:spcPct val="120000"/>
              </a:lnSpc>
              <a:spcBef>
                <a:spcPts val="1001"/>
              </a:spcBef>
              <a:buClr>
                <a:srgbClr val="415588"/>
              </a:buClr>
              <a:buFont typeface="Arial"/>
              <a:buChar char="•"/>
            </a:pPr>
            <a:r>
              <a:rPr b="1" lang="hu-HU" sz="2900" spc="-1" strike="noStrike">
                <a:solidFill>
                  <a:srgbClr val="000000"/>
                </a:solidFill>
                <a:latin typeface="Century Gothic"/>
              </a:rPr>
              <a:t>Empátia: </a:t>
            </a:r>
            <a:r>
              <a:rPr b="0" lang="hu-HU" sz="2900" spc="-1" strike="noStrike">
                <a:solidFill>
                  <a:srgbClr val="000000"/>
                </a:solidFill>
                <a:latin typeface="Century Gothic"/>
              </a:rPr>
              <a:t>A beleérzés képessége. Azt jelenti, mennyire vagy képes törődni az ügyfelekkel, és </a:t>
            </a:r>
            <a:r>
              <a:rPr b="0" i="1" lang="hu-HU" sz="2900" spc="-1" strike="noStrike">
                <a:solidFill>
                  <a:srgbClr val="000000"/>
                </a:solidFill>
                <a:latin typeface="Century Gothic"/>
              </a:rPr>
              <a:t>figyelmet szentelni </a:t>
            </a:r>
            <a:r>
              <a:rPr b="0" lang="hu-HU" sz="2900" spc="-1" strike="noStrike">
                <a:solidFill>
                  <a:srgbClr val="000000"/>
                </a:solidFill>
                <a:latin typeface="Century Gothic"/>
              </a:rPr>
              <a:t>nekik mint egyéneknek.</a:t>
            </a:r>
            <a:endParaRPr b="0" lang="en-US" sz="2900" spc="-1" strike="noStrike">
              <a:solidFill>
                <a:srgbClr val="000000"/>
              </a:solidFill>
              <a:latin typeface="Century Gothic"/>
            </a:endParaRPr>
          </a:p>
          <a:p>
            <a:pPr marL="228600" indent="-228600">
              <a:lnSpc>
                <a:spcPct val="120000"/>
              </a:lnSpc>
              <a:spcBef>
                <a:spcPts val="1001"/>
              </a:spcBef>
              <a:buClr>
                <a:srgbClr val="415588"/>
              </a:buClr>
              <a:buFont typeface="Arial"/>
              <a:buChar char="•"/>
            </a:pPr>
            <a:r>
              <a:rPr b="1" lang="hu-HU" sz="2900" spc="-1" strike="noStrike">
                <a:solidFill>
                  <a:srgbClr val="000000"/>
                </a:solidFill>
                <a:latin typeface="Century Gothic"/>
              </a:rPr>
              <a:t>Segítőkészség: </a:t>
            </a:r>
            <a:r>
              <a:rPr b="0" lang="hu-HU" sz="2900" spc="-1" strike="noStrike">
                <a:solidFill>
                  <a:srgbClr val="000000"/>
                </a:solidFill>
                <a:latin typeface="Century Gothic"/>
              </a:rPr>
              <a:t>A </a:t>
            </a:r>
            <a:r>
              <a:rPr b="0" i="1" lang="hu-HU" sz="2900" spc="-1" strike="noStrike">
                <a:solidFill>
                  <a:srgbClr val="000000"/>
                </a:solidFill>
                <a:latin typeface="Century Gothic"/>
              </a:rPr>
              <a:t>hajlandóság</a:t>
            </a:r>
            <a:r>
              <a:rPr b="0" lang="hu-HU" sz="2900" spc="-1" strike="noStrike">
                <a:solidFill>
                  <a:srgbClr val="000000"/>
                </a:solidFill>
                <a:latin typeface="Century Gothic"/>
              </a:rPr>
              <a:t>, készség, hogy azonnali segítséget nyújts az ügyfeleknek. </a:t>
            </a:r>
            <a:endParaRPr b="0" lang="en-US" sz="2900" spc="-1" strike="noStrike">
              <a:solidFill>
                <a:srgbClr val="000000"/>
              </a:solidFill>
              <a:latin typeface="Century Gothic"/>
            </a:endParaRPr>
          </a:p>
          <a:p>
            <a:pPr>
              <a:lnSpc>
                <a:spcPct val="120000"/>
              </a:lnSpc>
              <a:spcBef>
                <a:spcPts val="1001"/>
              </a:spcBef>
              <a:buNone/>
            </a:pPr>
            <a:endParaRPr b="0" lang="en-US" sz="2600" spc="-1" strike="noStrike">
              <a:solidFill>
                <a:srgbClr val="000000"/>
              </a:solidFill>
              <a:latin typeface="Century Gothic"/>
            </a:endParaRPr>
          </a:p>
          <a:p>
            <a:pPr>
              <a:lnSpc>
                <a:spcPct val="120000"/>
              </a:lnSpc>
              <a:spcBef>
                <a:spcPts val="1001"/>
              </a:spcBef>
              <a:buNone/>
            </a:pPr>
            <a:endParaRPr b="0" lang="en-US" sz="2000" spc="-1" strike="noStrike">
              <a:solidFill>
                <a:srgbClr val="000000"/>
              </a:solidFill>
              <a:latin typeface="Century Gothic"/>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1128600" y="956160"/>
            <a:ext cx="7405200" cy="1049040"/>
          </a:xfrm>
          <a:prstGeom prst="rect">
            <a:avLst/>
          </a:prstGeom>
          <a:noFill/>
          <a:ln w="0">
            <a:noFill/>
          </a:ln>
        </p:spPr>
        <p:txBody>
          <a:bodyPr anchor="t">
            <a:normAutofit/>
          </a:bodyPr>
          <a:p>
            <a:pPr>
              <a:lnSpc>
                <a:spcPct val="90000"/>
              </a:lnSpc>
              <a:buNone/>
            </a:pPr>
            <a:r>
              <a:rPr b="1" lang="hu-HU" sz="2800" spc="-1" strike="noStrike">
                <a:solidFill>
                  <a:srgbClr val="8d3108"/>
                </a:solidFill>
                <a:latin typeface="Century Gothic"/>
              </a:rPr>
              <a:t>Ügyfélszolgálat 10 főbenjáró bűne</a:t>
            </a:r>
            <a:endParaRPr b="0" lang="en-US" sz="2800" spc="-1" strike="noStrike">
              <a:solidFill>
                <a:srgbClr val="000000"/>
              </a:solidFill>
              <a:latin typeface="Century Gothic"/>
            </a:endParaRPr>
          </a:p>
        </p:txBody>
      </p:sp>
      <p:sp>
        <p:nvSpPr>
          <p:cNvPr id="109" name="PlaceHolder 2"/>
          <p:cNvSpPr>
            <a:spLocks noGrp="1"/>
          </p:cNvSpPr>
          <p:nvPr>
            <p:ph/>
          </p:nvPr>
        </p:nvSpPr>
        <p:spPr>
          <a:xfrm>
            <a:off x="1066680" y="1820880"/>
            <a:ext cx="7772040" cy="4080600"/>
          </a:xfrm>
          <a:prstGeom prst="rect">
            <a:avLst/>
          </a:prstGeom>
          <a:noFill/>
          <a:ln w="0">
            <a:noFill/>
          </a:ln>
        </p:spPr>
        <p:txBody>
          <a:bodyPr anchor="t">
            <a:normAutofit fontScale="84000"/>
          </a:bodyPr>
          <a:p>
            <a:pPr marL="457200" indent="-457200">
              <a:lnSpc>
                <a:spcPct val="120000"/>
              </a:lnSpc>
              <a:spcBef>
                <a:spcPts val="1001"/>
              </a:spcBef>
              <a:buClr>
                <a:srgbClr val="415588"/>
              </a:buClr>
              <a:buFont typeface="Century Gothic"/>
              <a:buAutoNum type="arabicPeriod"/>
            </a:pPr>
            <a:r>
              <a:rPr b="1" lang="hu-HU" sz="2000" spc="-1" strike="noStrike">
                <a:solidFill>
                  <a:srgbClr val="000000"/>
                </a:solidFill>
                <a:latin typeface="Century Gothic"/>
              </a:rPr>
              <a:t>Nem tudom: </a:t>
            </a:r>
            <a:r>
              <a:rPr b="0" lang="hu-HU" sz="2000" spc="-1" strike="noStrike">
                <a:solidFill>
                  <a:srgbClr val="000000"/>
                </a:solidFill>
                <a:latin typeface="Century Gothic"/>
              </a:rPr>
              <a:t>Ismerd a termékeket, szolgáltatásokat. Legalább tedd hozzá: „utánanézek”</a:t>
            </a:r>
            <a:endParaRPr b="0" lang="en-US" sz="2000" spc="-1" strike="noStrike">
              <a:solidFill>
                <a:srgbClr val="000000"/>
              </a:solidFill>
              <a:latin typeface="Century Gothic"/>
            </a:endParaRPr>
          </a:p>
          <a:p>
            <a:pPr marL="457200" indent="-457200">
              <a:lnSpc>
                <a:spcPct val="120000"/>
              </a:lnSpc>
              <a:spcBef>
                <a:spcPts val="1001"/>
              </a:spcBef>
              <a:buClr>
                <a:srgbClr val="415588"/>
              </a:buClr>
              <a:buFont typeface="Century Gothic"/>
              <a:buAutoNum type="arabicPeriod"/>
            </a:pPr>
            <a:r>
              <a:rPr b="1" lang="hu-HU" sz="2000" spc="-1" strike="noStrike">
                <a:solidFill>
                  <a:srgbClr val="000000"/>
                </a:solidFill>
                <a:latin typeface="Century Gothic"/>
              </a:rPr>
              <a:t>Nem érdekel: </a:t>
            </a:r>
            <a:r>
              <a:rPr b="0" lang="hu-HU" sz="2000" spc="-1" strike="noStrike">
                <a:solidFill>
                  <a:srgbClr val="000000"/>
                </a:solidFill>
                <a:latin typeface="Century Gothic"/>
              </a:rPr>
              <a:t>Ha az ügyfél azt érzi, hogy nem vagy büszke a munkádra, legszívesebben máshol lennél, akkor ő is így fog érezni. </a:t>
            </a:r>
            <a:endParaRPr b="0" lang="en-US" sz="2000" spc="-1" strike="noStrike">
              <a:solidFill>
                <a:srgbClr val="000000"/>
              </a:solidFill>
              <a:latin typeface="Century Gothic"/>
            </a:endParaRPr>
          </a:p>
          <a:p>
            <a:pPr marL="457200" indent="-457200">
              <a:lnSpc>
                <a:spcPct val="120000"/>
              </a:lnSpc>
              <a:spcBef>
                <a:spcPts val="1001"/>
              </a:spcBef>
              <a:buClr>
                <a:srgbClr val="415588"/>
              </a:buClr>
              <a:buFont typeface="Century Gothic"/>
              <a:buAutoNum type="arabicPeriod"/>
            </a:pPr>
            <a:r>
              <a:rPr b="1" lang="hu-HU" sz="2000" spc="-1" strike="noStrike">
                <a:solidFill>
                  <a:srgbClr val="000000"/>
                </a:solidFill>
                <a:latin typeface="Century Gothic"/>
              </a:rPr>
              <a:t>Ne zavarjanak: </a:t>
            </a:r>
            <a:r>
              <a:rPr b="0" lang="hu-HU" sz="2000" spc="-1" strike="noStrike">
                <a:solidFill>
                  <a:srgbClr val="000000"/>
                </a:solidFill>
                <a:latin typeface="Century Gothic"/>
              </a:rPr>
              <a:t>Például kollégával beszélsz közben és azt érzi az ügyfél, hogy zavar.</a:t>
            </a:r>
            <a:endParaRPr b="0" lang="en-US" sz="2000" spc="-1" strike="noStrike">
              <a:solidFill>
                <a:srgbClr val="000000"/>
              </a:solidFill>
              <a:latin typeface="Century Gothic"/>
            </a:endParaRPr>
          </a:p>
          <a:p>
            <a:pPr marL="457200" indent="-457200">
              <a:lnSpc>
                <a:spcPct val="120000"/>
              </a:lnSpc>
              <a:spcBef>
                <a:spcPts val="1001"/>
              </a:spcBef>
              <a:buClr>
                <a:srgbClr val="415588"/>
              </a:buClr>
              <a:buFont typeface="Century Gothic"/>
              <a:buAutoNum type="arabicPeriod"/>
            </a:pPr>
            <a:r>
              <a:rPr b="1" lang="hu-HU" sz="2000" spc="-1" strike="noStrike">
                <a:solidFill>
                  <a:srgbClr val="000000"/>
                </a:solidFill>
                <a:latin typeface="Century Gothic"/>
              </a:rPr>
              <a:t>Nem kedvelem magát: </a:t>
            </a:r>
            <a:r>
              <a:rPr b="0" lang="hu-HU" sz="2000" spc="-1" strike="noStrike">
                <a:solidFill>
                  <a:srgbClr val="000000"/>
                </a:solidFill>
                <a:latin typeface="Century Gothic"/>
              </a:rPr>
              <a:t>(Nem csak az adott ügyfelet veszíted el, hanem mindenki mást is, aki tanúja a helyzetnek. De mások megnyerésére is lehetőséget nyújt a pozitív viselkedésed.)</a:t>
            </a:r>
            <a:endParaRPr b="0" lang="en-US" sz="2000" spc="-1" strike="noStrike">
              <a:solidFill>
                <a:srgbClr val="000000"/>
              </a:solidFill>
              <a:latin typeface="Century Gothic"/>
            </a:endParaRPr>
          </a:p>
          <a:p>
            <a:pPr marL="457200" indent="-457200">
              <a:lnSpc>
                <a:spcPct val="120000"/>
              </a:lnSpc>
              <a:spcBef>
                <a:spcPts val="1001"/>
              </a:spcBef>
              <a:buClr>
                <a:srgbClr val="415588"/>
              </a:buClr>
              <a:buFont typeface="Century Gothic"/>
              <a:buAutoNum type="arabicPeriod"/>
            </a:pPr>
            <a:r>
              <a:rPr b="1" lang="hu-HU" sz="2000" spc="-1" strike="noStrike">
                <a:solidFill>
                  <a:srgbClr val="000000"/>
                </a:solidFill>
                <a:latin typeface="Century Gothic"/>
              </a:rPr>
              <a:t>Én mindent tudok: </a:t>
            </a:r>
            <a:r>
              <a:rPr b="0" lang="hu-HU" sz="2000" spc="-1" strike="noStrike">
                <a:solidFill>
                  <a:srgbClr val="000000"/>
                </a:solidFill>
                <a:latin typeface="Century Gothic"/>
              </a:rPr>
              <a:t>Még fel sem tette a kérdés, már elöntöd információkkal és erősen nyomod valamilyen irányba a döntését.</a:t>
            </a:r>
            <a:r>
              <a:rPr b="0" lang="hu-HU" sz="2900" spc="-1" strike="noStrike">
                <a:solidFill>
                  <a:srgbClr val="000000"/>
                </a:solidFill>
                <a:latin typeface="Century Gothic"/>
              </a:rPr>
              <a:t> </a:t>
            </a:r>
            <a:endParaRPr b="0" lang="en-US" sz="2900" spc="-1" strike="noStrike">
              <a:solidFill>
                <a:srgbClr val="000000"/>
              </a:solidFill>
              <a:latin typeface="Century Gothic"/>
            </a:endParaRPr>
          </a:p>
          <a:p>
            <a:pPr>
              <a:lnSpc>
                <a:spcPct val="120000"/>
              </a:lnSpc>
              <a:spcBef>
                <a:spcPts val="1001"/>
              </a:spcBef>
              <a:buNone/>
            </a:pPr>
            <a:endParaRPr b="0" lang="en-US" sz="2600" spc="-1" strike="noStrike">
              <a:solidFill>
                <a:srgbClr val="000000"/>
              </a:solidFill>
              <a:latin typeface="Century Gothic"/>
            </a:endParaRPr>
          </a:p>
          <a:p>
            <a:pPr>
              <a:lnSpc>
                <a:spcPct val="120000"/>
              </a:lnSpc>
              <a:spcBef>
                <a:spcPts val="1001"/>
              </a:spcBef>
              <a:buNone/>
            </a:pPr>
            <a:endParaRPr b="0" lang="en-US" sz="2000" spc="-1" strike="noStrike">
              <a:solidFill>
                <a:srgbClr val="000000"/>
              </a:solidFill>
              <a:latin typeface="Century Gothic"/>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1128600" y="956160"/>
            <a:ext cx="7405200" cy="1049040"/>
          </a:xfrm>
          <a:prstGeom prst="rect">
            <a:avLst/>
          </a:prstGeom>
          <a:noFill/>
          <a:ln w="0">
            <a:noFill/>
          </a:ln>
        </p:spPr>
        <p:txBody>
          <a:bodyPr anchor="t">
            <a:normAutofit/>
          </a:bodyPr>
          <a:p>
            <a:pPr>
              <a:lnSpc>
                <a:spcPct val="90000"/>
              </a:lnSpc>
              <a:buNone/>
            </a:pPr>
            <a:r>
              <a:rPr b="1" lang="hu-HU" sz="2800" spc="-1" strike="noStrike">
                <a:solidFill>
                  <a:srgbClr val="8d3108"/>
                </a:solidFill>
                <a:latin typeface="Century Gothic"/>
              </a:rPr>
              <a:t>Ügyfélszolgálat 10 főbenjáró bűne</a:t>
            </a:r>
            <a:endParaRPr b="0" lang="en-US" sz="2800" spc="-1" strike="noStrike">
              <a:solidFill>
                <a:srgbClr val="000000"/>
              </a:solidFill>
              <a:latin typeface="Century Gothic"/>
            </a:endParaRPr>
          </a:p>
        </p:txBody>
      </p:sp>
      <p:sp>
        <p:nvSpPr>
          <p:cNvPr id="111" name="PlaceHolder 2"/>
          <p:cNvSpPr>
            <a:spLocks noGrp="1"/>
          </p:cNvSpPr>
          <p:nvPr>
            <p:ph/>
          </p:nvPr>
        </p:nvSpPr>
        <p:spPr>
          <a:xfrm>
            <a:off x="1066680" y="1820880"/>
            <a:ext cx="7772040" cy="4080600"/>
          </a:xfrm>
          <a:prstGeom prst="rect">
            <a:avLst/>
          </a:prstGeom>
          <a:noFill/>
          <a:ln w="0">
            <a:noFill/>
          </a:ln>
        </p:spPr>
        <p:txBody>
          <a:bodyPr anchor="t">
            <a:normAutofit fontScale="80000"/>
          </a:bodyPr>
          <a:p>
            <a:pPr marL="457200" indent="-457200">
              <a:lnSpc>
                <a:spcPct val="120000"/>
              </a:lnSpc>
              <a:spcBef>
                <a:spcPts val="1001"/>
              </a:spcBef>
              <a:buClr>
                <a:srgbClr val="415588"/>
              </a:buClr>
              <a:buFont typeface="Century Gothic"/>
              <a:buAutoNum type="arabicPeriod" startAt="6"/>
            </a:pPr>
            <a:r>
              <a:rPr b="1" lang="hu-HU" sz="2000" spc="-1" strike="noStrike">
                <a:solidFill>
                  <a:srgbClr val="000000"/>
                </a:solidFill>
                <a:latin typeface="Century Gothic"/>
              </a:rPr>
              <a:t>Maga semmit sem tud: </a:t>
            </a:r>
            <a:r>
              <a:rPr b="0" lang="hu-HU" sz="2000" spc="-1" strike="noStrike">
                <a:solidFill>
                  <a:srgbClr val="000000"/>
                </a:solidFill>
                <a:latin typeface="Century Gothic"/>
              </a:rPr>
              <a:t>Udvariatlanul reagálni, megalázni az ügyfelet, mert zavaros – téves elképzelései vannak. </a:t>
            </a:r>
            <a:endParaRPr b="0" lang="en-US" sz="2000" spc="-1" strike="noStrike">
              <a:solidFill>
                <a:srgbClr val="000000"/>
              </a:solidFill>
              <a:latin typeface="Century Gothic"/>
            </a:endParaRPr>
          </a:p>
          <a:p>
            <a:pPr marL="457200" indent="-457200">
              <a:lnSpc>
                <a:spcPct val="120000"/>
              </a:lnSpc>
              <a:spcBef>
                <a:spcPts val="1001"/>
              </a:spcBef>
              <a:buClr>
                <a:srgbClr val="415588"/>
              </a:buClr>
              <a:buFont typeface="Century Gothic"/>
              <a:buAutoNum type="arabicPeriod" startAt="6"/>
            </a:pPr>
            <a:r>
              <a:rPr b="1" lang="hu-HU" sz="2000" spc="-1" strike="noStrike">
                <a:solidFill>
                  <a:srgbClr val="000000"/>
                </a:solidFill>
                <a:latin typeface="Century Gothic"/>
              </a:rPr>
              <a:t>A maga fajtája nemkívánatos személy itt: </a:t>
            </a:r>
            <a:r>
              <a:rPr b="0" lang="hu-HU" sz="2000" spc="-1" strike="noStrike">
                <a:solidFill>
                  <a:srgbClr val="000000"/>
                </a:solidFill>
                <a:latin typeface="Century Gothic"/>
              </a:rPr>
              <a:t>Előítéletek testalkat, méretek, életkor, bőrszín, etnikum, műveltség stb. alapján. Mindenki egyéniség és megérdemli a törődést</a:t>
            </a:r>
            <a:r>
              <a:rPr b="1" i="1" lang="hu-HU" sz="2000" spc="-1" strike="noStrike">
                <a:solidFill>
                  <a:srgbClr val="000000"/>
                </a:solidFill>
                <a:latin typeface="Century Gothic"/>
              </a:rPr>
              <a:t>. </a:t>
            </a:r>
            <a:r>
              <a:rPr b="0" i="1" lang="hu-HU" sz="2000" spc="-1" strike="noStrike">
                <a:solidFill>
                  <a:srgbClr val="000000"/>
                </a:solidFill>
                <a:latin typeface="Century Gothic"/>
              </a:rPr>
              <a:t>Előzékenyebb vagy a nyakkendőssel? Feltételezed, hogy az idősebbek nem értenek egy bonyolultabb kérdést? A fiatalokról, hogy nem vásárolnak? Látszik!</a:t>
            </a:r>
            <a:endParaRPr b="0" lang="en-US" sz="2000" spc="-1" strike="noStrike">
              <a:solidFill>
                <a:srgbClr val="000000"/>
              </a:solidFill>
              <a:latin typeface="Century Gothic"/>
            </a:endParaRPr>
          </a:p>
          <a:p>
            <a:pPr marL="457200" indent="-457200">
              <a:lnSpc>
                <a:spcPct val="120000"/>
              </a:lnSpc>
              <a:spcBef>
                <a:spcPts val="1001"/>
              </a:spcBef>
              <a:buClr>
                <a:srgbClr val="415588"/>
              </a:buClr>
              <a:buFont typeface="Century Gothic"/>
              <a:buAutoNum type="arabicPeriod" startAt="6"/>
            </a:pPr>
            <a:r>
              <a:rPr b="1" lang="hu-HU" sz="2000" spc="-1" strike="noStrike">
                <a:solidFill>
                  <a:srgbClr val="000000"/>
                </a:solidFill>
                <a:latin typeface="Century Gothic"/>
              </a:rPr>
              <a:t>Nehogy visszajöjjön: </a:t>
            </a:r>
            <a:r>
              <a:rPr b="0" lang="hu-HU" sz="2000" spc="-1" strike="noStrike">
                <a:solidFill>
                  <a:srgbClr val="000000"/>
                </a:solidFill>
                <a:latin typeface="Century Gothic"/>
              </a:rPr>
              <a:t>Inkább köszönd meg a támogatását, hűségét.</a:t>
            </a:r>
            <a:endParaRPr b="0" lang="en-US" sz="2000" spc="-1" strike="noStrike">
              <a:solidFill>
                <a:srgbClr val="000000"/>
              </a:solidFill>
              <a:latin typeface="Century Gothic"/>
            </a:endParaRPr>
          </a:p>
          <a:p>
            <a:pPr marL="457200" indent="-457200">
              <a:lnSpc>
                <a:spcPct val="120000"/>
              </a:lnSpc>
              <a:spcBef>
                <a:spcPts val="1001"/>
              </a:spcBef>
              <a:buClr>
                <a:srgbClr val="415588"/>
              </a:buClr>
              <a:buFont typeface="Century Gothic"/>
              <a:buAutoNum type="arabicPeriod" startAt="6"/>
            </a:pPr>
            <a:r>
              <a:rPr b="1" lang="hu-HU" sz="2000" spc="-1" strike="noStrike">
                <a:solidFill>
                  <a:srgbClr val="000000"/>
                </a:solidFill>
                <a:latin typeface="Century Gothic"/>
              </a:rPr>
              <a:t>Nekem van igazam, maga téved: </a:t>
            </a:r>
            <a:r>
              <a:rPr b="0" lang="hu-HU" sz="2000" spc="-1" strike="noStrike">
                <a:solidFill>
                  <a:srgbClr val="000000"/>
                </a:solidFill>
                <a:latin typeface="Century Gothic"/>
              </a:rPr>
              <a:t>Nem kezdünk vitába személyes büszkeségünk érdekében, szolgáltatási területünkön kívül eső témakörben. </a:t>
            </a:r>
            <a:endParaRPr b="0" lang="en-US" sz="2000" spc="-1" strike="noStrike">
              <a:solidFill>
                <a:srgbClr val="000000"/>
              </a:solidFill>
              <a:latin typeface="Century Gothic"/>
            </a:endParaRPr>
          </a:p>
          <a:p>
            <a:pPr marL="457200" indent="-457200">
              <a:lnSpc>
                <a:spcPct val="120000"/>
              </a:lnSpc>
              <a:spcBef>
                <a:spcPts val="1001"/>
              </a:spcBef>
              <a:buClr>
                <a:srgbClr val="415588"/>
              </a:buClr>
              <a:buFont typeface="Century Gothic"/>
              <a:buAutoNum type="arabicPeriod" startAt="6"/>
            </a:pPr>
            <a:r>
              <a:rPr b="1" lang="hu-HU" sz="2000" spc="-1" strike="noStrike">
                <a:solidFill>
                  <a:srgbClr val="000000"/>
                </a:solidFill>
                <a:latin typeface="Century Gothic"/>
              </a:rPr>
              <a:t>Siessen már és várjon: </a:t>
            </a:r>
            <a:r>
              <a:rPr b="0" lang="hu-HU" sz="2000" spc="-1" strike="noStrike">
                <a:solidFill>
                  <a:srgbClr val="000000"/>
                </a:solidFill>
                <a:latin typeface="Century Gothic"/>
              </a:rPr>
              <a:t>Tartsd tiszteletben az ügyfél idejét. </a:t>
            </a:r>
            <a:endParaRPr b="0" lang="en-US" sz="2000" spc="-1" strike="noStrike">
              <a:solidFill>
                <a:srgbClr val="000000"/>
              </a:solidFill>
              <a:latin typeface="Century Gothic"/>
            </a:endParaRPr>
          </a:p>
          <a:p>
            <a:pPr>
              <a:lnSpc>
                <a:spcPct val="120000"/>
              </a:lnSpc>
              <a:spcBef>
                <a:spcPts val="1001"/>
              </a:spcBef>
              <a:buNone/>
            </a:pPr>
            <a:endParaRPr b="0" lang="en-US" sz="2600" spc="-1" strike="noStrike">
              <a:solidFill>
                <a:srgbClr val="000000"/>
              </a:solidFill>
              <a:latin typeface="Century Gothic"/>
            </a:endParaRPr>
          </a:p>
          <a:p>
            <a:pPr>
              <a:lnSpc>
                <a:spcPct val="120000"/>
              </a:lnSpc>
              <a:spcBef>
                <a:spcPts val="1001"/>
              </a:spcBef>
              <a:buNone/>
            </a:pPr>
            <a:endParaRPr b="0" lang="en-US" sz="2000" spc="-1" strike="noStrike">
              <a:solidFill>
                <a:srgbClr val="000000"/>
              </a:solidFill>
              <a:latin typeface="Century Gothic"/>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1128600" y="956160"/>
            <a:ext cx="7405200" cy="1049040"/>
          </a:xfrm>
          <a:prstGeom prst="rect">
            <a:avLst/>
          </a:prstGeom>
          <a:noFill/>
          <a:ln w="0">
            <a:noFill/>
          </a:ln>
        </p:spPr>
        <p:txBody>
          <a:bodyPr anchor="t">
            <a:normAutofit/>
          </a:bodyPr>
          <a:p>
            <a:pPr>
              <a:lnSpc>
                <a:spcPct val="90000"/>
              </a:lnSpc>
              <a:buNone/>
            </a:pPr>
            <a:r>
              <a:rPr b="1" lang="hu-HU" sz="2800" spc="-1" strike="noStrike">
                <a:solidFill>
                  <a:srgbClr val="8d3108"/>
                </a:solidFill>
                <a:latin typeface="Century Gothic"/>
              </a:rPr>
              <a:t>Megnyerő szavak, megnyugtató kifejezések</a:t>
            </a:r>
            <a:endParaRPr b="0" lang="en-US" sz="2800" spc="-1" strike="noStrike">
              <a:solidFill>
                <a:srgbClr val="000000"/>
              </a:solidFill>
              <a:latin typeface="Century Gothic"/>
            </a:endParaRPr>
          </a:p>
        </p:txBody>
      </p:sp>
      <p:sp>
        <p:nvSpPr>
          <p:cNvPr id="113" name="PlaceHolder 2"/>
          <p:cNvSpPr>
            <a:spLocks noGrp="1"/>
          </p:cNvSpPr>
          <p:nvPr>
            <p:ph/>
          </p:nvPr>
        </p:nvSpPr>
        <p:spPr>
          <a:xfrm>
            <a:off x="1066680" y="1820880"/>
            <a:ext cx="7772040" cy="4080600"/>
          </a:xfrm>
          <a:prstGeom prst="rect">
            <a:avLst/>
          </a:prstGeom>
          <a:noFill/>
          <a:ln w="0">
            <a:noFill/>
          </a:ln>
        </p:spPr>
        <p:txBody>
          <a:bodyPr anchor="t">
            <a:normAutofit/>
          </a:bodyPr>
          <a:p>
            <a:pPr>
              <a:lnSpc>
                <a:spcPct val="120000"/>
              </a:lnSpc>
              <a:spcBef>
                <a:spcPts val="1001"/>
              </a:spcBef>
              <a:buNone/>
              <a:tabLst>
                <a:tab algn="l" pos="0"/>
              </a:tabLst>
            </a:pPr>
            <a:endParaRPr b="0" lang="en-US" sz="2600" spc="-1" strike="noStrike">
              <a:solidFill>
                <a:srgbClr val="000000"/>
              </a:solidFill>
              <a:latin typeface="Century Gothic"/>
            </a:endParaRPr>
          </a:p>
          <a:p>
            <a:pPr>
              <a:lnSpc>
                <a:spcPct val="120000"/>
              </a:lnSpc>
              <a:spcBef>
                <a:spcPts val="1001"/>
              </a:spcBef>
              <a:buNone/>
              <a:tabLst>
                <a:tab algn="l" pos="0"/>
              </a:tabLst>
            </a:pPr>
            <a:endParaRPr b="0" lang="en-US" sz="2000" spc="-1" strike="noStrike">
              <a:solidFill>
                <a:srgbClr val="000000"/>
              </a:solidFill>
              <a:latin typeface="Century Gothic"/>
            </a:endParaRPr>
          </a:p>
        </p:txBody>
      </p:sp>
      <p:graphicFrame>
        <p:nvGraphicFramePr>
          <p:cNvPr id="114" name="Table 3"/>
          <p:cNvGraphicFramePr/>
          <p:nvPr/>
        </p:nvGraphicFramePr>
        <p:xfrm>
          <a:off x="1219320" y="2131200"/>
          <a:ext cx="7009920" cy="3770280"/>
        </p:xfrm>
        <a:graphic>
          <a:graphicData uri="http://schemas.openxmlformats.org/drawingml/2006/table">
            <a:tbl>
              <a:tblPr/>
              <a:tblGrid>
                <a:gridCol w="3504960"/>
                <a:gridCol w="3504960"/>
              </a:tblGrid>
              <a:tr h="538560">
                <a:tc>
                  <a:txBody>
                    <a:bodyPr anchor="t">
                      <a:noAutofit/>
                    </a:bodyPr>
                    <a:p>
                      <a:pPr algn="ctr">
                        <a:lnSpc>
                          <a:spcPct val="100000"/>
                        </a:lnSpc>
                        <a:buNone/>
                      </a:pPr>
                      <a:r>
                        <a:rPr b="1" lang="hu-HU" sz="1800" spc="-1" strike="noStrike">
                          <a:solidFill>
                            <a:srgbClr val="ffffff"/>
                          </a:solidFill>
                          <a:latin typeface="Century Gothic"/>
                        </a:rPr>
                        <a:t>Ezt ne mondjuk</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415588"/>
                    </a:solidFill>
                  </a:tcPr>
                </a:tc>
                <a:tc>
                  <a:txBody>
                    <a:bodyPr anchor="t">
                      <a:noAutofit/>
                    </a:bodyPr>
                    <a:p>
                      <a:pPr algn="ctr">
                        <a:lnSpc>
                          <a:spcPct val="100000"/>
                        </a:lnSpc>
                        <a:buNone/>
                      </a:pPr>
                      <a:r>
                        <a:rPr b="1" lang="hu-HU" sz="1800" spc="-1" strike="noStrike">
                          <a:solidFill>
                            <a:srgbClr val="ffffff"/>
                          </a:solidFill>
                          <a:latin typeface="Century Gothic"/>
                        </a:rPr>
                        <a:t>Ezt mondhatjuk</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415588"/>
                    </a:solidFill>
                  </a:tcPr>
                </a:tc>
              </a:tr>
              <a:tr h="538560">
                <a:tc>
                  <a:txBody>
                    <a:bodyPr anchor="t">
                      <a:noAutofit/>
                    </a:bodyPr>
                    <a:p>
                      <a:pPr>
                        <a:lnSpc>
                          <a:spcPct val="100000"/>
                        </a:lnSpc>
                        <a:buNone/>
                      </a:pPr>
                      <a:r>
                        <a:rPr b="0" lang="hu-HU" sz="1350" spc="-1" strike="noStrike">
                          <a:solidFill>
                            <a:srgbClr val="000000"/>
                          </a:solidFill>
                          <a:latin typeface="Century Gothic"/>
                        </a:rPr>
                        <a:t>„</a:t>
                      </a:r>
                      <a:r>
                        <a:rPr b="0" lang="hu-HU" sz="1350" spc="-1" strike="noStrike">
                          <a:solidFill>
                            <a:srgbClr val="000000"/>
                          </a:solidFill>
                          <a:latin typeface="Century Gothic"/>
                        </a:rPr>
                        <a:t>Kiszaladt még egy csokiért.”</a:t>
                      </a:r>
                      <a:endParaRPr b="0" lang="en-US" sz="135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ed0d9"/>
                    </a:solidFill>
                  </a:tcPr>
                </a:tc>
                <a:tc>
                  <a:txBody>
                    <a:bodyPr anchor="t">
                      <a:noAutofit/>
                    </a:bodyPr>
                    <a:p>
                      <a:pPr>
                        <a:lnSpc>
                          <a:spcPct val="100000"/>
                        </a:lnSpc>
                        <a:buNone/>
                      </a:pPr>
                      <a:r>
                        <a:rPr b="0" lang="hu-HU" sz="1350" spc="-1" strike="noStrike">
                          <a:solidFill>
                            <a:srgbClr val="000000"/>
                          </a:solidFill>
                          <a:latin typeface="Century Gothic"/>
                        </a:rPr>
                        <a:t>„</a:t>
                      </a:r>
                      <a:r>
                        <a:rPr b="0" lang="hu-HU" sz="1350" spc="-1" strike="noStrike">
                          <a:solidFill>
                            <a:srgbClr val="000000"/>
                          </a:solidFill>
                          <a:latin typeface="Century Gothic"/>
                        </a:rPr>
                        <a:t>Sajnos, most nem tudom kapcsolni a kolléganőt.”</a:t>
                      </a:r>
                      <a:endParaRPr b="0" lang="en-US" sz="135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ed0d9"/>
                    </a:solidFill>
                  </a:tcPr>
                </a:tc>
              </a:tr>
              <a:tr h="538560">
                <a:tc>
                  <a:txBody>
                    <a:bodyPr anchor="t">
                      <a:noAutofit/>
                    </a:bodyPr>
                    <a:p>
                      <a:pPr>
                        <a:lnSpc>
                          <a:spcPct val="100000"/>
                        </a:lnSpc>
                        <a:buNone/>
                      </a:pPr>
                      <a:r>
                        <a:rPr b="0" lang="hu-HU" sz="1350" spc="-1" strike="noStrike">
                          <a:solidFill>
                            <a:srgbClr val="000000"/>
                          </a:solidFill>
                          <a:latin typeface="Century Gothic"/>
                        </a:rPr>
                        <a:t>„</a:t>
                      </a:r>
                      <a:r>
                        <a:rPr b="0" lang="hu-HU" sz="1350" spc="-1" strike="noStrike">
                          <a:solidFill>
                            <a:srgbClr val="000000"/>
                          </a:solidFill>
                          <a:latin typeface="Century Gothic"/>
                        </a:rPr>
                        <a:t>Még mindig nem végeztünk?”</a:t>
                      </a:r>
                      <a:endParaRPr b="0" lang="en-US" sz="135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8e9ed"/>
                    </a:solidFill>
                  </a:tcPr>
                </a:tc>
                <a:tc>
                  <a:txBody>
                    <a:bodyPr anchor="t">
                      <a:noAutofit/>
                    </a:bodyPr>
                    <a:p>
                      <a:pPr>
                        <a:lnSpc>
                          <a:spcPct val="100000"/>
                        </a:lnSpc>
                        <a:buNone/>
                      </a:pPr>
                      <a:r>
                        <a:rPr b="0" lang="hu-HU" sz="1350" spc="-1" strike="noStrike">
                          <a:solidFill>
                            <a:srgbClr val="000000"/>
                          </a:solidFill>
                          <a:latin typeface="Century Gothic"/>
                        </a:rPr>
                        <a:t>„</a:t>
                      </a:r>
                      <a:r>
                        <a:rPr b="0" lang="hu-HU" sz="1350" spc="-1" strike="noStrike">
                          <a:solidFill>
                            <a:srgbClr val="000000"/>
                          </a:solidFill>
                          <a:latin typeface="Century Gothic"/>
                        </a:rPr>
                        <a:t>Segíthetek önnek még valamiben?”</a:t>
                      </a:r>
                      <a:endParaRPr b="0" lang="en-US" sz="135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8e9ed"/>
                    </a:solidFill>
                  </a:tcPr>
                </a:tc>
              </a:tr>
              <a:tr h="538560">
                <a:tc>
                  <a:txBody>
                    <a:bodyPr anchor="t">
                      <a:noAutofit/>
                    </a:bodyPr>
                    <a:p>
                      <a:pPr>
                        <a:lnSpc>
                          <a:spcPct val="100000"/>
                        </a:lnSpc>
                        <a:buNone/>
                      </a:pPr>
                      <a:r>
                        <a:rPr b="0" lang="hu-HU" sz="1350" spc="-1" strike="noStrike">
                          <a:solidFill>
                            <a:srgbClr val="000000"/>
                          </a:solidFill>
                          <a:latin typeface="Century Gothic"/>
                        </a:rPr>
                        <a:t>„</a:t>
                      </a:r>
                      <a:r>
                        <a:rPr b="0" lang="hu-HU" sz="1350" spc="-1" strike="noStrike">
                          <a:solidFill>
                            <a:srgbClr val="000000"/>
                          </a:solidFill>
                          <a:latin typeface="Century Gothic"/>
                        </a:rPr>
                        <a:t>Nem tesz semmit.”</a:t>
                      </a:r>
                      <a:endParaRPr b="0" lang="en-US" sz="135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ed0d9"/>
                    </a:solidFill>
                  </a:tcPr>
                </a:tc>
                <a:tc>
                  <a:txBody>
                    <a:bodyPr anchor="t">
                      <a:noAutofit/>
                    </a:bodyPr>
                    <a:p>
                      <a:pPr>
                        <a:lnSpc>
                          <a:spcPct val="100000"/>
                        </a:lnSpc>
                        <a:buNone/>
                      </a:pPr>
                      <a:r>
                        <a:rPr b="0" lang="hu-HU" sz="1350" spc="-1" strike="noStrike">
                          <a:solidFill>
                            <a:srgbClr val="000000"/>
                          </a:solidFill>
                          <a:latin typeface="Century Gothic"/>
                        </a:rPr>
                        <a:t>„</a:t>
                      </a:r>
                      <a:r>
                        <a:rPr b="0" lang="hu-HU" sz="1350" spc="-1" strike="noStrike">
                          <a:solidFill>
                            <a:srgbClr val="000000"/>
                          </a:solidFill>
                          <a:latin typeface="Century Gothic"/>
                        </a:rPr>
                        <a:t>Szívesen segítek önnek máskor is.”</a:t>
                      </a:r>
                      <a:endParaRPr b="0" lang="en-US" sz="1350" spc="-1" strike="noStrike">
                        <a:latin typeface="Arial"/>
                      </a:endParaRPr>
                    </a:p>
                    <a:p>
                      <a:pPr>
                        <a:lnSpc>
                          <a:spcPct val="100000"/>
                        </a:lnSpc>
                        <a:buNone/>
                      </a:pPr>
                      <a:r>
                        <a:rPr b="0" lang="hu-HU" sz="1350" spc="-1" strike="noStrike">
                          <a:solidFill>
                            <a:srgbClr val="000000"/>
                          </a:solidFill>
                          <a:latin typeface="Century Gothic"/>
                        </a:rPr>
                        <a:t>„</a:t>
                      </a:r>
                      <a:r>
                        <a:rPr b="0" lang="hu-HU" sz="1350" spc="-1" strike="noStrike">
                          <a:solidFill>
                            <a:srgbClr val="000000"/>
                          </a:solidFill>
                          <a:latin typeface="Century Gothic"/>
                        </a:rPr>
                        <a:t>Boldogan megteszem.”</a:t>
                      </a:r>
                      <a:endParaRPr b="0" lang="en-US" sz="135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ed0d9"/>
                    </a:solidFill>
                  </a:tcPr>
                </a:tc>
              </a:tr>
              <a:tr h="685800">
                <a:tc>
                  <a:txBody>
                    <a:bodyPr anchor="t">
                      <a:noAutofit/>
                    </a:bodyPr>
                    <a:p>
                      <a:pPr>
                        <a:lnSpc>
                          <a:spcPct val="100000"/>
                        </a:lnSpc>
                        <a:buNone/>
                      </a:pPr>
                      <a:r>
                        <a:rPr b="0" lang="hu-HU" sz="1350" spc="-1" strike="noStrike">
                          <a:solidFill>
                            <a:srgbClr val="000000"/>
                          </a:solidFill>
                          <a:latin typeface="Century Gothic"/>
                        </a:rPr>
                        <a:t>Az olyan megszólítások, mint „édesem”, „aranyoskám”, „haver”, „barátom”, „édes fiam”. </a:t>
                      </a:r>
                      <a:endParaRPr b="0" lang="en-US" sz="135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8e9ed"/>
                    </a:solidFill>
                  </a:tcPr>
                </a:tc>
                <a:tc>
                  <a:txBody>
                    <a:bodyPr anchor="t">
                      <a:noAutofit/>
                    </a:bodyPr>
                    <a:p>
                      <a:pPr>
                        <a:lnSpc>
                          <a:spcPct val="100000"/>
                        </a:lnSpc>
                        <a:buNone/>
                      </a:pPr>
                      <a:r>
                        <a:rPr b="0" lang="hu-HU" sz="1350" spc="-1" strike="noStrike">
                          <a:solidFill>
                            <a:srgbClr val="000000"/>
                          </a:solidFill>
                          <a:latin typeface="Century Gothic"/>
                        </a:rPr>
                        <a:t>Az ügyfél neve (úgy, ahogyan szeretné, hogy szólítsák.)</a:t>
                      </a:r>
                      <a:endParaRPr b="0" lang="en-US" sz="135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8e9ed"/>
                    </a:solidFill>
                  </a:tcPr>
                </a:tc>
              </a:tr>
              <a:tr h="538560">
                <a:tc>
                  <a:txBody>
                    <a:bodyPr anchor="t">
                      <a:noAutofit/>
                    </a:bodyPr>
                    <a:p>
                      <a:pPr>
                        <a:lnSpc>
                          <a:spcPct val="100000"/>
                        </a:lnSpc>
                        <a:buNone/>
                      </a:pPr>
                      <a:r>
                        <a:rPr b="0" lang="hu-HU" sz="1350" spc="-1" strike="noStrike">
                          <a:solidFill>
                            <a:srgbClr val="000000"/>
                          </a:solidFill>
                          <a:latin typeface="Century Gothic"/>
                        </a:rPr>
                        <a:t>„</a:t>
                      </a:r>
                      <a:r>
                        <a:rPr b="0" lang="hu-HU" sz="1350" spc="-1" strike="noStrike">
                          <a:solidFill>
                            <a:srgbClr val="000000"/>
                          </a:solidFill>
                          <a:latin typeface="Century Gothic"/>
                        </a:rPr>
                        <a:t>Ez nem az én gondom.”</a:t>
                      </a:r>
                      <a:endParaRPr b="0" lang="en-US" sz="135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ed0d9"/>
                    </a:solidFill>
                  </a:tcPr>
                </a:tc>
                <a:tc>
                  <a:txBody>
                    <a:bodyPr anchor="t">
                      <a:noAutofit/>
                    </a:bodyPr>
                    <a:p>
                      <a:pPr>
                        <a:lnSpc>
                          <a:spcPct val="100000"/>
                        </a:lnSpc>
                        <a:buNone/>
                      </a:pPr>
                      <a:r>
                        <a:rPr b="0" lang="hu-HU" sz="1350" spc="-1" strike="noStrike">
                          <a:solidFill>
                            <a:srgbClr val="000000"/>
                          </a:solidFill>
                          <a:latin typeface="Century Gothic"/>
                        </a:rPr>
                        <a:t>„</a:t>
                      </a:r>
                      <a:r>
                        <a:rPr b="0" lang="hu-HU" sz="1350" spc="-1" strike="noStrike">
                          <a:solidFill>
                            <a:srgbClr val="000000"/>
                          </a:solidFill>
                          <a:latin typeface="Century Gothic"/>
                        </a:rPr>
                        <a:t>Mélységesen megértem a csalódottságát.”</a:t>
                      </a:r>
                      <a:endParaRPr b="0" lang="en-US" sz="135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ed0d9"/>
                    </a:solidFill>
                  </a:tcPr>
                </a:tc>
              </a:tr>
              <a:tr h="538560">
                <a:tc>
                  <a:txBody>
                    <a:bodyPr anchor="t">
                      <a:noAutofit/>
                    </a:bodyPr>
                    <a:p>
                      <a:pPr>
                        <a:lnSpc>
                          <a:spcPct val="100000"/>
                        </a:lnSpc>
                        <a:buNone/>
                      </a:pPr>
                      <a:r>
                        <a:rPr b="0" lang="hu-HU" sz="1350" spc="-1" strike="noStrike">
                          <a:solidFill>
                            <a:srgbClr val="000000"/>
                          </a:solidFill>
                          <a:latin typeface="Century Gothic"/>
                        </a:rPr>
                        <a:t>„</a:t>
                      </a:r>
                      <a:r>
                        <a:rPr b="0" lang="hu-HU" sz="1350" spc="-1" strike="noStrike">
                          <a:solidFill>
                            <a:srgbClr val="000000"/>
                          </a:solidFill>
                          <a:latin typeface="Century Gothic"/>
                        </a:rPr>
                        <a:t>Persze, persze, majd megnézem.”</a:t>
                      </a:r>
                      <a:endParaRPr b="0" lang="en-US" sz="135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8e9ed"/>
                    </a:solidFill>
                  </a:tcPr>
                </a:tc>
                <a:tc>
                  <a:txBody>
                    <a:bodyPr anchor="t">
                      <a:noAutofit/>
                    </a:bodyPr>
                    <a:p>
                      <a:pPr>
                        <a:lnSpc>
                          <a:spcPct val="100000"/>
                        </a:lnSpc>
                        <a:buNone/>
                      </a:pPr>
                      <a:r>
                        <a:rPr b="0" lang="hu-HU" sz="1350" spc="-1" strike="noStrike">
                          <a:solidFill>
                            <a:srgbClr val="000000"/>
                          </a:solidFill>
                          <a:latin typeface="Century Gothic"/>
                        </a:rPr>
                        <a:t>„</a:t>
                      </a:r>
                      <a:r>
                        <a:rPr b="0" lang="hu-HU" sz="1350" spc="-1" strike="noStrike">
                          <a:solidFill>
                            <a:srgbClr val="000000"/>
                          </a:solidFill>
                          <a:latin typeface="Century Gothic"/>
                        </a:rPr>
                        <a:t>Személyesen fogok utánanézni, hogy minden rendben van-e.”</a:t>
                      </a:r>
                      <a:endParaRPr b="0" lang="en-US" sz="135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8e9ed"/>
                    </a:solidFill>
                  </a:tcPr>
                </a:tc>
              </a:tr>
            </a:tbl>
          </a:graphicData>
        </a:graphic>
      </p:graphicFrame>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1128600" y="956160"/>
            <a:ext cx="7405200" cy="1049040"/>
          </a:xfrm>
          <a:prstGeom prst="rect">
            <a:avLst/>
          </a:prstGeom>
          <a:noFill/>
          <a:ln w="0">
            <a:noFill/>
          </a:ln>
        </p:spPr>
        <p:txBody>
          <a:bodyPr anchor="t">
            <a:normAutofit/>
          </a:bodyPr>
          <a:p>
            <a:pPr>
              <a:lnSpc>
                <a:spcPct val="90000"/>
              </a:lnSpc>
              <a:buNone/>
            </a:pPr>
            <a:r>
              <a:rPr b="1" lang="hu-HU" sz="2800" spc="-1" strike="noStrike">
                <a:solidFill>
                  <a:srgbClr val="8d3108"/>
                </a:solidFill>
                <a:latin typeface="Century Gothic"/>
              </a:rPr>
              <a:t>Megnyerő szavak, megnyugtató kifejezések</a:t>
            </a:r>
            <a:endParaRPr b="0" lang="en-US" sz="2800" spc="-1" strike="noStrike">
              <a:solidFill>
                <a:srgbClr val="000000"/>
              </a:solidFill>
              <a:latin typeface="Century Gothic"/>
            </a:endParaRPr>
          </a:p>
        </p:txBody>
      </p:sp>
      <p:sp>
        <p:nvSpPr>
          <p:cNvPr id="116" name="PlaceHolder 2"/>
          <p:cNvSpPr>
            <a:spLocks noGrp="1"/>
          </p:cNvSpPr>
          <p:nvPr>
            <p:ph/>
          </p:nvPr>
        </p:nvSpPr>
        <p:spPr>
          <a:xfrm>
            <a:off x="1066680" y="1820880"/>
            <a:ext cx="7772040" cy="4080600"/>
          </a:xfrm>
          <a:prstGeom prst="rect">
            <a:avLst/>
          </a:prstGeom>
          <a:noFill/>
          <a:ln w="0">
            <a:noFill/>
          </a:ln>
        </p:spPr>
        <p:txBody>
          <a:bodyPr anchor="t">
            <a:normAutofit/>
          </a:bodyPr>
          <a:p>
            <a:pPr>
              <a:lnSpc>
                <a:spcPct val="120000"/>
              </a:lnSpc>
              <a:spcBef>
                <a:spcPts val="1001"/>
              </a:spcBef>
              <a:buNone/>
              <a:tabLst>
                <a:tab algn="l" pos="0"/>
              </a:tabLst>
            </a:pPr>
            <a:endParaRPr b="0" lang="en-US" sz="2600" spc="-1" strike="noStrike">
              <a:solidFill>
                <a:srgbClr val="000000"/>
              </a:solidFill>
              <a:latin typeface="Century Gothic"/>
            </a:endParaRPr>
          </a:p>
          <a:p>
            <a:pPr>
              <a:lnSpc>
                <a:spcPct val="120000"/>
              </a:lnSpc>
              <a:spcBef>
                <a:spcPts val="1001"/>
              </a:spcBef>
              <a:buNone/>
              <a:tabLst>
                <a:tab algn="l" pos="0"/>
              </a:tabLst>
            </a:pPr>
            <a:endParaRPr b="0" lang="en-US" sz="2000" spc="-1" strike="noStrike">
              <a:solidFill>
                <a:srgbClr val="000000"/>
              </a:solidFill>
              <a:latin typeface="Century Gothic"/>
            </a:endParaRPr>
          </a:p>
        </p:txBody>
      </p:sp>
      <p:graphicFrame>
        <p:nvGraphicFramePr>
          <p:cNvPr id="117" name="Table 3"/>
          <p:cNvGraphicFramePr/>
          <p:nvPr/>
        </p:nvGraphicFramePr>
        <p:xfrm>
          <a:off x="990720" y="1820880"/>
          <a:ext cx="7543440" cy="4033440"/>
        </p:xfrm>
        <a:graphic>
          <a:graphicData uri="http://schemas.openxmlformats.org/drawingml/2006/table">
            <a:tbl>
              <a:tblPr/>
              <a:tblGrid>
                <a:gridCol w="2743200"/>
                <a:gridCol w="4800600"/>
              </a:tblGrid>
              <a:tr h="465120">
                <a:tc>
                  <a:txBody>
                    <a:bodyPr anchor="t">
                      <a:noAutofit/>
                    </a:bodyPr>
                    <a:p>
                      <a:pPr algn="ctr">
                        <a:lnSpc>
                          <a:spcPct val="100000"/>
                        </a:lnSpc>
                        <a:buNone/>
                      </a:pPr>
                      <a:r>
                        <a:rPr b="1" lang="hu-HU" sz="1400" spc="-1" strike="noStrike">
                          <a:solidFill>
                            <a:srgbClr val="ffffff"/>
                          </a:solidFill>
                          <a:latin typeface="Century Gothic"/>
                        </a:rPr>
                        <a:t>Tiltott kifejezés</a:t>
                      </a:r>
                      <a:endParaRPr b="0" lang="en-US"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415588"/>
                    </a:solidFill>
                  </a:tcPr>
                </a:tc>
                <a:tc>
                  <a:txBody>
                    <a:bodyPr anchor="t">
                      <a:noAutofit/>
                    </a:bodyPr>
                    <a:p>
                      <a:pPr algn="ctr">
                        <a:lnSpc>
                          <a:spcPct val="100000"/>
                        </a:lnSpc>
                        <a:buNone/>
                      </a:pPr>
                      <a:r>
                        <a:rPr b="1" lang="hu-HU" sz="1400" spc="-1" strike="noStrike">
                          <a:solidFill>
                            <a:srgbClr val="ffffff"/>
                          </a:solidFill>
                          <a:latin typeface="Century Gothic"/>
                        </a:rPr>
                        <a:t>Helyette használjunk inkább ezt</a:t>
                      </a:r>
                      <a:endParaRPr b="0" lang="en-US"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415588"/>
                    </a:solidFill>
                  </a:tcPr>
                </a:tc>
              </a:tr>
              <a:tr h="594720">
                <a:tc>
                  <a:txBody>
                    <a:bodyPr anchor="t">
                      <a:noAutofit/>
                    </a:bodyPr>
                    <a:p>
                      <a:pPr>
                        <a:lnSpc>
                          <a:spcPct val="100000"/>
                        </a:lnSpc>
                        <a:buNone/>
                      </a:pPr>
                      <a:r>
                        <a:rPr b="0" lang="hu-HU" sz="1400" spc="-1" strike="noStrike">
                          <a:solidFill>
                            <a:srgbClr val="000000"/>
                          </a:solidFill>
                          <a:latin typeface="Century Gothic"/>
                        </a:rPr>
                        <a:t>„</a:t>
                      </a:r>
                      <a:r>
                        <a:rPr b="0" lang="hu-HU" sz="1400" spc="-1" strike="noStrike">
                          <a:solidFill>
                            <a:srgbClr val="000000"/>
                          </a:solidFill>
                          <a:latin typeface="Century Gothic"/>
                        </a:rPr>
                        <a:t>Nem tudom.”</a:t>
                      </a:r>
                      <a:endParaRPr b="0" lang="en-US"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ed0d9"/>
                    </a:solidFill>
                  </a:tcPr>
                </a:tc>
                <a:tc>
                  <a:txBody>
                    <a:bodyPr anchor="t">
                      <a:noAutofit/>
                    </a:bodyPr>
                    <a:p>
                      <a:pPr>
                        <a:lnSpc>
                          <a:spcPct val="100000"/>
                        </a:lnSpc>
                        <a:buNone/>
                      </a:pPr>
                      <a:r>
                        <a:rPr b="0" lang="hu-HU" sz="1400" spc="-1" strike="noStrike">
                          <a:solidFill>
                            <a:srgbClr val="000000"/>
                          </a:solidFill>
                          <a:latin typeface="Century Gothic"/>
                        </a:rPr>
                        <a:t>„</a:t>
                      </a:r>
                      <a:r>
                        <a:rPr b="0" lang="hu-HU" sz="1400" spc="-1" strike="noStrike">
                          <a:solidFill>
                            <a:srgbClr val="000000"/>
                          </a:solidFill>
                          <a:latin typeface="Century Gothic"/>
                        </a:rPr>
                        <a:t>Nahát, ez igazán jó kérdés. Utánanézek és kiderítem mi a válasz.”</a:t>
                      </a:r>
                      <a:endParaRPr b="0" lang="en-US"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ed0d9"/>
                    </a:solidFill>
                  </a:tcPr>
                </a:tc>
              </a:tr>
              <a:tr h="594720">
                <a:tc>
                  <a:txBody>
                    <a:bodyPr anchor="t">
                      <a:noAutofit/>
                    </a:bodyPr>
                    <a:p>
                      <a:pPr>
                        <a:lnSpc>
                          <a:spcPct val="100000"/>
                        </a:lnSpc>
                        <a:buNone/>
                      </a:pPr>
                      <a:r>
                        <a:rPr b="0" lang="hu-HU" sz="1400" spc="-1" strike="noStrike">
                          <a:solidFill>
                            <a:srgbClr val="000000"/>
                          </a:solidFill>
                          <a:latin typeface="Century Gothic"/>
                        </a:rPr>
                        <a:t>„</a:t>
                      </a:r>
                      <a:r>
                        <a:rPr b="0" lang="hu-HU" sz="1400" spc="-1" strike="noStrike">
                          <a:solidFill>
                            <a:srgbClr val="000000"/>
                          </a:solidFill>
                          <a:latin typeface="Century Gothic"/>
                        </a:rPr>
                        <a:t>Ezt nem tehetjük meg.”</a:t>
                      </a:r>
                      <a:endParaRPr b="0" lang="en-US"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8e9ed"/>
                    </a:solidFill>
                  </a:tcPr>
                </a:tc>
                <a:tc>
                  <a:txBody>
                    <a:bodyPr anchor="t">
                      <a:noAutofit/>
                    </a:bodyPr>
                    <a:p>
                      <a:pPr>
                        <a:lnSpc>
                          <a:spcPct val="100000"/>
                        </a:lnSpc>
                        <a:buNone/>
                      </a:pPr>
                      <a:r>
                        <a:rPr b="0" lang="hu-HU" sz="1400" spc="-1" strike="noStrike">
                          <a:solidFill>
                            <a:srgbClr val="000000"/>
                          </a:solidFill>
                          <a:latin typeface="Century Gothic"/>
                        </a:rPr>
                        <a:t>„</a:t>
                      </a:r>
                      <a:r>
                        <a:rPr b="0" lang="hu-HU" sz="1400" spc="-1" strike="noStrike">
                          <a:solidFill>
                            <a:srgbClr val="000000"/>
                          </a:solidFill>
                          <a:latin typeface="Century Gothic"/>
                        </a:rPr>
                        <a:t>Hát, ez nem egyszerű. Nézzük csak, mit tehetünk.” Azután keress egy másik lehetőséget.</a:t>
                      </a:r>
                      <a:endParaRPr b="0" lang="en-US"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8e9ed"/>
                    </a:solidFill>
                  </a:tcPr>
                </a:tc>
              </a:tr>
              <a:tr h="1135800">
                <a:tc>
                  <a:txBody>
                    <a:bodyPr anchor="t">
                      <a:noAutofit/>
                    </a:bodyPr>
                    <a:p>
                      <a:pPr>
                        <a:lnSpc>
                          <a:spcPct val="100000"/>
                        </a:lnSpc>
                        <a:buNone/>
                      </a:pPr>
                      <a:r>
                        <a:rPr b="0" lang="hu-HU" sz="1400" spc="-1" strike="noStrike">
                          <a:solidFill>
                            <a:srgbClr val="000000"/>
                          </a:solidFill>
                          <a:latin typeface="Century Gothic"/>
                        </a:rPr>
                        <a:t>„</a:t>
                      </a:r>
                      <a:r>
                        <a:rPr b="0" lang="hu-HU" sz="1400" spc="-1" strike="noStrike">
                          <a:solidFill>
                            <a:srgbClr val="000000"/>
                          </a:solidFill>
                          <a:latin typeface="Century Gothic"/>
                        </a:rPr>
                        <a:t>Önnek muszáj lesz …” </a:t>
                      </a:r>
                      <a:r>
                        <a:rPr b="0" lang="en-US" sz="1400" spc="-1" strike="noStrike">
                          <a:solidFill>
                            <a:srgbClr val="000000"/>
                          </a:solidFill>
                          <a:latin typeface="Century Gothic"/>
                        </a:rPr>
                        <a:t>/ </a:t>
                      </a:r>
                      <a:r>
                        <a:rPr b="0" lang="hu-HU" sz="1400" spc="-1" strike="noStrike">
                          <a:solidFill>
                            <a:srgbClr val="000000"/>
                          </a:solidFill>
                          <a:latin typeface="Century Gothic"/>
                        </a:rPr>
                        <a:t>„Ön kénytelen lesz …”</a:t>
                      </a:r>
                      <a:endParaRPr b="0" lang="en-US"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ed0d9"/>
                    </a:solidFill>
                  </a:tcPr>
                </a:tc>
                <a:tc>
                  <a:txBody>
                    <a:bodyPr anchor="t">
                      <a:noAutofit/>
                    </a:bodyPr>
                    <a:p>
                      <a:pPr>
                        <a:lnSpc>
                          <a:spcPct val="100000"/>
                        </a:lnSpc>
                        <a:buNone/>
                      </a:pPr>
                      <a:r>
                        <a:rPr b="0" lang="hu-HU" sz="1400" spc="-1" strike="noStrike">
                          <a:solidFill>
                            <a:srgbClr val="000000"/>
                          </a:solidFill>
                          <a:latin typeface="Century Gothic"/>
                        </a:rPr>
                        <a:t>Finomítsd a kérést ilyen kifejezésekkel: „Ehhez arra lenne szükségünk, hogy …” vagy: „Nos, ez ügyben azt tehetjük önért, hogy …” vagy: „Ha még egyszer előfordul, akkor ezt a megoldást választhatjuk például …”</a:t>
                      </a:r>
                      <a:endParaRPr b="0" lang="en-US"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ed0d9"/>
                    </a:solidFill>
                  </a:tcPr>
                </a:tc>
              </a:tr>
              <a:tr h="718200">
                <a:tc>
                  <a:txBody>
                    <a:bodyPr anchor="t">
                      <a:noAutofit/>
                    </a:bodyPr>
                    <a:p>
                      <a:pPr>
                        <a:lnSpc>
                          <a:spcPct val="100000"/>
                        </a:lnSpc>
                        <a:buNone/>
                      </a:pPr>
                      <a:r>
                        <a:rPr b="0" lang="hu-HU" sz="1400" spc="-1" strike="noStrike">
                          <a:solidFill>
                            <a:srgbClr val="000000"/>
                          </a:solidFill>
                          <a:latin typeface="Century Gothic"/>
                        </a:rPr>
                        <a:t>„</a:t>
                      </a:r>
                      <a:r>
                        <a:rPr b="0" lang="hu-HU" sz="1400" spc="-1" strike="noStrike">
                          <a:solidFill>
                            <a:srgbClr val="000000"/>
                          </a:solidFill>
                          <a:latin typeface="Century Gothic"/>
                        </a:rPr>
                        <a:t>Várjon egy percet. Mindjárt visszajövök.”</a:t>
                      </a:r>
                      <a:endParaRPr b="0" lang="en-US"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8e9ed"/>
                    </a:solidFill>
                  </a:tcPr>
                </a:tc>
                <a:tc>
                  <a:txBody>
                    <a:bodyPr anchor="t">
                      <a:noAutofit/>
                    </a:bodyPr>
                    <a:p>
                      <a:pPr>
                        <a:lnSpc>
                          <a:spcPct val="100000"/>
                        </a:lnSpc>
                        <a:buNone/>
                      </a:pPr>
                      <a:r>
                        <a:rPr b="0" lang="hu-HU" sz="1400" spc="-1" strike="noStrike">
                          <a:solidFill>
                            <a:srgbClr val="000000"/>
                          </a:solidFill>
                          <a:latin typeface="Century Gothic"/>
                        </a:rPr>
                        <a:t>„</a:t>
                      </a:r>
                      <a:r>
                        <a:rPr b="0" lang="hu-HU" sz="1400" spc="-1" strike="noStrike">
                          <a:solidFill>
                            <a:srgbClr val="000000"/>
                          </a:solidFill>
                          <a:latin typeface="Century Gothic"/>
                        </a:rPr>
                        <a:t>Biztosan eltart néhány percig” (ez tetszés szerint változtatható), „mire sikerül kiderítenem. Tudná tartani a vonalat, míg utánanézek?”</a:t>
                      </a:r>
                      <a:endParaRPr b="0" lang="en-US"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8e9ed"/>
                    </a:solidFill>
                  </a:tcPr>
                </a:tc>
              </a:tr>
              <a:tr h="1189440">
                <a:tc>
                  <a:txBody>
                    <a:bodyPr anchor="t">
                      <a:noAutofit/>
                    </a:bodyPr>
                    <a:p>
                      <a:pPr>
                        <a:lnSpc>
                          <a:spcPct val="100000"/>
                        </a:lnSpc>
                        <a:buNone/>
                      </a:pPr>
                      <a:r>
                        <a:rPr b="0" lang="hu-HU" sz="1400" spc="-1" strike="noStrike">
                          <a:solidFill>
                            <a:srgbClr val="000000"/>
                          </a:solidFill>
                          <a:latin typeface="Century Gothic"/>
                        </a:rPr>
                        <a:t>„</a:t>
                      </a:r>
                      <a:r>
                        <a:rPr b="0" lang="hu-HU" sz="1400" spc="-1" strike="noStrike">
                          <a:solidFill>
                            <a:srgbClr val="000000"/>
                          </a:solidFill>
                          <a:latin typeface="Century Gothic"/>
                        </a:rPr>
                        <a:t>Nem”- bármely mondat első szavaként.</a:t>
                      </a:r>
                      <a:endParaRPr b="0" lang="en-US"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ed0d9"/>
                    </a:solidFill>
                  </a:tcPr>
                </a:tc>
                <a:tc>
                  <a:txBody>
                    <a:bodyPr anchor="t">
                      <a:noAutofit/>
                    </a:bodyPr>
                    <a:p>
                      <a:pPr>
                        <a:lnSpc>
                          <a:spcPct val="100000"/>
                        </a:lnSpc>
                        <a:buNone/>
                      </a:pPr>
                      <a:r>
                        <a:rPr b="0" lang="hu-HU" sz="1400" spc="-1" strike="noStrike">
                          <a:solidFill>
                            <a:srgbClr val="000000"/>
                          </a:solidFill>
                          <a:latin typeface="Century Gothic"/>
                        </a:rPr>
                        <a:t>Ha egy kicsit gondolkodsz, mielőtt megszólalnál, minden negatív mondatot átalakíthatsz pozitívvá: „Sajnos, nem áll módunkba visszafizetni önnek a pénzt, de térítésmentesen kicseréjük az árut, ha kívánja.”</a:t>
                      </a:r>
                      <a:endParaRPr b="0" lang="en-US"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ed0d9"/>
                    </a:solidFill>
                  </a:tcPr>
                </a:tc>
              </a:tr>
            </a:tbl>
          </a:graphicData>
        </a:graphic>
      </p:graphicFrame>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1128600" y="956160"/>
            <a:ext cx="7405200" cy="1049040"/>
          </a:xfrm>
          <a:prstGeom prst="rect">
            <a:avLst/>
          </a:prstGeom>
          <a:noFill/>
          <a:ln w="0">
            <a:noFill/>
          </a:ln>
        </p:spPr>
        <p:txBody>
          <a:bodyPr anchor="t">
            <a:normAutofit/>
          </a:bodyPr>
          <a:p>
            <a:pPr>
              <a:lnSpc>
                <a:spcPct val="90000"/>
              </a:lnSpc>
              <a:buNone/>
            </a:pPr>
            <a:r>
              <a:rPr b="1" lang="hu-HU" sz="2800" spc="-1" strike="noStrike">
                <a:solidFill>
                  <a:srgbClr val="8d3108"/>
                </a:solidFill>
                <a:latin typeface="Century Gothic"/>
              </a:rPr>
              <a:t>Ügyfelek két típusa:</a:t>
            </a:r>
            <a:r>
              <a:rPr b="1" lang="hu-HU" sz="3200" spc="-1" strike="noStrike">
                <a:solidFill>
                  <a:srgbClr val="000000"/>
                </a:solidFill>
                <a:latin typeface="Century Gothic"/>
              </a:rPr>
              <a:t> </a:t>
            </a:r>
            <a:endParaRPr b="0" lang="en-US" sz="3200" spc="-1" strike="noStrike">
              <a:solidFill>
                <a:srgbClr val="000000"/>
              </a:solidFill>
              <a:latin typeface="Century Gothic"/>
            </a:endParaRPr>
          </a:p>
        </p:txBody>
      </p:sp>
      <p:sp>
        <p:nvSpPr>
          <p:cNvPr id="119" name="PlaceHolder 2"/>
          <p:cNvSpPr>
            <a:spLocks noGrp="1"/>
          </p:cNvSpPr>
          <p:nvPr>
            <p:ph/>
          </p:nvPr>
        </p:nvSpPr>
        <p:spPr>
          <a:xfrm>
            <a:off x="609480" y="1600200"/>
            <a:ext cx="7772040" cy="4080600"/>
          </a:xfrm>
          <a:prstGeom prst="rect">
            <a:avLst/>
          </a:prstGeom>
          <a:noFill/>
          <a:ln w="0">
            <a:noFill/>
          </a:ln>
        </p:spPr>
        <p:txBody>
          <a:bodyPr anchor="t">
            <a:normAutofit fontScale="83000"/>
          </a:bodyPr>
          <a:p>
            <a:pPr marL="228600" indent="-228600">
              <a:lnSpc>
                <a:spcPct val="120000"/>
              </a:lnSpc>
              <a:spcBef>
                <a:spcPts val="1001"/>
              </a:spcBef>
              <a:buClr>
                <a:srgbClr val="415588"/>
              </a:buClr>
              <a:buFont typeface="Arial"/>
              <a:buChar char="•"/>
            </a:pPr>
            <a:r>
              <a:rPr b="1" lang="hu-HU" sz="2000" spc="-1" strike="noStrike">
                <a:solidFill>
                  <a:srgbClr val="000000"/>
                </a:solidFill>
                <a:latin typeface="Century Gothic"/>
              </a:rPr>
              <a:t>Külső ügyfelek: </a:t>
            </a:r>
            <a:r>
              <a:rPr b="0" lang="hu-HU" sz="2000" spc="-1" strike="noStrike">
                <a:solidFill>
                  <a:srgbClr val="000000"/>
                </a:solidFill>
                <a:latin typeface="Century Gothic"/>
              </a:rPr>
              <a:t>Azok az emberek, akik megvásárolják a terméket és igénybe veszik a szolgáltatásokat. (Nélkülük nem sokáig lenne munkád.)</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pPr>
            <a:r>
              <a:rPr b="1" lang="hu-HU" sz="2000" spc="-1" strike="noStrike">
                <a:solidFill>
                  <a:srgbClr val="000000"/>
                </a:solidFill>
                <a:latin typeface="Century Gothic"/>
              </a:rPr>
              <a:t>Belső ügyfelek: </a:t>
            </a:r>
            <a:r>
              <a:rPr b="0" lang="hu-HU" sz="2000" spc="-1" strike="noStrike">
                <a:solidFill>
                  <a:srgbClr val="000000"/>
                </a:solidFill>
                <a:latin typeface="Century Gothic"/>
              </a:rPr>
              <a:t>A munkatársaid és mások, akik a cég alkalmazásában állnak (részlegtől, épülettől, államtól stb. függetlenül, mindenki!)</a:t>
            </a:r>
            <a:endParaRPr b="0" lang="en-US" sz="2000" spc="-1" strike="noStrike">
              <a:solidFill>
                <a:srgbClr val="000000"/>
              </a:solidFill>
              <a:latin typeface="Century Gothic"/>
            </a:endParaRPr>
          </a:p>
          <a:p>
            <a:pPr>
              <a:lnSpc>
                <a:spcPct val="120000"/>
              </a:lnSpc>
              <a:spcBef>
                <a:spcPts val="1001"/>
              </a:spcBef>
              <a:buNone/>
              <a:tabLst>
                <a:tab algn="l" pos="0"/>
              </a:tabLst>
            </a:pPr>
            <a:endParaRPr b="0" lang="en-US" sz="2000" spc="-1" strike="noStrike">
              <a:solidFill>
                <a:srgbClr val="000000"/>
              </a:solidFill>
              <a:latin typeface="Century Gothic"/>
            </a:endParaRPr>
          </a:p>
          <a:p>
            <a:pPr>
              <a:lnSpc>
                <a:spcPct val="120000"/>
              </a:lnSpc>
              <a:spcBef>
                <a:spcPts val="1001"/>
              </a:spcBef>
              <a:buNone/>
              <a:tabLst>
                <a:tab algn="l" pos="0"/>
              </a:tabLst>
            </a:pPr>
            <a:r>
              <a:rPr b="0" i="1" lang="hu-HU" sz="2000" spc="-1" strike="noStrike">
                <a:solidFill>
                  <a:srgbClr val="000000"/>
                </a:solidFill>
                <a:latin typeface="Century Gothic"/>
              </a:rPr>
              <a:t>Figyelemre méltóan szoros és állandó összefüggés van a belső ügyfelekkel való bánásmód és aközött, hogy milyennek minősítik a cég szolgáltatásait és külső ügyfelek! A megfelelő minőségű belső szolgáltatások nélkül a cég gyakorlatilag képtelen megfelelő minőségű külső szolgáltatásokat nyújtani. </a:t>
            </a:r>
            <a:endParaRPr b="0" lang="en-US" sz="2000" spc="-1" strike="noStrike">
              <a:solidFill>
                <a:srgbClr val="000000"/>
              </a:solidFill>
              <a:latin typeface="Century Gothic"/>
            </a:endParaRPr>
          </a:p>
          <a:p>
            <a:pPr>
              <a:lnSpc>
                <a:spcPct val="120000"/>
              </a:lnSpc>
              <a:spcBef>
                <a:spcPts val="1001"/>
              </a:spcBef>
              <a:buNone/>
              <a:tabLst>
                <a:tab algn="l" pos="0"/>
              </a:tabLst>
            </a:pPr>
            <a:endParaRPr b="0" lang="en-US" sz="2600" spc="-1" strike="noStrike">
              <a:solidFill>
                <a:srgbClr val="000000"/>
              </a:solidFill>
              <a:latin typeface="Century Gothic"/>
            </a:endParaRPr>
          </a:p>
        </p:txBody>
      </p:sp>
    </p:spTree>
  </p:cSld>
  <mc:AlternateContent>
    <mc:Choice Requires="p14">
      <p:transition spd="slow" p14:dur="2000"/>
    </mc:Choice>
    <mc:Fallback>
      <p:transition spd="slow"/>
    </mc:Fallback>
  </mc:AlternateContent>
  <p:timing>
    <p:tnLst>
      <p:par>
        <p:cTn id="15" dur="indefinite" restart="never" nodeType="tmRoot">
          <p:childTnLst>
            <p:seq>
              <p:cTn id="16" dur="indefinite" nodeType="mainSeq">
                <p:childTnLst>
                  <p:par>
                    <p:cTn id="17" fill="hold">
                      <p:stCondLst>
                        <p:cond delay="indefinite"/>
                      </p:stCondLst>
                      <p:childTnLst>
                        <p:par>
                          <p:cTn id="18" fill="hold">
                            <p:stCondLst>
                              <p:cond delay="0"/>
                            </p:stCondLst>
                            <p:childTnLst>
                              <p:par>
                                <p:cTn id="19" nodeType="clickEffect" fill="hold" presetClass="entr" presetID="2" presetSubtype="4">
                                  <p:stCondLst>
                                    <p:cond delay="0"/>
                                  </p:stCondLst>
                                  <p:childTnLst>
                                    <p:set>
                                      <p:cBhvr>
                                        <p:cTn id="20" dur="1" fill="hold">
                                          <p:stCondLst>
                                            <p:cond delay="0"/>
                                          </p:stCondLst>
                                        </p:cTn>
                                        <p:tgtEl>
                                          <p:spTgt spid="119">
                                            <p:txEl>
                                              <p:pRg st="3" end="3"/>
                                            </p:txEl>
                                          </p:spTgt>
                                        </p:tgtEl>
                                        <p:attrNameLst>
                                          <p:attrName>style.visibility</p:attrName>
                                        </p:attrNameLst>
                                      </p:cBhvr>
                                      <p:to>
                                        <p:strVal val="visible"/>
                                      </p:to>
                                    </p:set>
                                    <p:anim calcmode="lin" valueType="num">
                                      <p:cBhvr additive="repl">
                                        <p:cTn id="21" dur="500" fill="hold"/>
                                        <p:tgtEl>
                                          <p:spTgt spid="119">
                                            <p:txEl>
                                              <p:pRg st="3" end="3"/>
                                            </p:txEl>
                                          </p:spTgt>
                                        </p:tgtEl>
                                        <p:attrNameLst>
                                          <p:attrName>ppt_x</p:attrName>
                                        </p:attrNameLst>
                                      </p:cBhvr>
                                      <p:tavLst>
                                        <p:tav tm="0">
                                          <p:val>
                                            <p:strVal val="#ppt_x"/>
                                          </p:val>
                                        </p:tav>
                                        <p:tav tm="100000">
                                          <p:val>
                                            <p:strVal val="#ppt_x"/>
                                          </p:val>
                                        </p:tav>
                                      </p:tavLst>
                                    </p:anim>
                                    <p:anim calcmode="lin" valueType="num">
                                      <p:cBhvr additive="repl">
                                        <p:cTn id="22" dur="500" fill="hold"/>
                                        <p:tgtEl>
                                          <p:spTgt spid="11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1128600" y="956160"/>
            <a:ext cx="7405200" cy="1049040"/>
          </a:xfrm>
          <a:prstGeom prst="rect">
            <a:avLst/>
          </a:prstGeom>
          <a:noFill/>
          <a:ln w="0">
            <a:noFill/>
          </a:ln>
        </p:spPr>
        <p:txBody>
          <a:bodyPr anchor="t">
            <a:normAutofit/>
          </a:bodyPr>
          <a:p>
            <a:pPr>
              <a:lnSpc>
                <a:spcPct val="90000"/>
              </a:lnSpc>
              <a:buNone/>
            </a:pPr>
            <a:r>
              <a:rPr b="1" lang="hu-HU" sz="2800" spc="-1" strike="noStrike">
                <a:solidFill>
                  <a:srgbClr val="8d3108"/>
                </a:solidFill>
                <a:latin typeface="Century Gothic"/>
              </a:rPr>
              <a:t>A figyelem művészete</a:t>
            </a:r>
            <a:endParaRPr b="0" lang="en-US" sz="2800" spc="-1" strike="noStrike">
              <a:solidFill>
                <a:srgbClr val="000000"/>
              </a:solidFill>
              <a:latin typeface="Century Gothic"/>
            </a:endParaRPr>
          </a:p>
        </p:txBody>
      </p:sp>
      <p:sp>
        <p:nvSpPr>
          <p:cNvPr id="121" name="PlaceHolder 2"/>
          <p:cNvSpPr>
            <a:spLocks noGrp="1"/>
          </p:cNvSpPr>
          <p:nvPr>
            <p:ph/>
          </p:nvPr>
        </p:nvSpPr>
        <p:spPr>
          <a:xfrm>
            <a:off x="609480" y="1600200"/>
            <a:ext cx="7772040" cy="4080600"/>
          </a:xfrm>
          <a:prstGeom prst="rect">
            <a:avLst/>
          </a:prstGeom>
          <a:noFill/>
          <a:ln w="0">
            <a:noFill/>
          </a:ln>
        </p:spPr>
        <p:txBody>
          <a:bodyPr anchor="t">
            <a:normAutofit/>
          </a:bodyPr>
          <a:p>
            <a:pPr>
              <a:lnSpc>
                <a:spcPct val="120000"/>
              </a:lnSpc>
              <a:spcBef>
                <a:spcPts val="1001"/>
              </a:spcBef>
              <a:buNone/>
              <a:tabLst>
                <a:tab algn="l" pos="0"/>
              </a:tabLst>
            </a:pPr>
            <a:endParaRPr b="0" lang="en-US" sz="2000" spc="-1" strike="noStrike">
              <a:solidFill>
                <a:srgbClr val="000000"/>
              </a:solidFill>
              <a:latin typeface="Century Gothic"/>
            </a:endParaRPr>
          </a:p>
          <a:p>
            <a:pPr>
              <a:lnSpc>
                <a:spcPct val="120000"/>
              </a:lnSpc>
              <a:spcBef>
                <a:spcPts val="1001"/>
              </a:spcBef>
              <a:buNone/>
              <a:tabLst>
                <a:tab algn="l" pos="0"/>
              </a:tabLst>
            </a:pPr>
            <a:r>
              <a:rPr b="0" lang="hu-HU" sz="2000" spc="-1" strike="noStrike">
                <a:solidFill>
                  <a:srgbClr val="000000"/>
                </a:solidFill>
                <a:latin typeface="Century Gothic"/>
              </a:rPr>
              <a:t>Akkor vagy figyelmes, ha: </a:t>
            </a:r>
            <a:endParaRPr b="0" lang="en-US" sz="2000" spc="-1" strike="noStrike">
              <a:solidFill>
                <a:srgbClr val="000000"/>
              </a:solidFill>
              <a:latin typeface="Century Gothic"/>
            </a:endParaRPr>
          </a:p>
          <a:p>
            <a:pPr marL="457200" indent="-457200">
              <a:lnSpc>
                <a:spcPct val="120000"/>
              </a:lnSpc>
              <a:spcBef>
                <a:spcPts val="1001"/>
              </a:spcBef>
              <a:buClr>
                <a:srgbClr val="415588"/>
              </a:buClr>
              <a:buFont typeface="Century Gothic"/>
              <a:buAutoNum type="arabicPeriod"/>
              <a:tabLst>
                <a:tab algn="l" pos="0"/>
              </a:tabLst>
            </a:pPr>
            <a:r>
              <a:rPr b="0" lang="hu-HU" sz="2000" spc="-1" strike="noStrike">
                <a:solidFill>
                  <a:srgbClr val="000000"/>
                </a:solidFill>
                <a:latin typeface="Century Gothic"/>
              </a:rPr>
              <a:t>Megérted, mit akar az ügyfél és mire van szüksége (Nem biztos, hogy ugyanaz).</a:t>
            </a:r>
            <a:endParaRPr b="0" lang="en-US" sz="2000" spc="-1" strike="noStrike">
              <a:solidFill>
                <a:srgbClr val="000000"/>
              </a:solidFill>
              <a:latin typeface="Century Gothic"/>
            </a:endParaRPr>
          </a:p>
          <a:p>
            <a:pPr marL="457200" indent="-457200">
              <a:lnSpc>
                <a:spcPct val="120000"/>
              </a:lnSpc>
              <a:spcBef>
                <a:spcPts val="1001"/>
              </a:spcBef>
              <a:buClr>
                <a:srgbClr val="415588"/>
              </a:buClr>
              <a:buFont typeface="Century Gothic"/>
              <a:buAutoNum type="arabicPeriod"/>
              <a:tabLst>
                <a:tab algn="l" pos="0"/>
              </a:tabLst>
            </a:pPr>
            <a:r>
              <a:rPr b="0" lang="hu-HU" sz="2000" spc="-1" strike="noStrike">
                <a:solidFill>
                  <a:srgbClr val="000000"/>
                </a:solidFill>
                <a:latin typeface="Century Gothic"/>
              </a:rPr>
              <a:t>Elejét veszed a félreértéseknek és ezekből fakadó hibáknak.</a:t>
            </a:r>
            <a:endParaRPr b="0" lang="en-US" sz="2000" spc="-1" strike="noStrike">
              <a:solidFill>
                <a:srgbClr val="000000"/>
              </a:solidFill>
              <a:latin typeface="Century Gothic"/>
            </a:endParaRPr>
          </a:p>
          <a:p>
            <a:pPr marL="457200" indent="-457200">
              <a:lnSpc>
                <a:spcPct val="120000"/>
              </a:lnSpc>
              <a:spcBef>
                <a:spcPts val="1001"/>
              </a:spcBef>
              <a:buClr>
                <a:srgbClr val="415588"/>
              </a:buClr>
              <a:buFont typeface="Century Gothic"/>
              <a:buAutoNum type="arabicPeriod"/>
              <a:tabLst>
                <a:tab algn="l" pos="0"/>
              </a:tabLst>
            </a:pPr>
            <a:r>
              <a:rPr b="0" lang="hu-HU" sz="2000" spc="-1" strike="noStrike">
                <a:solidFill>
                  <a:srgbClr val="000000"/>
                </a:solidFill>
                <a:latin typeface="Century Gothic"/>
              </a:rPr>
              <a:t>Eközben találsz támpontokat az általad nyújtott szolgáltatások színvonalának emeléséhez.</a:t>
            </a:r>
            <a:endParaRPr b="0" lang="en-US" sz="2000" spc="-1" strike="noStrike">
              <a:solidFill>
                <a:srgbClr val="000000"/>
              </a:solidFill>
              <a:latin typeface="Century Gothic"/>
            </a:endParaRPr>
          </a:p>
          <a:p>
            <a:pPr marL="457200" indent="-457200">
              <a:lnSpc>
                <a:spcPct val="120000"/>
              </a:lnSpc>
              <a:spcBef>
                <a:spcPts val="1001"/>
              </a:spcBef>
              <a:buClr>
                <a:srgbClr val="415588"/>
              </a:buClr>
              <a:buFont typeface="Century Gothic"/>
              <a:buAutoNum type="arabicPeriod"/>
              <a:tabLst>
                <a:tab algn="l" pos="0"/>
              </a:tabLst>
            </a:pPr>
            <a:r>
              <a:rPr b="0" lang="hu-HU" sz="2000" spc="-1" strike="noStrike">
                <a:solidFill>
                  <a:srgbClr val="000000"/>
                </a:solidFill>
                <a:latin typeface="Century Gothic"/>
              </a:rPr>
              <a:t>Sikerül hosszú távú kapcsolatot kiépítened az ügyféllel.</a:t>
            </a:r>
            <a:endParaRPr b="0" lang="en-US" sz="2000" spc="-1" strike="noStrike">
              <a:solidFill>
                <a:srgbClr val="000000"/>
              </a:solidFill>
              <a:latin typeface="Century Gothic"/>
            </a:endParaRPr>
          </a:p>
          <a:p>
            <a:pPr>
              <a:lnSpc>
                <a:spcPct val="120000"/>
              </a:lnSpc>
              <a:spcBef>
                <a:spcPts val="1001"/>
              </a:spcBef>
              <a:buNone/>
              <a:tabLst>
                <a:tab algn="l" pos="0"/>
              </a:tabLst>
            </a:pPr>
            <a:endParaRPr b="0" lang="en-US" sz="2600" spc="-1" strike="noStrike">
              <a:solidFill>
                <a:srgbClr val="000000"/>
              </a:solidFill>
              <a:latin typeface="Century Gothic"/>
            </a:endParaRPr>
          </a:p>
          <a:p>
            <a:pPr>
              <a:lnSpc>
                <a:spcPct val="120000"/>
              </a:lnSpc>
              <a:spcBef>
                <a:spcPts val="1001"/>
              </a:spcBef>
              <a:buNone/>
              <a:tabLst>
                <a:tab algn="l" pos="0"/>
              </a:tabLst>
            </a:pPr>
            <a:endParaRPr b="0" lang="en-US" sz="2000" spc="-1" strike="noStrike">
              <a:solidFill>
                <a:srgbClr val="000000"/>
              </a:solidFill>
              <a:latin typeface="Century Gothic"/>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1128600" y="956160"/>
            <a:ext cx="7405200" cy="1049040"/>
          </a:xfrm>
          <a:prstGeom prst="rect">
            <a:avLst/>
          </a:prstGeom>
          <a:noFill/>
          <a:ln w="0">
            <a:noFill/>
          </a:ln>
        </p:spPr>
        <p:txBody>
          <a:bodyPr anchor="t">
            <a:normAutofit/>
          </a:bodyPr>
          <a:p>
            <a:pPr>
              <a:lnSpc>
                <a:spcPct val="90000"/>
              </a:lnSpc>
              <a:buNone/>
            </a:pPr>
            <a:r>
              <a:rPr b="1" lang="hu-HU" sz="2800" spc="-1" strike="noStrike">
                <a:solidFill>
                  <a:srgbClr val="8d3108"/>
                </a:solidFill>
                <a:latin typeface="Century Gothic"/>
              </a:rPr>
              <a:t>Kilenc alkalom, amikor „köszönöm” jár az ügyfélnek</a:t>
            </a:r>
            <a:endParaRPr b="0" lang="en-US" sz="2800" spc="-1" strike="noStrike">
              <a:solidFill>
                <a:srgbClr val="000000"/>
              </a:solidFill>
              <a:latin typeface="Century Gothic"/>
            </a:endParaRPr>
          </a:p>
        </p:txBody>
      </p:sp>
      <p:sp>
        <p:nvSpPr>
          <p:cNvPr id="123" name="PlaceHolder 2"/>
          <p:cNvSpPr>
            <a:spLocks noGrp="1"/>
          </p:cNvSpPr>
          <p:nvPr>
            <p:ph/>
          </p:nvPr>
        </p:nvSpPr>
        <p:spPr>
          <a:xfrm>
            <a:off x="609480" y="1600200"/>
            <a:ext cx="7772040" cy="4080600"/>
          </a:xfrm>
          <a:prstGeom prst="rect">
            <a:avLst/>
          </a:prstGeom>
          <a:noFill/>
          <a:ln w="0">
            <a:noFill/>
          </a:ln>
        </p:spPr>
        <p:txBody>
          <a:bodyPr anchor="t">
            <a:normAutofit/>
          </a:bodyPr>
          <a:p>
            <a:pPr>
              <a:lnSpc>
                <a:spcPct val="120000"/>
              </a:lnSpc>
              <a:spcBef>
                <a:spcPts val="1001"/>
              </a:spcBef>
              <a:buNone/>
              <a:tabLst>
                <a:tab algn="l" pos="0"/>
              </a:tabLst>
            </a:pPr>
            <a:endParaRPr b="0" lang="en-US" sz="2000" spc="-1" strike="noStrike">
              <a:solidFill>
                <a:srgbClr val="000000"/>
              </a:solidFill>
              <a:latin typeface="Century Gothic"/>
            </a:endParaRPr>
          </a:p>
          <a:p>
            <a:pPr>
              <a:lnSpc>
                <a:spcPct val="120000"/>
              </a:lnSpc>
              <a:spcBef>
                <a:spcPts val="1001"/>
              </a:spcBef>
              <a:buNone/>
              <a:tabLst>
                <a:tab algn="l" pos="0"/>
              </a:tabLst>
            </a:pPr>
            <a:endParaRPr b="0" lang="en-US" sz="2600" spc="-1" strike="noStrike">
              <a:solidFill>
                <a:srgbClr val="000000"/>
              </a:solidFill>
              <a:latin typeface="Century Gothic"/>
            </a:endParaRPr>
          </a:p>
          <a:p>
            <a:pPr>
              <a:lnSpc>
                <a:spcPct val="120000"/>
              </a:lnSpc>
              <a:spcBef>
                <a:spcPts val="1001"/>
              </a:spcBef>
              <a:buNone/>
              <a:tabLst>
                <a:tab algn="l" pos="0"/>
              </a:tabLst>
            </a:pPr>
            <a:endParaRPr b="0" lang="en-US" sz="2000" spc="-1" strike="noStrike">
              <a:solidFill>
                <a:srgbClr val="000000"/>
              </a:solidFill>
              <a:latin typeface="Century Gothic"/>
            </a:endParaRPr>
          </a:p>
        </p:txBody>
      </p:sp>
      <p:sp>
        <p:nvSpPr>
          <p:cNvPr id="124" name="Rectangle 3"/>
          <p:cNvSpPr/>
          <p:nvPr/>
        </p:nvSpPr>
        <p:spPr>
          <a:xfrm>
            <a:off x="1021680" y="2010600"/>
            <a:ext cx="7619760" cy="475092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07000"/>
              </a:lnSpc>
              <a:buClr>
                <a:srgbClr val="000000"/>
              </a:buClr>
              <a:buFont typeface="Century Gothic"/>
              <a:buAutoNum type="arabicPeriod"/>
            </a:pPr>
            <a:r>
              <a:rPr b="0" lang="hu-HU" sz="2200" spc="-1" strike="noStrike">
                <a:solidFill>
                  <a:srgbClr val="000000"/>
                </a:solidFill>
                <a:latin typeface="Calibri"/>
                <a:ea typeface="Calibri"/>
              </a:rPr>
              <a:t>Valahányszor csak üzletet köt velünk</a:t>
            </a:r>
            <a:endParaRPr b="0" lang="en-US" sz="2200" spc="-1" strike="noStrike">
              <a:latin typeface="Arial"/>
            </a:endParaRPr>
          </a:p>
          <a:p>
            <a:pPr marL="343080" indent="-343080">
              <a:lnSpc>
                <a:spcPct val="107000"/>
              </a:lnSpc>
              <a:buClr>
                <a:srgbClr val="000000"/>
              </a:buClr>
              <a:buFont typeface="Century Gothic"/>
              <a:buAutoNum type="arabicPeriod"/>
            </a:pPr>
            <a:r>
              <a:rPr b="0" lang="hu-HU" sz="2200" spc="-1" strike="noStrike">
                <a:solidFill>
                  <a:srgbClr val="000000"/>
                </a:solidFill>
                <a:latin typeface="Calibri"/>
                <a:ea typeface="Calibri"/>
              </a:rPr>
              <a:t>Amikor megdicsérnek: téged, vagy a céget</a:t>
            </a:r>
            <a:endParaRPr b="0" lang="en-US" sz="2200" spc="-1" strike="noStrike">
              <a:latin typeface="Arial"/>
            </a:endParaRPr>
          </a:p>
          <a:p>
            <a:pPr marL="343080" indent="-343080">
              <a:lnSpc>
                <a:spcPct val="107000"/>
              </a:lnSpc>
              <a:buClr>
                <a:srgbClr val="000000"/>
              </a:buClr>
              <a:buFont typeface="Century Gothic"/>
              <a:buAutoNum type="arabicPeriod"/>
            </a:pPr>
            <a:r>
              <a:rPr b="0" lang="hu-HU" sz="2200" spc="-1" strike="noStrike">
                <a:solidFill>
                  <a:srgbClr val="000000"/>
                </a:solidFill>
                <a:latin typeface="Calibri"/>
                <a:ea typeface="Calibri"/>
              </a:rPr>
              <a:t>Amikor megjegyzéseket, javaslatokat tesz az ügyfél</a:t>
            </a:r>
            <a:endParaRPr b="0" lang="en-US" sz="2200" spc="-1" strike="noStrike">
              <a:latin typeface="Arial"/>
            </a:endParaRPr>
          </a:p>
          <a:p>
            <a:pPr marL="343080" indent="-343080">
              <a:lnSpc>
                <a:spcPct val="107000"/>
              </a:lnSpc>
              <a:buClr>
                <a:srgbClr val="000000"/>
              </a:buClr>
              <a:buFont typeface="Century Gothic"/>
              <a:buAutoNum type="arabicPeriod"/>
            </a:pPr>
            <a:r>
              <a:rPr b="0" lang="hu-HU" sz="2200" spc="-1" strike="noStrike">
                <a:solidFill>
                  <a:srgbClr val="000000"/>
                </a:solidFill>
                <a:latin typeface="Calibri"/>
                <a:ea typeface="Calibri"/>
              </a:rPr>
              <a:t>Amikor új terméket, szolgáltatást vesznek igénybe</a:t>
            </a:r>
            <a:endParaRPr b="0" lang="en-US" sz="2200" spc="-1" strike="noStrike">
              <a:latin typeface="Arial"/>
            </a:endParaRPr>
          </a:p>
          <a:p>
            <a:pPr marL="343080" indent="-343080">
              <a:lnSpc>
                <a:spcPct val="107000"/>
              </a:lnSpc>
              <a:buClr>
                <a:srgbClr val="000000"/>
              </a:buClr>
              <a:buFont typeface="Century Gothic"/>
              <a:buAutoNum type="arabicPeriod"/>
            </a:pPr>
            <a:r>
              <a:rPr b="0" lang="hu-HU" sz="2200" spc="-1" strike="noStrike">
                <a:solidFill>
                  <a:srgbClr val="000000"/>
                </a:solidFill>
                <a:latin typeface="Calibri"/>
                <a:ea typeface="Calibri"/>
              </a:rPr>
              <a:t>Amikor ismerősének, barátjának ajánl</a:t>
            </a:r>
            <a:endParaRPr b="0" lang="en-US" sz="2200" spc="-1" strike="noStrike">
              <a:latin typeface="Arial"/>
            </a:endParaRPr>
          </a:p>
          <a:p>
            <a:pPr marL="343080" indent="-343080">
              <a:lnSpc>
                <a:spcPct val="107000"/>
              </a:lnSpc>
              <a:buClr>
                <a:srgbClr val="000000"/>
              </a:buClr>
              <a:buFont typeface="Century Gothic"/>
              <a:buAutoNum type="arabicPeriod"/>
            </a:pPr>
            <a:r>
              <a:rPr b="0" lang="hu-HU" sz="2200" spc="-1" strike="noStrike">
                <a:solidFill>
                  <a:srgbClr val="000000"/>
                </a:solidFill>
                <a:latin typeface="Calibri"/>
                <a:ea typeface="Calibri"/>
              </a:rPr>
              <a:t>Amikor türelmesek … és amikor kevésbé …</a:t>
            </a:r>
            <a:endParaRPr b="0" lang="en-US" sz="2200" spc="-1" strike="noStrike">
              <a:latin typeface="Arial"/>
            </a:endParaRPr>
          </a:p>
          <a:p>
            <a:pPr marL="343080" indent="-343080">
              <a:lnSpc>
                <a:spcPct val="107000"/>
              </a:lnSpc>
              <a:buClr>
                <a:srgbClr val="000000"/>
              </a:buClr>
              <a:buFont typeface="Century Gothic"/>
              <a:buAutoNum type="arabicPeriod"/>
            </a:pPr>
            <a:r>
              <a:rPr b="0" lang="hu-HU" sz="2200" spc="-1" strike="noStrike">
                <a:solidFill>
                  <a:srgbClr val="000000"/>
                </a:solidFill>
                <a:latin typeface="Calibri"/>
                <a:ea typeface="Calibri"/>
              </a:rPr>
              <a:t>Amikor hozzásegít ahhoz, hogy hatékonyabban segíts neki</a:t>
            </a:r>
            <a:endParaRPr b="0" lang="en-US" sz="2200" spc="-1" strike="noStrike">
              <a:latin typeface="Arial"/>
            </a:endParaRPr>
          </a:p>
          <a:p>
            <a:pPr marL="343080" indent="-343080">
              <a:lnSpc>
                <a:spcPct val="107000"/>
              </a:lnSpc>
              <a:buClr>
                <a:srgbClr val="000000"/>
              </a:buClr>
              <a:buFont typeface="Century Gothic"/>
              <a:buAutoNum type="arabicPeriod"/>
            </a:pPr>
            <a:r>
              <a:rPr b="0" lang="hu-HU" sz="2200" spc="-1" strike="noStrike">
                <a:solidFill>
                  <a:srgbClr val="000000"/>
                </a:solidFill>
                <a:latin typeface="Calibri"/>
                <a:ea typeface="Calibri"/>
              </a:rPr>
              <a:t>Amikor reklamálnak nálad (</a:t>
            </a:r>
            <a:r>
              <a:rPr b="0" i="1" lang="hu-HU" sz="2200" spc="-1" strike="noStrike">
                <a:solidFill>
                  <a:srgbClr val="000000"/>
                </a:solidFill>
                <a:latin typeface="Calibri"/>
                <a:ea typeface="Calibri"/>
              </a:rPr>
              <a:t>Az ügyfél, aki elmondja, hogy miért nem örül valaminek, új esélyt ad a szolgáltatónak. </a:t>
            </a:r>
            <a:r>
              <a:rPr b="0" lang="hu-HU" sz="2200" spc="-1" strike="noStrike">
                <a:solidFill>
                  <a:srgbClr val="000000"/>
                </a:solidFill>
                <a:latin typeface="Calibri"/>
                <a:ea typeface="Calibri"/>
              </a:rPr>
              <a:t>)</a:t>
            </a:r>
            <a:endParaRPr b="0" lang="en-US" sz="2200" spc="-1" strike="noStrike">
              <a:latin typeface="Arial"/>
            </a:endParaRPr>
          </a:p>
          <a:p>
            <a:pPr marL="343080" indent="-343080">
              <a:lnSpc>
                <a:spcPct val="107000"/>
              </a:lnSpc>
              <a:spcAft>
                <a:spcPts val="799"/>
              </a:spcAft>
              <a:buClr>
                <a:srgbClr val="000000"/>
              </a:buClr>
              <a:buFont typeface="Century Gothic"/>
              <a:buAutoNum type="arabicPeriod"/>
            </a:pPr>
            <a:r>
              <a:rPr b="0" lang="hu-HU" sz="2200" spc="-1" strike="noStrike">
                <a:solidFill>
                  <a:srgbClr val="000000"/>
                </a:solidFill>
                <a:latin typeface="Calibri"/>
                <a:ea typeface="Calibri"/>
              </a:rPr>
              <a:t>Amikor mosolyt csalt az arcodra</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1128600" y="956160"/>
            <a:ext cx="6571080" cy="1049040"/>
          </a:xfrm>
          <a:prstGeom prst="rect">
            <a:avLst/>
          </a:prstGeom>
          <a:noFill/>
          <a:ln w="0">
            <a:noFill/>
          </a:ln>
        </p:spPr>
        <p:txBody>
          <a:bodyPr anchor="t">
            <a:noAutofit/>
          </a:bodyPr>
          <a:p>
            <a:pPr>
              <a:lnSpc>
                <a:spcPct val="90000"/>
              </a:lnSpc>
              <a:buNone/>
            </a:pPr>
            <a:r>
              <a:rPr b="1" lang="hu-HU" sz="2800" spc="-1" strike="noStrike">
                <a:solidFill>
                  <a:srgbClr val="8d3108"/>
                </a:solidFill>
                <a:latin typeface="Century Gothic"/>
              </a:rPr>
              <a:t>Internetes szolgáltatás</a:t>
            </a:r>
            <a:br>
              <a:rPr sz="2800"/>
            </a:br>
            <a:endParaRPr b="0" lang="en-US" sz="2800" spc="-1" strike="noStrike">
              <a:solidFill>
                <a:srgbClr val="000000"/>
              </a:solidFill>
              <a:latin typeface="Century Gothic"/>
            </a:endParaRPr>
          </a:p>
        </p:txBody>
      </p:sp>
      <p:sp>
        <p:nvSpPr>
          <p:cNvPr id="126" name="PlaceHolder 2"/>
          <p:cNvSpPr>
            <a:spLocks noGrp="1"/>
          </p:cNvSpPr>
          <p:nvPr>
            <p:ph/>
          </p:nvPr>
        </p:nvSpPr>
        <p:spPr>
          <a:xfrm>
            <a:off x="1128600" y="2167560"/>
            <a:ext cx="6571080" cy="3288240"/>
          </a:xfrm>
          <a:prstGeom prst="rect">
            <a:avLst/>
          </a:prstGeom>
          <a:noFill/>
          <a:ln w="0">
            <a:noFill/>
          </a:ln>
        </p:spPr>
        <p:txBody>
          <a:bodyPr anchor="t">
            <a:noAutofit/>
          </a:bodyPr>
          <a:p>
            <a:pPr marL="228600" indent="-228600">
              <a:lnSpc>
                <a:spcPct val="120000"/>
              </a:lnSpc>
              <a:spcBef>
                <a:spcPts val="1001"/>
              </a:spcBef>
              <a:buClr>
                <a:srgbClr val="415588"/>
              </a:buClr>
              <a:buFont typeface="Arial"/>
              <a:buChar char="•"/>
            </a:pPr>
            <a:r>
              <a:rPr b="0" lang="hu-HU" sz="2000" spc="-1" strike="noStrike">
                <a:solidFill>
                  <a:srgbClr val="000000"/>
                </a:solidFill>
                <a:latin typeface="Century Gothic"/>
              </a:rPr>
              <a:t>Könnyen hozzáférni a telefonszámhoz (e-mail, google maps, chat).</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pPr>
            <a:r>
              <a:rPr b="0" lang="hu-HU" sz="2000" spc="-1" strike="noStrike">
                <a:solidFill>
                  <a:srgbClr val="000000"/>
                </a:solidFill>
                <a:latin typeface="Century Gothic"/>
              </a:rPr>
              <a:t>Gyors segítség</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pPr>
            <a:r>
              <a:rPr b="0" lang="hu-HU" sz="2000" spc="-1" strike="noStrike">
                <a:solidFill>
                  <a:srgbClr val="000000"/>
                </a:solidFill>
                <a:latin typeface="Century Gothic"/>
              </a:rPr>
              <a:t>Gyakori kérdések listája</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pPr>
            <a:r>
              <a:rPr b="0" lang="hu-HU" sz="2000" spc="-1" strike="noStrike">
                <a:solidFill>
                  <a:srgbClr val="000000"/>
                </a:solidFill>
                <a:latin typeface="Century Gothic"/>
              </a:rPr>
              <a:t>Gyors reagálás e-mailre</a:t>
            </a:r>
            <a:r>
              <a:rPr b="1" lang="hu-HU" sz="2000" spc="-1" strike="noStrike">
                <a:solidFill>
                  <a:srgbClr val="000000"/>
                </a:solidFill>
                <a:latin typeface="Century Gothic"/>
              </a:rPr>
              <a:t> </a:t>
            </a:r>
            <a:r>
              <a:rPr b="0" i="1" lang="hu-HU" sz="2000" spc="-1" strike="noStrike">
                <a:solidFill>
                  <a:srgbClr val="000000"/>
                </a:solidFill>
                <a:latin typeface="Century Gothic"/>
              </a:rPr>
              <a:t>(Mennyi idő alatt kéne reagáljon pl. egy tanár?)</a:t>
            </a:r>
            <a:endParaRPr b="0" lang="en-US" sz="2000" spc="-1" strike="noStrike">
              <a:solidFill>
                <a:srgbClr val="000000"/>
              </a:solidFill>
              <a:latin typeface="Century Gothic"/>
            </a:endParaRPr>
          </a:p>
          <a:p>
            <a:pPr>
              <a:lnSpc>
                <a:spcPct val="120000"/>
              </a:lnSpc>
              <a:spcBef>
                <a:spcPts val="1001"/>
              </a:spcBef>
              <a:buNone/>
              <a:tabLst>
                <a:tab algn="l" pos="0"/>
              </a:tabLst>
            </a:pPr>
            <a:endParaRPr b="0" lang="en-US" sz="2000" spc="-1" strike="noStrike">
              <a:solidFill>
                <a:srgbClr val="000000"/>
              </a:solidFill>
              <a:latin typeface="Century Gothic"/>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1128600" y="956160"/>
            <a:ext cx="6571080" cy="1049040"/>
          </a:xfrm>
          <a:prstGeom prst="rect">
            <a:avLst/>
          </a:prstGeom>
          <a:noFill/>
          <a:ln w="0">
            <a:noFill/>
          </a:ln>
        </p:spPr>
        <p:txBody>
          <a:bodyPr anchor="t">
            <a:noAutofit/>
          </a:bodyPr>
          <a:p>
            <a:pPr>
              <a:lnSpc>
                <a:spcPct val="90000"/>
              </a:lnSpc>
              <a:buNone/>
            </a:pPr>
            <a:r>
              <a:rPr b="1" lang="hu-HU" sz="3200" spc="-1" strike="noStrike">
                <a:solidFill>
                  <a:srgbClr val="000000"/>
                </a:solidFill>
                <a:latin typeface="Century Gothic"/>
              </a:rPr>
              <a:t>Potyázó Panna</a:t>
            </a:r>
            <a:endParaRPr b="0" lang="en-US" sz="3200" spc="-1" strike="noStrike">
              <a:solidFill>
                <a:srgbClr val="000000"/>
              </a:solidFill>
              <a:latin typeface="Century Gothic"/>
            </a:endParaRPr>
          </a:p>
        </p:txBody>
      </p:sp>
      <p:pic>
        <p:nvPicPr>
          <p:cNvPr id="128" name="Picture 6" descr=""/>
          <p:cNvPicPr/>
          <p:nvPr/>
        </p:nvPicPr>
        <p:blipFill>
          <a:blip r:embed="rId1"/>
          <a:stretch/>
        </p:blipFill>
        <p:spPr>
          <a:xfrm>
            <a:off x="1128600" y="1743480"/>
            <a:ext cx="1685160" cy="1685160"/>
          </a:xfrm>
          <a:prstGeom prst="rect">
            <a:avLst/>
          </a:prstGeom>
          <a:ln w="0">
            <a:noFill/>
          </a:ln>
        </p:spPr>
      </p:pic>
      <p:sp>
        <p:nvSpPr>
          <p:cNvPr id="129" name="Rectangle 4"/>
          <p:cNvSpPr/>
          <p:nvPr/>
        </p:nvSpPr>
        <p:spPr>
          <a:xfrm>
            <a:off x="4038480" y="1905120"/>
            <a:ext cx="4571640" cy="9126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i="1" lang="hu-HU" sz="1800" spc="-1" strike="noStrike">
                <a:solidFill>
                  <a:srgbClr val="000000"/>
                </a:solidFill>
                <a:latin typeface="Century Gothic"/>
              </a:rPr>
              <a:t>Megköveteli, ami jár neki a pénzéért. Célja, hogy minél többhöz jusson a pénzéért cserébe. </a:t>
            </a:r>
            <a:endParaRPr b="0" lang="en-US" sz="1800" spc="-1" strike="noStrike">
              <a:latin typeface="Arial"/>
            </a:endParaRPr>
          </a:p>
        </p:txBody>
      </p:sp>
      <p:sp>
        <p:nvSpPr>
          <p:cNvPr id="130" name="Rectangle 5"/>
          <p:cNvSpPr/>
          <p:nvPr/>
        </p:nvSpPr>
        <p:spPr>
          <a:xfrm>
            <a:off x="4038480" y="3200400"/>
            <a:ext cx="4571640" cy="25585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hu-HU" sz="1800" spc="-1" strike="noStrike">
                <a:solidFill>
                  <a:srgbClr val="000000"/>
                </a:solidFill>
                <a:latin typeface="Century Gothic"/>
              </a:rPr>
              <a:t>Viselkedésminták</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hu-HU" sz="1800" spc="-1" strike="noStrike">
                <a:solidFill>
                  <a:srgbClr val="000000"/>
                </a:solidFill>
                <a:latin typeface="Century Gothic"/>
              </a:rPr>
              <a:t>Mindenképpen akar valamit, még akkor is, ha semmit sem ad érte cserébe. Visszahozza az árut amikor már viseltes. Perrel fenyegetőzik vagy becsületsértésről beszél, ha azzal vádolják, hogy jogtalanul próbál előnyökre szert tenni.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1128600" y="956160"/>
            <a:ext cx="6571080" cy="1049040"/>
          </a:xfrm>
          <a:prstGeom prst="rect">
            <a:avLst/>
          </a:prstGeom>
          <a:noFill/>
          <a:ln w="0">
            <a:noFill/>
          </a:ln>
        </p:spPr>
        <p:txBody>
          <a:bodyPr anchor="t">
            <a:noAutofit/>
          </a:bodyPr>
          <a:p>
            <a:pPr>
              <a:lnSpc>
                <a:spcPct val="90000"/>
              </a:lnSpc>
              <a:buNone/>
            </a:pPr>
            <a:r>
              <a:rPr b="1" lang="hu-HU" sz="3200" spc="-1" strike="noStrike">
                <a:solidFill>
                  <a:srgbClr val="000000"/>
                </a:solidFill>
                <a:latin typeface="Century Gothic"/>
              </a:rPr>
              <a:t>Hogyan viszonyulj Pannához?</a:t>
            </a:r>
            <a:endParaRPr b="0" lang="en-US" sz="3200" spc="-1" strike="noStrike">
              <a:solidFill>
                <a:srgbClr val="000000"/>
              </a:solidFill>
              <a:latin typeface="Century Gothic"/>
            </a:endParaRPr>
          </a:p>
        </p:txBody>
      </p:sp>
      <p:sp>
        <p:nvSpPr>
          <p:cNvPr id="132" name="Rectangle 7"/>
          <p:cNvSpPr/>
          <p:nvPr/>
        </p:nvSpPr>
        <p:spPr>
          <a:xfrm>
            <a:off x="1154160" y="1905120"/>
            <a:ext cx="6860880" cy="3381480"/>
          </a:xfrm>
          <a:prstGeom prst="rect">
            <a:avLst/>
          </a:prstGeom>
          <a:noFill/>
          <a:ln w="0">
            <a:noFill/>
          </a:ln>
        </p:spPr>
        <p:style>
          <a:lnRef idx="0"/>
          <a:fillRef idx="0"/>
          <a:effectRef idx="0"/>
          <a:fontRef idx="minor"/>
        </p:style>
        <p:txBody>
          <a:bodyPr lIns="90000" rIns="90000" tIns="45000" bIns="45000" anchor="t">
            <a:spAutoFit/>
          </a:bodyPr>
          <a:p>
            <a:pPr marL="285840" indent="-285840">
              <a:lnSpc>
                <a:spcPct val="100000"/>
              </a:lnSpc>
              <a:buClr>
                <a:srgbClr val="000000"/>
              </a:buClr>
              <a:buFont typeface="Arial"/>
              <a:buChar char="•"/>
            </a:pPr>
            <a:r>
              <a:rPr b="0" lang="hu-HU" sz="1800" spc="-1" strike="noStrike">
                <a:solidFill>
                  <a:srgbClr val="000000"/>
                </a:solidFill>
                <a:latin typeface="Century Gothic"/>
              </a:rPr>
              <a:t>Ugyanolyan udvariasan és tiszteletteljesen viszonyulj hozzá, mint az összes többi ügyfélhez.</a:t>
            </a:r>
            <a:endParaRPr b="0" lang="en-US" sz="1800" spc="-1" strike="noStrike">
              <a:latin typeface="Arial"/>
            </a:endParaRPr>
          </a:p>
          <a:p>
            <a:pPr>
              <a:lnSpc>
                <a:spcPct val="100000"/>
              </a:lnSpc>
              <a:buNone/>
            </a:pPr>
            <a:endParaRPr b="0" lang="en-US" sz="1800" spc="-1" strike="noStrike">
              <a:latin typeface="Arial"/>
            </a:endParaRPr>
          </a:p>
          <a:p>
            <a:pPr marL="285840" indent="-285840">
              <a:lnSpc>
                <a:spcPct val="100000"/>
              </a:lnSpc>
              <a:buClr>
                <a:srgbClr val="000000"/>
              </a:buClr>
              <a:buFont typeface="Arial"/>
              <a:buChar char="•"/>
            </a:pPr>
            <a:r>
              <a:rPr b="0" lang="hu-HU" sz="1800" spc="-1" strike="noStrike">
                <a:solidFill>
                  <a:srgbClr val="000000"/>
                </a:solidFill>
                <a:latin typeface="Century Gothic"/>
              </a:rPr>
              <a:t>Találd meg a legkorrektebb választ a reklamációjára (a korrekt azt jelenti: elfogadható számodra és az ő számára is.)</a:t>
            </a:r>
            <a:endParaRPr b="0" lang="en-US" sz="1800" spc="-1" strike="noStrike">
              <a:latin typeface="Arial"/>
            </a:endParaRPr>
          </a:p>
          <a:p>
            <a:pPr>
              <a:lnSpc>
                <a:spcPct val="100000"/>
              </a:lnSpc>
              <a:buNone/>
            </a:pPr>
            <a:endParaRPr b="0" lang="en-US" sz="1800" spc="-1" strike="noStrike">
              <a:latin typeface="Arial"/>
            </a:endParaRPr>
          </a:p>
          <a:p>
            <a:pPr marL="285840" indent="-285840">
              <a:lnSpc>
                <a:spcPct val="100000"/>
              </a:lnSpc>
              <a:buClr>
                <a:srgbClr val="000000"/>
              </a:buClr>
              <a:buFont typeface="Arial"/>
              <a:buChar char="•"/>
            </a:pPr>
            <a:r>
              <a:rPr b="0" lang="hu-HU" sz="1800" spc="-1" strike="noStrike">
                <a:solidFill>
                  <a:srgbClr val="000000"/>
                </a:solidFill>
                <a:latin typeface="Century Gothic"/>
              </a:rPr>
              <a:t>Nem muszáj meghajolnod az ügyfél akarata előtt és eleget tenned követelésének. Mindazonáltal ez egyszerűbb megoldás lehet, mint megakadályozni az általa beígért botrányjelenetet. </a:t>
            </a:r>
            <a:endParaRPr b="0" lang="en-US" sz="1800" spc="-1" strike="noStrike">
              <a:latin typeface="Arial"/>
            </a:endParaRPr>
          </a:p>
          <a:p>
            <a:pPr>
              <a:lnSpc>
                <a:spcPct val="100000"/>
              </a:lnSpc>
              <a:buNone/>
            </a:pPr>
            <a:endParaRPr b="0" lang="en-US" sz="1800" spc="-1" strike="noStrike">
              <a:latin typeface="Arial"/>
            </a:endParaRPr>
          </a:p>
        </p:txBody>
      </p:sp>
      <p:pic>
        <p:nvPicPr>
          <p:cNvPr id="133" name="Picture 9" descr=""/>
          <p:cNvPicPr/>
          <p:nvPr/>
        </p:nvPicPr>
        <p:blipFill>
          <a:blip r:embed="rId1"/>
          <a:stretch/>
        </p:blipFill>
        <p:spPr>
          <a:xfrm>
            <a:off x="7197840" y="914400"/>
            <a:ext cx="817200" cy="81252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1143000" y="990720"/>
            <a:ext cx="6571080" cy="1049040"/>
          </a:xfrm>
          <a:prstGeom prst="rect">
            <a:avLst/>
          </a:prstGeom>
          <a:noFill/>
          <a:ln w="0">
            <a:noFill/>
          </a:ln>
        </p:spPr>
        <p:txBody>
          <a:bodyPr anchor="t">
            <a:noAutofit/>
          </a:bodyPr>
          <a:p>
            <a:pPr>
              <a:lnSpc>
                <a:spcPct val="90000"/>
              </a:lnSpc>
              <a:buNone/>
            </a:pPr>
            <a:r>
              <a:rPr b="1" lang="hu-HU" sz="3200" spc="-1" strike="noStrike">
                <a:solidFill>
                  <a:srgbClr val="000000"/>
                </a:solidFill>
                <a:latin typeface="Century Gothic"/>
              </a:rPr>
              <a:t>Diktátor Dénes</a:t>
            </a:r>
            <a:br>
              <a:rPr sz="3200"/>
            </a:br>
            <a:endParaRPr b="0" lang="en-US" sz="3200" spc="-1" strike="noStrike">
              <a:solidFill>
                <a:srgbClr val="000000"/>
              </a:solidFill>
              <a:latin typeface="Century Gothic"/>
            </a:endParaRPr>
          </a:p>
        </p:txBody>
      </p:sp>
      <p:pic>
        <p:nvPicPr>
          <p:cNvPr id="135" name="Picture 4" descr=""/>
          <p:cNvPicPr/>
          <p:nvPr/>
        </p:nvPicPr>
        <p:blipFill>
          <a:blip r:embed="rId1"/>
          <a:stretch/>
        </p:blipFill>
        <p:spPr>
          <a:xfrm>
            <a:off x="1219320" y="1752480"/>
            <a:ext cx="2520360" cy="1676160"/>
          </a:xfrm>
          <a:prstGeom prst="rect">
            <a:avLst/>
          </a:prstGeom>
          <a:ln w="0">
            <a:noFill/>
          </a:ln>
        </p:spPr>
      </p:pic>
      <p:sp>
        <p:nvSpPr>
          <p:cNvPr id="136" name="Rectangle 3"/>
          <p:cNvSpPr/>
          <p:nvPr/>
        </p:nvSpPr>
        <p:spPr>
          <a:xfrm>
            <a:off x="4191120" y="1733760"/>
            <a:ext cx="457164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i="1" lang="hu-HU" sz="1800" spc="-1" strike="noStrike">
                <a:solidFill>
                  <a:srgbClr val="000000"/>
                </a:solidFill>
                <a:latin typeface="Century Gothic"/>
              </a:rPr>
              <a:t>Ultimátumokat ad, önkényes határidőket szab, mindenkinek pontosan megmondja, kinek mi a dolga és hogyan végezze.</a:t>
            </a:r>
            <a:endParaRPr b="0" lang="en-US" sz="1800" spc="-1" strike="noStrike">
              <a:latin typeface="Arial"/>
            </a:endParaRPr>
          </a:p>
        </p:txBody>
      </p:sp>
      <p:sp>
        <p:nvSpPr>
          <p:cNvPr id="137" name="Rectangle 5"/>
          <p:cNvSpPr/>
          <p:nvPr/>
        </p:nvSpPr>
        <p:spPr>
          <a:xfrm>
            <a:off x="4267080" y="3484800"/>
            <a:ext cx="4571640" cy="20098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hu-HU" sz="1800" spc="-1" strike="noStrike">
                <a:solidFill>
                  <a:srgbClr val="000000"/>
                </a:solidFill>
                <a:latin typeface="Century Gothic"/>
              </a:rPr>
              <a:t>Viselkedésminták</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hu-HU" sz="1800" spc="-1" strike="noStrike">
                <a:solidFill>
                  <a:srgbClr val="000000"/>
                </a:solidFill>
                <a:latin typeface="Century Gothic"/>
              </a:rPr>
              <a:t>Írások parancsokat, utasításokat hoz magával, ragaszkodik ahhoz, hogy minden úgy történjen, ahogyan ő akarja, különben szabotázsra gyanakszik.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1143000" y="990720"/>
            <a:ext cx="6571080" cy="1049040"/>
          </a:xfrm>
          <a:prstGeom prst="rect">
            <a:avLst/>
          </a:prstGeom>
          <a:noFill/>
          <a:ln w="0">
            <a:noFill/>
          </a:ln>
        </p:spPr>
        <p:txBody>
          <a:bodyPr anchor="t">
            <a:noAutofit/>
          </a:bodyPr>
          <a:p>
            <a:pPr>
              <a:lnSpc>
                <a:spcPct val="90000"/>
              </a:lnSpc>
              <a:buNone/>
            </a:pPr>
            <a:r>
              <a:rPr b="1" lang="hu-HU" sz="3200" spc="-1" strike="noStrike">
                <a:solidFill>
                  <a:srgbClr val="000000"/>
                </a:solidFill>
                <a:latin typeface="Century Gothic"/>
              </a:rPr>
              <a:t>Hogyan viszonyulj Déneshez?</a:t>
            </a:r>
            <a:br>
              <a:rPr sz="3200"/>
            </a:br>
            <a:endParaRPr b="0" lang="en-US" sz="3200" spc="-1" strike="noStrike">
              <a:solidFill>
                <a:srgbClr val="000000"/>
              </a:solidFill>
              <a:latin typeface="Century Gothic"/>
            </a:endParaRPr>
          </a:p>
        </p:txBody>
      </p:sp>
      <p:pic>
        <p:nvPicPr>
          <p:cNvPr id="139" name="Picture 6" descr=""/>
          <p:cNvPicPr/>
          <p:nvPr/>
        </p:nvPicPr>
        <p:blipFill>
          <a:blip r:embed="rId1"/>
          <a:stretch/>
        </p:blipFill>
        <p:spPr>
          <a:xfrm>
            <a:off x="7313400" y="947880"/>
            <a:ext cx="1374480" cy="914040"/>
          </a:xfrm>
          <a:prstGeom prst="rect">
            <a:avLst/>
          </a:prstGeom>
          <a:ln w="0">
            <a:noFill/>
          </a:ln>
        </p:spPr>
      </p:pic>
      <p:sp>
        <p:nvSpPr>
          <p:cNvPr id="140" name="Rectangle 7"/>
          <p:cNvSpPr/>
          <p:nvPr/>
        </p:nvSpPr>
        <p:spPr>
          <a:xfrm>
            <a:off x="1154160" y="1905120"/>
            <a:ext cx="6860880" cy="3381480"/>
          </a:xfrm>
          <a:prstGeom prst="rect">
            <a:avLst/>
          </a:prstGeom>
          <a:noFill/>
          <a:ln w="0">
            <a:noFill/>
          </a:ln>
        </p:spPr>
        <p:style>
          <a:lnRef idx="0"/>
          <a:fillRef idx="0"/>
          <a:effectRef idx="0"/>
          <a:fontRef idx="minor"/>
        </p:style>
        <p:txBody>
          <a:bodyPr lIns="90000" rIns="90000" tIns="45000" bIns="45000" anchor="t">
            <a:spAutoFit/>
          </a:bodyPr>
          <a:p>
            <a:pPr marL="285840" indent="-285840">
              <a:lnSpc>
                <a:spcPct val="100000"/>
              </a:lnSpc>
              <a:buClr>
                <a:srgbClr val="000000"/>
              </a:buClr>
              <a:buFont typeface="Arial"/>
              <a:buChar char="•"/>
            </a:pPr>
            <a:r>
              <a:rPr b="0" lang="hu-HU" sz="1800" spc="-1" strike="noStrike">
                <a:solidFill>
                  <a:srgbClr val="000000"/>
                </a:solidFill>
                <a:latin typeface="Century Gothic"/>
              </a:rPr>
              <a:t>Zökkentsd ki a szerepéből. Dénes azt hiszi, hogy csak akkor érheti el a célját a szolgáltatónál, ha eleve harcba száll. Amennyiben úgy bánsz vele, mintha a lehető legtermészetesebb lenne, hogy segítesz, akkor sikerül kizökkentened szerepéből.</a:t>
            </a:r>
            <a:endParaRPr b="0" lang="en-US" sz="1800" spc="-1" strike="noStrike">
              <a:latin typeface="Arial"/>
            </a:endParaRPr>
          </a:p>
          <a:p>
            <a:pPr>
              <a:lnSpc>
                <a:spcPct val="100000"/>
              </a:lnSpc>
              <a:buNone/>
            </a:pPr>
            <a:endParaRPr b="0" lang="en-US" sz="1800" spc="-1" strike="noStrike">
              <a:latin typeface="Arial"/>
            </a:endParaRPr>
          </a:p>
          <a:p>
            <a:pPr marL="285840" indent="-285840">
              <a:lnSpc>
                <a:spcPct val="100000"/>
              </a:lnSpc>
              <a:buClr>
                <a:srgbClr val="000000"/>
              </a:buClr>
              <a:buFont typeface="Arial"/>
              <a:buChar char="•"/>
            </a:pPr>
            <a:r>
              <a:rPr b="0" lang="hu-HU" sz="1800" spc="-1" strike="noStrike">
                <a:solidFill>
                  <a:srgbClr val="000000"/>
                </a:solidFill>
                <a:latin typeface="Century Gothic"/>
              </a:rPr>
              <a:t>Akkor érheted el nála a legtöbbet, ha azonnal és precízen teljesíted kéréseit.  </a:t>
            </a:r>
            <a:endParaRPr b="0" lang="en-US" sz="1800" spc="-1" strike="noStrike">
              <a:latin typeface="Arial"/>
            </a:endParaRPr>
          </a:p>
          <a:p>
            <a:pPr>
              <a:lnSpc>
                <a:spcPct val="100000"/>
              </a:lnSpc>
              <a:buNone/>
            </a:pPr>
            <a:endParaRPr b="0" lang="en-US" sz="1800" spc="-1" strike="noStrike">
              <a:latin typeface="Arial"/>
            </a:endParaRPr>
          </a:p>
          <a:p>
            <a:pPr marL="285840" indent="-285840">
              <a:lnSpc>
                <a:spcPct val="100000"/>
              </a:lnSpc>
              <a:buClr>
                <a:srgbClr val="000000"/>
              </a:buClr>
              <a:buFont typeface="Arial"/>
              <a:buChar char="•"/>
            </a:pPr>
            <a:r>
              <a:rPr b="0" lang="hu-HU" sz="1800" spc="-1" strike="noStrike">
                <a:solidFill>
                  <a:srgbClr val="000000"/>
                </a:solidFill>
                <a:latin typeface="Century Gothic"/>
              </a:rPr>
              <a:t>Tarts ki a saját szabályaid mellett. Hangsúlyozd a pozitív dolgokat azáltal, hogy elismétled, mit tehetsz az érdekében.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1128600" y="956160"/>
            <a:ext cx="6571080" cy="1049040"/>
          </a:xfrm>
          <a:prstGeom prst="rect">
            <a:avLst/>
          </a:prstGeom>
          <a:noFill/>
          <a:ln w="0">
            <a:noFill/>
          </a:ln>
        </p:spPr>
        <p:txBody>
          <a:bodyPr anchor="t">
            <a:noAutofit/>
          </a:bodyPr>
          <a:p>
            <a:pPr>
              <a:lnSpc>
                <a:spcPct val="90000"/>
              </a:lnSpc>
              <a:buNone/>
            </a:pPr>
            <a:r>
              <a:rPr b="1" lang="hu-HU" sz="3200" spc="-1" strike="noStrike">
                <a:solidFill>
                  <a:srgbClr val="000000"/>
                </a:solidFill>
                <a:latin typeface="Century Gothic"/>
              </a:rPr>
              <a:t>Hisztérikus Henrik</a:t>
            </a:r>
            <a:br>
              <a:rPr sz="3200"/>
            </a:br>
            <a:endParaRPr b="0" lang="en-US" sz="3200" spc="-1" strike="noStrike">
              <a:solidFill>
                <a:srgbClr val="000000"/>
              </a:solidFill>
              <a:latin typeface="Century Gothic"/>
            </a:endParaRPr>
          </a:p>
        </p:txBody>
      </p:sp>
      <p:pic>
        <p:nvPicPr>
          <p:cNvPr id="142" name="Picture 4" descr=""/>
          <p:cNvPicPr/>
          <p:nvPr/>
        </p:nvPicPr>
        <p:blipFill>
          <a:blip r:embed="rId1"/>
          <a:stretch/>
        </p:blipFill>
        <p:spPr>
          <a:xfrm>
            <a:off x="1181880" y="1532520"/>
            <a:ext cx="2846880" cy="1907280"/>
          </a:xfrm>
          <a:prstGeom prst="rect">
            <a:avLst/>
          </a:prstGeom>
          <a:ln w="0">
            <a:noFill/>
          </a:ln>
        </p:spPr>
      </p:pic>
      <p:sp>
        <p:nvSpPr>
          <p:cNvPr id="143" name="Rectangle 2"/>
          <p:cNvSpPr/>
          <p:nvPr/>
        </p:nvSpPr>
        <p:spPr>
          <a:xfrm>
            <a:off x="4267080" y="1532520"/>
            <a:ext cx="457164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i="1" lang="hu-HU" sz="1800" spc="-1" strike="noStrike">
                <a:solidFill>
                  <a:srgbClr val="000000"/>
                </a:solidFill>
                <a:latin typeface="Century Gothic"/>
              </a:rPr>
              <a:t>A harsány ügyfél. Jeleneteket rendez.</a:t>
            </a:r>
            <a:endParaRPr b="0" lang="en-US" sz="1800" spc="-1" strike="noStrike">
              <a:latin typeface="Arial"/>
            </a:endParaRPr>
          </a:p>
        </p:txBody>
      </p:sp>
      <p:sp>
        <p:nvSpPr>
          <p:cNvPr id="144" name="Rectangle 5"/>
          <p:cNvSpPr/>
          <p:nvPr/>
        </p:nvSpPr>
        <p:spPr>
          <a:xfrm>
            <a:off x="4267080" y="2690280"/>
            <a:ext cx="4571640" cy="17355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hu-HU" sz="1800" spc="-1" strike="noStrike">
                <a:solidFill>
                  <a:srgbClr val="000000"/>
                </a:solidFill>
                <a:latin typeface="Century Gothic"/>
              </a:rPr>
              <a:t>Viselkedésminták</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hu-HU" sz="1800" spc="-1" strike="noStrike">
                <a:solidFill>
                  <a:srgbClr val="000000"/>
                </a:solidFill>
                <a:latin typeface="Century Gothic"/>
              </a:rPr>
              <a:t>Dühöng és tombol, hevesen gesztikulál, pattog, megszállja vagy megsérti a többi jelenlévő intim szféráját.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1128600" y="956160"/>
            <a:ext cx="6571080" cy="1049040"/>
          </a:xfrm>
          <a:prstGeom prst="rect">
            <a:avLst/>
          </a:prstGeom>
          <a:noFill/>
          <a:ln w="0">
            <a:noFill/>
          </a:ln>
        </p:spPr>
        <p:txBody>
          <a:bodyPr anchor="t">
            <a:noAutofit/>
          </a:bodyPr>
          <a:p>
            <a:endParaRPr b="0" lang="en-US" sz="1800" spc="-1" strike="noStrike">
              <a:solidFill>
                <a:srgbClr val="000000"/>
              </a:solidFill>
              <a:latin typeface="Century Gothic"/>
            </a:endParaRPr>
          </a:p>
        </p:txBody>
      </p:sp>
      <p:pic>
        <p:nvPicPr>
          <p:cNvPr id="146" name="Picture 4" descr=""/>
          <p:cNvPicPr/>
          <p:nvPr/>
        </p:nvPicPr>
        <p:blipFill>
          <a:blip r:embed="rId1"/>
          <a:stretch/>
        </p:blipFill>
        <p:spPr>
          <a:xfrm>
            <a:off x="7086600" y="859680"/>
            <a:ext cx="1565640" cy="1049040"/>
          </a:xfrm>
          <a:prstGeom prst="rect">
            <a:avLst/>
          </a:prstGeom>
          <a:ln w="0">
            <a:noFill/>
          </a:ln>
        </p:spPr>
      </p:pic>
      <p:sp>
        <p:nvSpPr>
          <p:cNvPr id="147" name="Title 1"/>
          <p:cNvSpPr/>
          <p:nvPr/>
        </p:nvSpPr>
        <p:spPr>
          <a:xfrm>
            <a:off x="1128600" y="956160"/>
            <a:ext cx="6571080" cy="1049040"/>
          </a:xfrm>
          <a:prstGeom prst="rect">
            <a:avLst/>
          </a:prstGeom>
          <a:noFill/>
          <a:ln w="0">
            <a:noFill/>
          </a:ln>
        </p:spPr>
        <p:style>
          <a:lnRef idx="0"/>
          <a:fillRef idx="0"/>
          <a:effectRef idx="0"/>
          <a:fontRef idx="minor"/>
        </p:style>
        <p:txBody>
          <a:bodyPr anchor="t">
            <a:normAutofit fontScale="92000"/>
          </a:bodyPr>
          <a:p>
            <a:pPr>
              <a:lnSpc>
                <a:spcPct val="90000"/>
              </a:lnSpc>
              <a:buNone/>
            </a:pPr>
            <a:r>
              <a:rPr b="1" lang="hu-HU" sz="3200" spc="-1" strike="noStrike">
                <a:solidFill>
                  <a:srgbClr val="000000"/>
                </a:solidFill>
                <a:latin typeface="Century Gothic"/>
              </a:rPr>
              <a:t>Hogyan viszonyulj Henrikhez?</a:t>
            </a:r>
            <a:br>
              <a:rPr sz="3200"/>
            </a:br>
            <a:endParaRPr b="0" lang="en-US" sz="3200" spc="-1" strike="noStrike">
              <a:latin typeface="Arial"/>
            </a:endParaRPr>
          </a:p>
        </p:txBody>
      </p:sp>
      <p:sp>
        <p:nvSpPr>
          <p:cNvPr id="148" name="Rectangle 3"/>
          <p:cNvSpPr/>
          <p:nvPr/>
        </p:nvSpPr>
        <p:spPr>
          <a:xfrm>
            <a:off x="1166400" y="1909080"/>
            <a:ext cx="5943240" cy="3930120"/>
          </a:xfrm>
          <a:prstGeom prst="rect">
            <a:avLst/>
          </a:prstGeom>
          <a:noFill/>
          <a:ln w="0">
            <a:noFill/>
          </a:ln>
        </p:spPr>
        <p:style>
          <a:lnRef idx="0"/>
          <a:fillRef idx="0"/>
          <a:effectRef idx="0"/>
          <a:fontRef idx="minor"/>
        </p:style>
        <p:txBody>
          <a:bodyPr lIns="90000" rIns="90000" tIns="45000" bIns="45000" anchor="t">
            <a:spAutoFit/>
          </a:bodyPr>
          <a:p>
            <a:pPr marL="285840" indent="-285840">
              <a:lnSpc>
                <a:spcPct val="100000"/>
              </a:lnSpc>
              <a:buClr>
                <a:srgbClr val="000000"/>
              </a:buClr>
              <a:buFont typeface="Arial"/>
              <a:buChar char="•"/>
            </a:pPr>
            <a:r>
              <a:rPr b="0" lang="hu-HU" sz="1800" spc="-1" strike="noStrike">
                <a:solidFill>
                  <a:srgbClr val="000000"/>
                </a:solidFill>
                <a:latin typeface="Century Gothic"/>
              </a:rPr>
              <a:t>Hagyd, hogy kiadja a mérgét, magát lecsillapodjon. Mutasd meg neki, hogy elfogadod az érzéseit, akár egyetértesz vele vagy sem. Használj eközben semleges, objektív megállapításokat. „Látom, mennyire ideges …”, „Tökéletesen érthető a dühe.”</a:t>
            </a:r>
            <a:endParaRPr b="0" lang="en-US" sz="1800" spc="-1" strike="noStrike">
              <a:latin typeface="Arial"/>
            </a:endParaRPr>
          </a:p>
          <a:p>
            <a:pPr>
              <a:lnSpc>
                <a:spcPct val="100000"/>
              </a:lnSpc>
              <a:buNone/>
            </a:pPr>
            <a:endParaRPr b="0" lang="en-US" sz="1800" spc="-1" strike="noStrike">
              <a:latin typeface="Arial"/>
            </a:endParaRPr>
          </a:p>
          <a:p>
            <a:pPr marL="285840" indent="-285840">
              <a:lnSpc>
                <a:spcPct val="100000"/>
              </a:lnSpc>
              <a:buClr>
                <a:srgbClr val="000000"/>
              </a:buClr>
              <a:buFont typeface="Arial"/>
              <a:buChar char="•"/>
            </a:pPr>
            <a:r>
              <a:rPr b="0" lang="hu-HU" sz="1800" spc="-1" strike="noStrike">
                <a:solidFill>
                  <a:srgbClr val="000000"/>
                </a:solidFill>
                <a:latin typeface="Century Gothic"/>
              </a:rPr>
              <a:t>Vond hátra egy tárgyalóterembe, hogy ne mindenki előtt rendezze a jelenetet. (Lehet, hogy nem lesz erre hajlandó).</a:t>
            </a:r>
            <a:endParaRPr b="0" lang="en-US" sz="1800" spc="-1" strike="noStrike">
              <a:latin typeface="Arial"/>
            </a:endParaRPr>
          </a:p>
          <a:p>
            <a:pPr>
              <a:lnSpc>
                <a:spcPct val="100000"/>
              </a:lnSpc>
              <a:buNone/>
            </a:pPr>
            <a:endParaRPr b="0" lang="en-US" sz="1800" spc="-1" strike="noStrike">
              <a:latin typeface="Arial"/>
            </a:endParaRPr>
          </a:p>
          <a:p>
            <a:pPr marL="285840" indent="-285840">
              <a:lnSpc>
                <a:spcPct val="100000"/>
              </a:lnSpc>
              <a:buClr>
                <a:srgbClr val="000000"/>
              </a:buClr>
              <a:buFont typeface="Arial"/>
              <a:buChar char="•"/>
            </a:pPr>
            <a:r>
              <a:rPr b="0" lang="hu-HU" sz="1800" spc="-1" strike="noStrike">
                <a:solidFill>
                  <a:srgbClr val="000000"/>
                </a:solidFill>
                <a:latin typeface="Century Gothic"/>
              </a:rPr>
              <a:t>Vállald a felelősséget a probléma megoldásáért. Fejezd ki, hogy meg akarod és meg is fogod oldani a problémát.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1128600" y="956160"/>
            <a:ext cx="6571080" cy="1049040"/>
          </a:xfrm>
          <a:prstGeom prst="rect">
            <a:avLst/>
          </a:prstGeom>
          <a:noFill/>
          <a:ln w="0">
            <a:noFill/>
          </a:ln>
        </p:spPr>
        <p:txBody>
          <a:bodyPr anchor="t">
            <a:noAutofit/>
          </a:bodyPr>
          <a:p>
            <a:pPr>
              <a:lnSpc>
                <a:spcPct val="90000"/>
              </a:lnSpc>
              <a:buNone/>
            </a:pPr>
            <a:r>
              <a:rPr b="1" lang="hu-HU" sz="3200" spc="-1" strike="noStrike">
                <a:solidFill>
                  <a:srgbClr val="000000"/>
                </a:solidFill>
                <a:latin typeface="Century Gothic"/>
              </a:rPr>
              <a:t>Káromkodó Karola</a:t>
            </a:r>
            <a:br>
              <a:rPr sz="3200"/>
            </a:br>
            <a:endParaRPr b="0" lang="en-US" sz="3200" spc="-1" strike="noStrike">
              <a:solidFill>
                <a:srgbClr val="000000"/>
              </a:solidFill>
              <a:latin typeface="Century Gothic"/>
            </a:endParaRPr>
          </a:p>
        </p:txBody>
      </p:sp>
      <p:pic>
        <p:nvPicPr>
          <p:cNvPr id="150" name="Picture 4" descr=""/>
          <p:cNvPicPr/>
          <p:nvPr/>
        </p:nvPicPr>
        <p:blipFill>
          <a:blip r:embed="rId1"/>
          <a:stretch/>
        </p:blipFill>
        <p:spPr>
          <a:xfrm>
            <a:off x="1098360" y="1905120"/>
            <a:ext cx="2434320" cy="1828440"/>
          </a:xfrm>
          <a:prstGeom prst="rect">
            <a:avLst/>
          </a:prstGeom>
          <a:ln w="0">
            <a:noFill/>
          </a:ln>
        </p:spPr>
      </p:pic>
      <p:sp>
        <p:nvSpPr>
          <p:cNvPr id="151" name="Rectangle 2"/>
          <p:cNvSpPr/>
          <p:nvPr/>
        </p:nvSpPr>
        <p:spPr>
          <a:xfrm>
            <a:off x="3733920" y="1900080"/>
            <a:ext cx="4571640" cy="9126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i="1" lang="hu-HU" sz="1800" spc="-1" strike="noStrike">
                <a:solidFill>
                  <a:srgbClr val="000000"/>
                </a:solidFill>
                <a:latin typeface="Century Gothic"/>
              </a:rPr>
              <a:t>Jó időzítéssel, tehetséggel, szégyenérzet teljes hiányával káromkodik.</a:t>
            </a:r>
            <a:endParaRPr b="0" lang="en-US" sz="1800" spc="-1" strike="noStrike">
              <a:latin typeface="Arial"/>
            </a:endParaRPr>
          </a:p>
        </p:txBody>
      </p:sp>
      <p:sp>
        <p:nvSpPr>
          <p:cNvPr id="152" name="Rectangle 3"/>
          <p:cNvSpPr/>
          <p:nvPr/>
        </p:nvSpPr>
        <p:spPr>
          <a:xfrm>
            <a:off x="3733920" y="3429000"/>
            <a:ext cx="4571640" cy="1461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hu-HU" sz="1800" spc="-1" strike="noStrike">
                <a:solidFill>
                  <a:srgbClr val="000000"/>
                </a:solidFill>
                <a:latin typeface="Century Gothic"/>
              </a:rPr>
              <a:t>Viselkedésminták</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hu-HU" sz="1800" spc="-1" strike="noStrike">
                <a:solidFill>
                  <a:srgbClr val="000000"/>
                </a:solidFill>
                <a:latin typeface="Century Gothic"/>
              </a:rPr>
              <a:t>A szóhasználata és a viselkedése is bántó, otromba, kegyetlen és visszataszító.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1128600" y="956160"/>
            <a:ext cx="6571080" cy="1049040"/>
          </a:xfrm>
          <a:prstGeom prst="rect">
            <a:avLst/>
          </a:prstGeom>
          <a:noFill/>
          <a:ln w="0">
            <a:noFill/>
          </a:ln>
        </p:spPr>
        <p:txBody>
          <a:bodyPr anchor="t">
            <a:noAutofit/>
          </a:bodyPr>
          <a:p>
            <a:endParaRPr b="0" lang="en-US" sz="1800" spc="-1" strike="noStrike">
              <a:solidFill>
                <a:srgbClr val="000000"/>
              </a:solidFill>
              <a:latin typeface="Century Gothic"/>
            </a:endParaRPr>
          </a:p>
        </p:txBody>
      </p:sp>
      <p:sp>
        <p:nvSpPr>
          <p:cNvPr id="154" name="Title 1"/>
          <p:cNvSpPr/>
          <p:nvPr/>
        </p:nvSpPr>
        <p:spPr>
          <a:xfrm>
            <a:off x="1128600" y="956160"/>
            <a:ext cx="6571080" cy="1049040"/>
          </a:xfrm>
          <a:prstGeom prst="rect">
            <a:avLst/>
          </a:prstGeom>
          <a:noFill/>
          <a:ln w="0">
            <a:noFill/>
          </a:ln>
        </p:spPr>
        <p:style>
          <a:lnRef idx="0"/>
          <a:fillRef idx="0"/>
          <a:effectRef idx="0"/>
          <a:fontRef idx="minor"/>
        </p:style>
        <p:txBody>
          <a:bodyPr anchor="t">
            <a:normAutofit fontScale="92000"/>
          </a:bodyPr>
          <a:p>
            <a:pPr>
              <a:lnSpc>
                <a:spcPct val="90000"/>
              </a:lnSpc>
              <a:buNone/>
            </a:pPr>
            <a:r>
              <a:rPr b="1" lang="hu-HU" sz="3200" spc="-1" strike="noStrike">
                <a:solidFill>
                  <a:srgbClr val="000000"/>
                </a:solidFill>
                <a:latin typeface="Century Gothic"/>
              </a:rPr>
              <a:t>Hogyan viszonyulj Karolához?</a:t>
            </a:r>
            <a:br>
              <a:rPr sz="3200"/>
            </a:br>
            <a:endParaRPr b="0" lang="en-US" sz="3200" spc="-1" strike="noStrike">
              <a:latin typeface="Arial"/>
            </a:endParaRPr>
          </a:p>
        </p:txBody>
      </p:sp>
      <p:sp>
        <p:nvSpPr>
          <p:cNvPr id="155" name="Rectangle 3"/>
          <p:cNvSpPr/>
          <p:nvPr/>
        </p:nvSpPr>
        <p:spPr>
          <a:xfrm>
            <a:off x="1166400" y="1909080"/>
            <a:ext cx="6571080" cy="4204440"/>
          </a:xfrm>
          <a:prstGeom prst="rect">
            <a:avLst/>
          </a:prstGeom>
          <a:noFill/>
          <a:ln w="0">
            <a:noFill/>
          </a:ln>
        </p:spPr>
        <p:style>
          <a:lnRef idx="0"/>
          <a:fillRef idx="0"/>
          <a:effectRef idx="0"/>
          <a:fontRef idx="minor"/>
        </p:style>
        <p:txBody>
          <a:bodyPr lIns="90000" rIns="90000" tIns="45000" bIns="45000" anchor="t">
            <a:spAutoFit/>
          </a:bodyPr>
          <a:p>
            <a:pPr marL="285840" indent="-285840">
              <a:lnSpc>
                <a:spcPct val="100000"/>
              </a:lnSpc>
              <a:buClr>
                <a:srgbClr val="000000"/>
              </a:buClr>
              <a:buFont typeface="Arial"/>
              <a:buChar char="•"/>
            </a:pPr>
            <a:r>
              <a:rPr b="0" lang="hu-HU" sz="1800" spc="-1" strike="noStrike">
                <a:solidFill>
                  <a:srgbClr val="000000"/>
                </a:solidFill>
                <a:latin typeface="Century Gothic"/>
              </a:rPr>
              <a:t>Ügyet se vess rá, hogyan beszél. Ha engeded, hogy hatással legyen rád, elveszel.</a:t>
            </a:r>
            <a:endParaRPr b="0" lang="en-US" sz="1800" spc="-1" strike="noStrike">
              <a:latin typeface="Arial"/>
            </a:endParaRPr>
          </a:p>
          <a:p>
            <a:pPr marL="285840" indent="-285840">
              <a:lnSpc>
                <a:spcPct val="100000"/>
              </a:lnSpc>
              <a:buClr>
                <a:srgbClr val="000000"/>
              </a:buClr>
              <a:buFont typeface="Arial"/>
              <a:buChar char="•"/>
            </a:pPr>
            <a:r>
              <a:rPr b="0" lang="hu-HU" sz="1800" spc="-1" strike="noStrike">
                <a:solidFill>
                  <a:srgbClr val="000000"/>
                </a:solidFill>
                <a:latin typeface="Century Gothic"/>
              </a:rPr>
              <a:t>Kihúzhatod a méregfogát: „Bocsásson meg, de elkövettem valamit ön ellen én, személy szerint? Mert ha igen, kérem, mondja meg, hadd tegyem jóvá.” Karola rendszerint ettől visszahőköl.</a:t>
            </a:r>
            <a:endParaRPr b="0" lang="en-US" sz="1800" spc="-1" strike="noStrike">
              <a:latin typeface="Arial"/>
            </a:endParaRPr>
          </a:p>
          <a:p>
            <a:pPr marL="285840" indent="-285840">
              <a:lnSpc>
                <a:spcPct val="100000"/>
              </a:lnSpc>
              <a:buClr>
                <a:srgbClr val="000000"/>
              </a:buClr>
              <a:buFont typeface="Arial"/>
              <a:buChar char="•"/>
            </a:pPr>
            <a:r>
              <a:rPr b="0" lang="hu-HU" sz="1800" spc="-1" strike="noStrike">
                <a:solidFill>
                  <a:srgbClr val="000000"/>
                </a:solidFill>
                <a:latin typeface="Century Gothic"/>
              </a:rPr>
              <a:t>Ragaszkodj a problémához. Ha mégis tovább szitkozódik: „Amennyiben nem fejezi be most rögtön, leteszem a telefont.” Amint megteszed, haladéktalanul keresd fel a felettesed, jelentsd, hogy mi történt. </a:t>
            </a:r>
            <a:endParaRPr b="0" lang="en-US" sz="1800" spc="-1" strike="noStrike">
              <a:latin typeface="Arial"/>
            </a:endParaRPr>
          </a:p>
          <a:p>
            <a:pPr marL="285840" indent="-285840">
              <a:lnSpc>
                <a:spcPct val="100000"/>
              </a:lnSpc>
              <a:buClr>
                <a:srgbClr val="000000"/>
              </a:buClr>
              <a:buFont typeface="Arial"/>
              <a:buChar char="•"/>
            </a:pPr>
            <a:r>
              <a:rPr b="0" lang="hu-HU" sz="1800" spc="-1" strike="noStrike">
                <a:solidFill>
                  <a:srgbClr val="000000"/>
                </a:solidFill>
                <a:latin typeface="Century Gothic"/>
              </a:rPr>
              <a:t>Fejezd ki egyetértésed, együttérzésed: „5 perc valóban sok idő, megértem, hogy ennyire felháborodott.”</a:t>
            </a:r>
            <a:endParaRPr b="0" lang="en-US" sz="1800" spc="-1" strike="noStrike">
              <a:latin typeface="Arial"/>
            </a:endParaRPr>
          </a:p>
          <a:p>
            <a:pPr>
              <a:lnSpc>
                <a:spcPct val="100000"/>
              </a:lnSpc>
              <a:buNone/>
            </a:pPr>
            <a:endParaRPr b="0" lang="en-US" sz="1800" spc="-1" strike="noStrike">
              <a:latin typeface="Arial"/>
            </a:endParaRPr>
          </a:p>
        </p:txBody>
      </p:sp>
      <p:pic>
        <p:nvPicPr>
          <p:cNvPr id="156" name="Picture 5" descr=""/>
          <p:cNvPicPr/>
          <p:nvPr/>
        </p:nvPicPr>
        <p:blipFill>
          <a:blip r:embed="rId1"/>
          <a:stretch/>
        </p:blipFill>
        <p:spPr>
          <a:xfrm>
            <a:off x="7238880" y="827280"/>
            <a:ext cx="1739160" cy="130644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1128600" y="956160"/>
            <a:ext cx="6571080" cy="1049040"/>
          </a:xfrm>
          <a:prstGeom prst="rect">
            <a:avLst/>
          </a:prstGeom>
          <a:noFill/>
          <a:ln w="0">
            <a:noFill/>
          </a:ln>
        </p:spPr>
        <p:txBody>
          <a:bodyPr anchor="t">
            <a:noAutofit/>
          </a:bodyPr>
          <a:p>
            <a:pPr>
              <a:lnSpc>
                <a:spcPct val="90000"/>
              </a:lnSpc>
              <a:buNone/>
            </a:pPr>
            <a:r>
              <a:rPr b="1" lang="hu-HU" sz="3200" spc="-1" strike="noStrike">
                <a:solidFill>
                  <a:srgbClr val="000000"/>
                </a:solidFill>
                <a:latin typeface="Century Gothic"/>
              </a:rPr>
              <a:t>Egocentrikus Edgár</a:t>
            </a:r>
            <a:br>
              <a:rPr sz="3200"/>
            </a:br>
            <a:endParaRPr b="0" lang="en-US" sz="3200" spc="-1" strike="noStrike">
              <a:solidFill>
                <a:srgbClr val="000000"/>
              </a:solidFill>
              <a:latin typeface="Century Gothic"/>
            </a:endParaRPr>
          </a:p>
        </p:txBody>
      </p:sp>
      <p:pic>
        <p:nvPicPr>
          <p:cNvPr id="158" name="Content Placeholder 4" descr=""/>
          <p:cNvPicPr/>
          <p:nvPr/>
        </p:nvPicPr>
        <p:blipFill>
          <a:blip r:embed="rId1"/>
          <a:stretch/>
        </p:blipFill>
        <p:spPr>
          <a:xfrm>
            <a:off x="1149120" y="1600200"/>
            <a:ext cx="1441440" cy="2147760"/>
          </a:xfrm>
          <a:prstGeom prst="rect">
            <a:avLst/>
          </a:prstGeom>
          <a:ln w="0">
            <a:noFill/>
          </a:ln>
        </p:spPr>
      </p:pic>
      <p:sp>
        <p:nvSpPr>
          <p:cNvPr id="159" name="TextBox 3"/>
          <p:cNvSpPr/>
          <p:nvPr/>
        </p:nvSpPr>
        <p:spPr>
          <a:xfrm>
            <a:off x="2740320" y="1605240"/>
            <a:ext cx="5336280" cy="4023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i="1" lang="hu-HU" sz="2000" spc="-1" strike="noStrike">
                <a:solidFill>
                  <a:srgbClr val="000000"/>
                </a:solidFill>
                <a:latin typeface="Century Gothic"/>
              </a:rPr>
              <a:t>„</a:t>
            </a:r>
            <a:r>
              <a:rPr b="0" i="1" lang="hu-HU" sz="2000" spc="-1" strike="noStrike">
                <a:solidFill>
                  <a:srgbClr val="000000"/>
                </a:solidFill>
                <a:latin typeface="Century Gothic"/>
              </a:rPr>
              <a:t>Én vagyok az első, én vagyok az utolsó, egyedül én létezem.”</a:t>
            </a:r>
            <a:endParaRPr b="0" lang="en-US" sz="2000" spc="-1" strike="noStrike">
              <a:latin typeface="Arial"/>
            </a:endParaRPr>
          </a:p>
          <a:p>
            <a:pPr>
              <a:lnSpc>
                <a:spcPct val="100000"/>
              </a:lnSpc>
              <a:buNone/>
            </a:pPr>
            <a:endParaRPr b="0" lang="en-US" sz="2000" spc="-1" strike="noStrike">
              <a:latin typeface="Arial"/>
            </a:endParaRPr>
          </a:p>
          <a:p>
            <a:pPr>
              <a:lnSpc>
                <a:spcPct val="100000"/>
              </a:lnSpc>
              <a:buNone/>
            </a:pPr>
            <a:endParaRPr b="0" lang="en-US" sz="2000" spc="-1" strike="noStrike">
              <a:latin typeface="Arial"/>
            </a:endParaRPr>
          </a:p>
          <a:p>
            <a:pPr>
              <a:lnSpc>
                <a:spcPct val="100000"/>
              </a:lnSpc>
              <a:buNone/>
            </a:pPr>
            <a:endParaRPr b="0" lang="en-US" sz="2000" spc="-1" strike="noStrike">
              <a:latin typeface="Arial"/>
            </a:endParaRPr>
          </a:p>
          <a:p>
            <a:pPr>
              <a:lnSpc>
                <a:spcPct val="100000"/>
              </a:lnSpc>
              <a:buNone/>
            </a:pPr>
            <a:r>
              <a:rPr b="1" lang="hu-HU" sz="2000" spc="-1" strike="noStrike">
                <a:solidFill>
                  <a:srgbClr val="000000"/>
                </a:solidFill>
                <a:latin typeface="Century Gothic"/>
              </a:rPr>
              <a:t>Viselkedésminták</a:t>
            </a:r>
            <a:endParaRPr b="0" lang="en-US" sz="2000" spc="-1" strike="noStrike">
              <a:latin typeface="Arial"/>
            </a:endParaRPr>
          </a:p>
          <a:p>
            <a:pPr>
              <a:lnSpc>
                <a:spcPct val="100000"/>
              </a:lnSpc>
              <a:buNone/>
            </a:pPr>
            <a:endParaRPr b="0" lang="en-US" sz="2000" spc="-1" strike="noStrike">
              <a:latin typeface="Arial"/>
            </a:endParaRPr>
          </a:p>
          <a:p>
            <a:pPr>
              <a:lnSpc>
                <a:spcPct val="100000"/>
              </a:lnSpc>
              <a:buNone/>
            </a:pPr>
            <a:r>
              <a:rPr b="0" lang="hu-HU" sz="2000" spc="-1" strike="noStrike">
                <a:solidFill>
                  <a:srgbClr val="000000"/>
                </a:solidFill>
                <a:latin typeface="Century Gothic"/>
              </a:rPr>
              <a:t>Nem hajlandó kivárni a sorát, csakis azzal áll szóba, aki a „leghitelesebb”, bárki legyen is az … a megfélemlítés taktikájával próbálkozik: nevekkel dobálózik és fennhangon követelőzik.</a:t>
            </a:r>
            <a:endParaRPr b="0" lang="en-US" sz="2000" spc="-1" strike="noStrike">
              <a:latin typeface="Arial"/>
            </a:endParaRPr>
          </a:p>
          <a:p>
            <a:pPr>
              <a:lnSpc>
                <a:spcPct val="100000"/>
              </a:lnSpc>
              <a:buNone/>
            </a:pP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1128600" y="956160"/>
            <a:ext cx="6571080" cy="1049040"/>
          </a:xfrm>
          <a:prstGeom prst="rect">
            <a:avLst/>
          </a:prstGeom>
          <a:noFill/>
          <a:ln w="0">
            <a:noFill/>
          </a:ln>
        </p:spPr>
        <p:txBody>
          <a:bodyPr anchor="t">
            <a:noAutofit/>
          </a:bodyPr>
          <a:p>
            <a:endParaRPr b="0" lang="en-US" sz="1800" spc="-1" strike="noStrike">
              <a:solidFill>
                <a:srgbClr val="000000"/>
              </a:solidFill>
              <a:latin typeface="Century Gothic"/>
            </a:endParaRPr>
          </a:p>
        </p:txBody>
      </p:sp>
      <p:sp>
        <p:nvSpPr>
          <p:cNvPr id="161" name="Title 1"/>
          <p:cNvSpPr/>
          <p:nvPr/>
        </p:nvSpPr>
        <p:spPr>
          <a:xfrm>
            <a:off x="1128600" y="956160"/>
            <a:ext cx="6571080" cy="1049040"/>
          </a:xfrm>
          <a:prstGeom prst="rect">
            <a:avLst/>
          </a:prstGeom>
          <a:noFill/>
          <a:ln w="0">
            <a:noFill/>
          </a:ln>
        </p:spPr>
        <p:style>
          <a:lnRef idx="0"/>
          <a:fillRef idx="0"/>
          <a:effectRef idx="0"/>
          <a:fontRef idx="minor"/>
        </p:style>
        <p:txBody>
          <a:bodyPr anchor="t">
            <a:normAutofit fontScale="90000"/>
          </a:bodyPr>
          <a:p>
            <a:pPr>
              <a:lnSpc>
                <a:spcPct val="90000"/>
              </a:lnSpc>
              <a:buNone/>
            </a:pPr>
            <a:r>
              <a:rPr b="1" lang="hu-HU" sz="3200" spc="-1" strike="noStrike">
                <a:solidFill>
                  <a:srgbClr val="000000"/>
                </a:solidFill>
                <a:latin typeface="Century Gothic"/>
              </a:rPr>
              <a:t>Hogyan viszonyulj Edgárdhoz?</a:t>
            </a:r>
            <a:br>
              <a:rPr sz="3200"/>
            </a:br>
            <a:endParaRPr b="0" lang="en-US" sz="3200" spc="-1" strike="noStrike">
              <a:latin typeface="Arial"/>
            </a:endParaRPr>
          </a:p>
        </p:txBody>
      </p:sp>
      <p:sp>
        <p:nvSpPr>
          <p:cNvPr id="162" name="Rectangle 3"/>
          <p:cNvSpPr/>
          <p:nvPr/>
        </p:nvSpPr>
        <p:spPr>
          <a:xfrm>
            <a:off x="1166400" y="1909080"/>
            <a:ext cx="6571080" cy="2284200"/>
          </a:xfrm>
          <a:prstGeom prst="rect">
            <a:avLst/>
          </a:prstGeom>
          <a:noFill/>
          <a:ln w="0">
            <a:noFill/>
          </a:ln>
        </p:spPr>
        <p:style>
          <a:lnRef idx="0"/>
          <a:fillRef idx="0"/>
          <a:effectRef idx="0"/>
          <a:fontRef idx="minor"/>
        </p:style>
        <p:txBody>
          <a:bodyPr lIns="90000" rIns="90000" tIns="45000" bIns="45000" anchor="t">
            <a:spAutoFit/>
          </a:bodyPr>
          <a:p>
            <a:pPr marL="285840" indent="-285840">
              <a:lnSpc>
                <a:spcPct val="100000"/>
              </a:lnSpc>
              <a:buClr>
                <a:srgbClr val="000000"/>
              </a:buClr>
              <a:buFont typeface="Arial"/>
              <a:buChar char="•"/>
            </a:pPr>
            <a:r>
              <a:rPr b="0" lang="hu-HU" sz="1800" spc="-1" strike="noStrike">
                <a:solidFill>
                  <a:srgbClr val="000000"/>
                </a:solidFill>
                <a:latin typeface="Century Gothic"/>
              </a:rPr>
              <a:t>Az egójára kell hatni, pl. ismerjük el, hogy VIP vendég. </a:t>
            </a:r>
            <a:endParaRPr b="0" lang="en-US" sz="1800" spc="-1" strike="noStrike">
              <a:latin typeface="Arial"/>
            </a:endParaRPr>
          </a:p>
          <a:p>
            <a:pPr marL="285840" indent="-285840">
              <a:lnSpc>
                <a:spcPct val="100000"/>
              </a:lnSpc>
              <a:buClr>
                <a:srgbClr val="000000"/>
              </a:buClr>
              <a:buFont typeface="Arial"/>
              <a:buChar char="•"/>
            </a:pPr>
            <a:r>
              <a:rPr b="0" lang="hu-HU" sz="1800" spc="-1" strike="noStrike">
                <a:solidFill>
                  <a:srgbClr val="000000"/>
                </a:solidFill>
                <a:latin typeface="Century Gothic"/>
              </a:rPr>
              <a:t>Tudd a nevét és használd is.</a:t>
            </a:r>
            <a:endParaRPr b="0" lang="en-US" sz="1800" spc="-1" strike="noStrike">
              <a:latin typeface="Arial"/>
            </a:endParaRPr>
          </a:p>
          <a:p>
            <a:pPr marL="285840" indent="-285840">
              <a:lnSpc>
                <a:spcPct val="100000"/>
              </a:lnSpc>
              <a:buClr>
                <a:srgbClr val="000000"/>
              </a:buClr>
              <a:buFont typeface="Arial"/>
              <a:buChar char="•"/>
            </a:pPr>
            <a:r>
              <a:rPr b="0" lang="hu-HU" sz="1800" spc="-1" strike="noStrike">
                <a:solidFill>
                  <a:srgbClr val="000000"/>
                </a:solidFill>
                <a:latin typeface="Century Gothic"/>
              </a:rPr>
              <a:t>Ne beszélj üzletpolitikáról.</a:t>
            </a:r>
            <a:endParaRPr b="0" lang="en-US" sz="1800" spc="-1" strike="noStrike">
              <a:latin typeface="Arial"/>
            </a:endParaRPr>
          </a:p>
          <a:p>
            <a:pPr marL="285840" indent="-285840">
              <a:lnSpc>
                <a:spcPct val="100000"/>
              </a:lnSpc>
              <a:buClr>
                <a:srgbClr val="000000"/>
              </a:buClr>
              <a:buFont typeface="Arial"/>
              <a:buChar char="•"/>
            </a:pPr>
            <a:r>
              <a:rPr b="0" lang="hu-HU" sz="1800" spc="-1" strike="noStrike">
                <a:solidFill>
                  <a:srgbClr val="000000"/>
                </a:solidFill>
                <a:latin typeface="Century Gothic"/>
              </a:rPr>
              <a:t>Ne engedd, hogy az egója kárt tegyen benned. </a:t>
            </a:r>
            <a:endParaRPr b="0" lang="en-US" sz="1800" spc="-1" strike="noStrike">
              <a:latin typeface="Arial"/>
            </a:endParaRPr>
          </a:p>
          <a:p>
            <a:pPr marL="285840" indent="-285840">
              <a:lnSpc>
                <a:spcPct val="100000"/>
              </a:lnSpc>
              <a:buClr>
                <a:srgbClr val="000000"/>
              </a:buClr>
              <a:buFont typeface="Arial"/>
              <a:buChar char="•"/>
            </a:pPr>
            <a:r>
              <a:rPr b="0" lang="hu-HU" sz="1800" spc="-1" strike="noStrike">
                <a:solidFill>
                  <a:srgbClr val="000000"/>
                </a:solidFill>
                <a:latin typeface="Century Gothic"/>
              </a:rPr>
              <a:t>A lényegre, a hivatalos ügyekre  fordítsd a figyelmedet, ne pedig arra, hogy milyen lekezelően bánik veled.</a:t>
            </a:r>
            <a:endParaRPr b="0" lang="en-US" sz="1800" spc="-1" strike="noStrike">
              <a:latin typeface="Arial"/>
            </a:endParaRPr>
          </a:p>
        </p:txBody>
      </p:sp>
      <p:pic>
        <p:nvPicPr>
          <p:cNvPr id="163" name="Content Placeholder 4" descr=""/>
          <p:cNvPicPr/>
          <p:nvPr/>
        </p:nvPicPr>
        <p:blipFill>
          <a:blip r:embed="rId1"/>
          <a:stretch/>
        </p:blipFill>
        <p:spPr>
          <a:xfrm>
            <a:off x="7620120" y="956160"/>
            <a:ext cx="1441440" cy="214776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1128600" y="956160"/>
            <a:ext cx="6571080" cy="1049040"/>
          </a:xfrm>
          <a:prstGeom prst="rect">
            <a:avLst/>
          </a:prstGeom>
          <a:noFill/>
          <a:ln w="0">
            <a:noFill/>
          </a:ln>
        </p:spPr>
        <p:txBody>
          <a:bodyPr anchor="t">
            <a:noAutofit/>
          </a:bodyPr>
          <a:p>
            <a:endParaRPr b="0" lang="en-US" sz="1800" spc="-1" strike="noStrike">
              <a:solidFill>
                <a:srgbClr val="000000"/>
              </a:solidFill>
              <a:latin typeface="Century Gothic"/>
            </a:endParaRPr>
          </a:p>
        </p:txBody>
      </p:sp>
      <p:sp>
        <p:nvSpPr>
          <p:cNvPr id="165" name="Title 1"/>
          <p:cNvSpPr/>
          <p:nvPr/>
        </p:nvSpPr>
        <p:spPr>
          <a:xfrm>
            <a:off x="1166400" y="956160"/>
            <a:ext cx="6571080" cy="1049040"/>
          </a:xfrm>
          <a:prstGeom prst="rect">
            <a:avLst/>
          </a:prstGeom>
          <a:noFill/>
          <a:ln w="0">
            <a:noFill/>
          </a:ln>
        </p:spPr>
        <p:style>
          <a:lnRef idx="0"/>
          <a:fillRef idx="0"/>
          <a:effectRef idx="0"/>
          <a:fontRef idx="minor"/>
        </p:style>
        <p:txBody>
          <a:bodyPr anchor="t">
            <a:normAutofit/>
          </a:bodyPr>
          <a:p>
            <a:pPr>
              <a:lnSpc>
                <a:spcPct val="90000"/>
              </a:lnSpc>
              <a:buNone/>
            </a:pPr>
            <a:r>
              <a:rPr b="0" lang="hu-HU" sz="3200" spc="-1" strike="noStrike">
                <a:solidFill>
                  <a:srgbClr val="bc410a"/>
                </a:solidFill>
                <a:latin typeface="Century Gothic"/>
              </a:rPr>
              <a:t>Csak őszintén … </a:t>
            </a:r>
            <a:endParaRPr b="0" lang="en-US" sz="3200" spc="-1" strike="noStrike">
              <a:latin typeface="Arial"/>
            </a:endParaRPr>
          </a:p>
        </p:txBody>
      </p:sp>
      <p:sp>
        <p:nvSpPr>
          <p:cNvPr id="166" name="PlaceHolder 2"/>
          <p:cNvSpPr>
            <a:spLocks noGrp="1"/>
          </p:cNvSpPr>
          <p:nvPr>
            <p:ph/>
          </p:nvPr>
        </p:nvSpPr>
        <p:spPr>
          <a:xfrm>
            <a:off x="1128600" y="1676520"/>
            <a:ext cx="6571080" cy="3779280"/>
          </a:xfrm>
          <a:prstGeom prst="rect">
            <a:avLst/>
          </a:prstGeom>
          <a:noFill/>
          <a:ln w="0">
            <a:noFill/>
          </a:ln>
        </p:spPr>
        <p:txBody>
          <a:bodyPr anchor="t">
            <a:noAutofit/>
          </a:bodyPr>
          <a:p>
            <a:pPr>
              <a:lnSpc>
                <a:spcPct val="120000"/>
              </a:lnSpc>
              <a:spcBef>
                <a:spcPts val="1001"/>
              </a:spcBef>
              <a:buNone/>
              <a:tabLst>
                <a:tab algn="l" pos="0"/>
              </a:tabLst>
            </a:pPr>
            <a:r>
              <a:rPr b="0" lang="hu-HU" sz="2000" spc="-1" strike="noStrike">
                <a:solidFill>
                  <a:srgbClr val="000000"/>
                </a:solidFill>
                <a:latin typeface="Century Gothic"/>
              </a:rPr>
              <a:t>„</a:t>
            </a:r>
            <a:r>
              <a:rPr b="0" lang="hu-HU" sz="2000" spc="-1" strike="noStrike">
                <a:solidFill>
                  <a:srgbClr val="000000"/>
                </a:solidFill>
                <a:latin typeface="Century Gothic"/>
              </a:rPr>
              <a:t>Az ügyfélszolgálat terén az őszinteség nem a legjobb üzletpolitika – hanem az egyetlen lehetséges út.” </a:t>
            </a:r>
            <a:endParaRPr b="0" lang="en-US" sz="2000" spc="-1" strike="noStrike">
              <a:solidFill>
                <a:srgbClr val="000000"/>
              </a:solidFill>
              <a:latin typeface="Century Gothic"/>
            </a:endParaRPr>
          </a:p>
          <a:p>
            <a:pPr>
              <a:lnSpc>
                <a:spcPct val="120000"/>
              </a:lnSpc>
              <a:spcBef>
                <a:spcPts val="1001"/>
              </a:spcBef>
              <a:buNone/>
              <a:tabLst>
                <a:tab algn="l" pos="0"/>
              </a:tabLst>
            </a:pPr>
            <a:endParaRPr b="0" lang="en-US" sz="2000" spc="-1" strike="noStrike">
              <a:solidFill>
                <a:srgbClr val="000000"/>
              </a:solidFill>
              <a:latin typeface="Century Gothic"/>
            </a:endParaRPr>
          </a:p>
          <a:p>
            <a:pPr>
              <a:lnSpc>
                <a:spcPct val="120000"/>
              </a:lnSpc>
              <a:spcBef>
                <a:spcPts val="1001"/>
              </a:spcBef>
              <a:buNone/>
              <a:tabLst>
                <a:tab algn="l" pos="0"/>
              </a:tabLst>
            </a:pPr>
            <a:endParaRPr b="0" lang="en-US" sz="2000" spc="-1" strike="noStrike">
              <a:solidFill>
                <a:srgbClr val="000000"/>
              </a:solidFill>
              <a:latin typeface="Century Gothic"/>
            </a:endParaRPr>
          </a:p>
          <a:p>
            <a:pPr>
              <a:lnSpc>
                <a:spcPct val="120000"/>
              </a:lnSpc>
              <a:spcBef>
                <a:spcPts val="1001"/>
              </a:spcBef>
              <a:buNone/>
              <a:tabLst>
                <a:tab algn="l" pos="0"/>
              </a:tabLst>
            </a:pPr>
            <a:r>
              <a:rPr b="0" lang="hu-HU" sz="2000" spc="-1" strike="noStrike">
                <a:solidFill>
                  <a:srgbClr val="000000"/>
                </a:solidFill>
                <a:latin typeface="Century Gothic"/>
              </a:rPr>
              <a:t>A bemutatott technikák, módszerek, csak akkor tudnak működni, ha mögöttük őszinteség van. Ha „megjátszva” alkalmazzuk őket, az érezhető és nem is érhetjük el  vele a várt pozitív hatást. </a:t>
            </a:r>
            <a:endParaRPr b="0" lang="en-US" sz="2000" spc="-1" strike="noStrike">
              <a:solidFill>
                <a:srgbClr val="000000"/>
              </a:solidFill>
              <a:latin typeface="Century Gothic"/>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1128600" y="956160"/>
            <a:ext cx="6571080" cy="1049040"/>
          </a:xfrm>
          <a:prstGeom prst="rect">
            <a:avLst/>
          </a:prstGeom>
          <a:noFill/>
          <a:ln w="0">
            <a:noFill/>
          </a:ln>
        </p:spPr>
        <p:txBody>
          <a:bodyPr anchor="t">
            <a:noAutofit/>
          </a:bodyPr>
          <a:p>
            <a:pPr>
              <a:lnSpc>
                <a:spcPct val="90000"/>
              </a:lnSpc>
              <a:buNone/>
            </a:pPr>
            <a:r>
              <a:rPr b="1" lang="hu-HU" sz="2800" spc="-1" strike="noStrike">
                <a:solidFill>
                  <a:srgbClr val="8d3108"/>
                </a:solidFill>
                <a:latin typeface="Century Gothic"/>
              </a:rPr>
              <a:t>Törödj magaddal! </a:t>
            </a:r>
            <a:br>
              <a:rPr sz="3200"/>
            </a:br>
            <a:endParaRPr b="0" lang="en-US" sz="2800" spc="-1" strike="noStrike">
              <a:solidFill>
                <a:srgbClr val="000000"/>
              </a:solidFill>
              <a:latin typeface="Century Gothic"/>
            </a:endParaRPr>
          </a:p>
        </p:txBody>
      </p:sp>
      <p:sp>
        <p:nvSpPr>
          <p:cNvPr id="168" name="PlaceHolder 2"/>
          <p:cNvSpPr>
            <a:spLocks noGrp="1"/>
          </p:cNvSpPr>
          <p:nvPr>
            <p:ph/>
          </p:nvPr>
        </p:nvSpPr>
        <p:spPr>
          <a:xfrm>
            <a:off x="1128600" y="1523880"/>
            <a:ext cx="6795720" cy="4377600"/>
          </a:xfrm>
          <a:prstGeom prst="rect">
            <a:avLst/>
          </a:prstGeom>
          <a:noFill/>
          <a:ln w="0">
            <a:noFill/>
          </a:ln>
        </p:spPr>
        <p:txBody>
          <a:bodyPr anchor="t">
            <a:normAutofit fontScale="77000"/>
          </a:bodyPr>
          <a:p>
            <a:pPr>
              <a:lnSpc>
                <a:spcPct val="120000"/>
              </a:lnSpc>
              <a:spcBef>
                <a:spcPts val="1001"/>
              </a:spcBef>
              <a:buNone/>
              <a:tabLst>
                <a:tab algn="l" pos="0"/>
              </a:tabLst>
            </a:pPr>
            <a:r>
              <a:rPr b="1" lang="hu-HU" sz="2000" spc="-1" strike="noStrike">
                <a:solidFill>
                  <a:srgbClr val="000000"/>
                </a:solidFill>
                <a:latin typeface="Century Gothic"/>
              </a:rPr>
              <a:t>Stresszcsökkentő módszerek:</a:t>
            </a:r>
            <a:r>
              <a:rPr b="0" lang="hu-HU" sz="2000" spc="-1" strike="noStrike">
                <a:solidFill>
                  <a:srgbClr val="000000"/>
                </a:solidFill>
                <a:latin typeface="Century Gothic"/>
              </a:rPr>
              <a:t> </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tabLst>
                <a:tab algn="l" pos="0"/>
              </a:tabLst>
            </a:pPr>
            <a:r>
              <a:rPr b="0" lang="hu-HU" sz="2000" spc="-1" strike="noStrike">
                <a:solidFill>
                  <a:srgbClr val="000000"/>
                </a:solidFill>
                <a:latin typeface="Century Gothic"/>
              </a:rPr>
              <a:t>Légzés</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tabLst>
                <a:tab algn="l" pos="0"/>
              </a:tabLst>
            </a:pPr>
            <a:r>
              <a:rPr b="0" lang="hu-HU" sz="2000" spc="-1" strike="noStrike">
                <a:solidFill>
                  <a:srgbClr val="000000"/>
                </a:solidFill>
                <a:latin typeface="Century Gothic"/>
              </a:rPr>
              <a:t>Nevetés</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tabLst>
                <a:tab algn="l" pos="0"/>
              </a:tabLst>
            </a:pPr>
            <a:r>
              <a:rPr b="0" lang="hu-HU" sz="2000" spc="-1" strike="noStrike">
                <a:solidFill>
                  <a:srgbClr val="000000"/>
                </a:solidFill>
                <a:latin typeface="Century Gothic"/>
              </a:rPr>
              <a:t>Add ki magadból a feszültséget</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tabLst>
                <a:tab algn="l" pos="0"/>
              </a:tabLst>
            </a:pPr>
            <a:r>
              <a:rPr b="0" lang="hu-HU" sz="2000" spc="-1" strike="noStrike">
                <a:solidFill>
                  <a:srgbClr val="000000"/>
                </a:solidFill>
                <a:latin typeface="Century Gothic"/>
              </a:rPr>
              <a:t>Szabadságold magad 5 percre (Vizualizáld, hogy nyaraláson vagy)</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tabLst>
                <a:tab algn="l" pos="0"/>
              </a:tabLst>
            </a:pPr>
            <a:r>
              <a:rPr b="0" lang="hu-HU" sz="2000" spc="-1" strike="noStrike">
                <a:solidFill>
                  <a:srgbClr val="000000"/>
                </a:solidFill>
                <a:latin typeface="Century Gothic"/>
              </a:rPr>
              <a:t>Lazíts (izomcsoportok megfeszítése, elengedése)</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tabLst>
                <a:tab algn="l" pos="0"/>
              </a:tabLst>
            </a:pPr>
            <a:r>
              <a:rPr b="0" lang="hu-HU" sz="2000" spc="-1" strike="noStrike">
                <a:solidFill>
                  <a:srgbClr val="000000"/>
                </a:solidFill>
                <a:latin typeface="Century Gothic"/>
              </a:rPr>
              <a:t>Torna (Fej, láb emelgetés)</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tabLst>
                <a:tab algn="l" pos="0"/>
              </a:tabLst>
            </a:pPr>
            <a:r>
              <a:rPr b="0" lang="hu-HU" sz="2000" spc="-1" strike="noStrike">
                <a:solidFill>
                  <a:srgbClr val="000000"/>
                </a:solidFill>
                <a:latin typeface="Century Gothic"/>
              </a:rPr>
              <a:t>Rendcsinálás</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tabLst>
                <a:tab algn="l" pos="0"/>
              </a:tabLst>
            </a:pPr>
            <a:r>
              <a:rPr b="0" lang="hu-HU" sz="2000" spc="-1" strike="noStrike">
                <a:solidFill>
                  <a:srgbClr val="000000"/>
                </a:solidFill>
                <a:latin typeface="Century Gothic"/>
              </a:rPr>
              <a:t>Beszéljünk pozitív dolgokról</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tabLst>
                <a:tab algn="l" pos="0"/>
              </a:tabLst>
            </a:pPr>
            <a:r>
              <a:rPr b="0" lang="hu-HU" sz="2000" spc="-1" strike="noStrike">
                <a:solidFill>
                  <a:srgbClr val="000000"/>
                </a:solidFill>
                <a:latin typeface="Century Gothic"/>
              </a:rPr>
              <a:t>Szünet az egészségért (Ne ügyintézésről szóljon a szünet. Egészséges kaját fogyassz.)</a:t>
            </a:r>
            <a:endParaRPr b="0" lang="en-US" sz="2000" spc="-1" strike="noStrike">
              <a:solidFill>
                <a:srgbClr val="000000"/>
              </a:solidFill>
              <a:latin typeface="Century Gothic"/>
            </a:endParaRPr>
          </a:p>
          <a:p>
            <a:pPr>
              <a:lnSpc>
                <a:spcPct val="120000"/>
              </a:lnSpc>
              <a:spcBef>
                <a:spcPts val="1001"/>
              </a:spcBef>
              <a:buNone/>
              <a:tabLst>
                <a:tab algn="l" pos="0"/>
              </a:tabLst>
            </a:pPr>
            <a:endParaRPr b="0" lang="en-US" sz="2000" spc="-1" strike="noStrike">
              <a:solidFill>
                <a:srgbClr val="000000"/>
              </a:solidFill>
              <a:latin typeface="Century Gothic"/>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1128600" y="956160"/>
            <a:ext cx="6571080" cy="1049040"/>
          </a:xfrm>
          <a:prstGeom prst="rect">
            <a:avLst/>
          </a:prstGeom>
          <a:noFill/>
          <a:ln w="0">
            <a:noFill/>
          </a:ln>
        </p:spPr>
        <p:txBody>
          <a:bodyPr anchor="t">
            <a:noAutofit/>
          </a:bodyPr>
          <a:p>
            <a:pPr>
              <a:lnSpc>
                <a:spcPct val="90000"/>
              </a:lnSpc>
              <a:buNone/>
            </a:pPr>
            <a:r>
              <a:rPr b="1" lang="hu-HU" sz="2800" spc="-1" strike="noStrike">
                <a:solidFill>
                  <a:srgbClr val="8d3108"/>
                </a:solidFill>
                <a:latin typeface="Century Gothic"/>
              </a:rPr>
              <a:t>Megtanulni ünnepelni</a:t>
            </a:r>
            <a:endParaRPr b="0" lang="en-US" sz="2800" spc="-1" strike="noStrike">
              <a:solidFill>
                <a:srgbClr val="000000"/>
              </a:solidFill>
              <a:latin typeface="Century Gothic"/>
            </a:endParaRPr>
          </a:p>
        </p:txBody>
      </p:sp>
      <p:sp>
        <p:nvSpPr>
          <p:cNvPr id="170" name="PlaceHolder 2"/>
          <p:cNvSpPr>
            <a:spLocks noGrp="1"/>
          </p:cNvSpPr>
          <p:nvPr>
            <p:ph/>
          </p:nvPr>
        </p:nvSpPr>
        <p:spPr>
          <a:xfrm>
            <a:off x="1128600" y="2167560"/>
            <a:ext cx="6571080" cy="3288240"/>
          </a:xfrm>
          <a:prstGeom prst="rect">
            <a:avLst/>
          </a:prstGeom>
          <a:noFill/>
          <a:ln w="0">
            <a:noFill/>
          </a:ln>
        </p:spPr>
        <p:txBody>
          <a:bodyPr anchor="t">
            <a:normAutofit fontScale="89000"/>
          </a:bodyPr>
          <a:p>
            <a:pPr>
              <a:lnSpc>
                <a:spcPct val="120000"/>
              </a:lnSpc>
              <a:spcBef>
                <a:spcPts val="1001"/>
              </a:spcBef>
              <a:buNone/>
              <a:tabLst>
                <a:tab algn="l" pos="0"/>
              </a:tabLst>
            </a:pPr>
            <a:r>
              <a:rPr b="0" lang="hu-HU" sz="2000" spc="-1" strike="noStrike">
                <a:solidFill>
                  <a:srgbClr val="000000"/>
                </a:solidFill>
                <a:latin typeface="Century Gothic"/>
              </a:rPr>
              <a:t>Ünnepeld meg a sikereidet! </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tabLst>
                <a:tab algn="l" pos="0"/>
              </a:tabLst>
            </a:pPr>
            <a:r>
              <a:rPr b="0" lang="hu-HU" sz="2000" spc="-1" strike="noStrike">
                <a:solidFill>
                  <a:srgbClr val="000000"/>
                </a:solidFill>
                <a:latin typeface="Century Gothic"/>
              </a:rPr>
              <a:t>Menjetek el ebédelni</a:t>
            </a:r>
            <a:r>
              <a:rPr b="0" lang="en-US" sz="2000" spc="-1" strike="noStrike">
                <a:solidFill>
                  <a:srgbClr val="000000"/>
                </a:solidFill>
                <a:latin typeface="Century Gothic"/>
              </a:rPr>
              <a:t>;</a:t>
            </a:r>
            <a:r>
              <a:rPr b="0" lang="hu-HU" sz="2000" spc="-1" strike="noStrike">
                <a:solidFill>
                  <a:srgbClr val="000000"/>
                </a:solidFill>
                <a:latin typeface="Century Gothic"/>
              </a:rPr>
              <a:t> </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tabLst>
                <a:tab algn="l" pos="0"/>
              </a:tabLst>
            </a:pPr>
            <a:r>
              <a:rPr b="0" lang="hu-HU" sz="2000" spc="-1" strike="noStrike">
                <a:solidFill>
                  <a:srgbClr val="000000"/>
                </a:solidFill>
                <a:latin typeface="Century Gothic"/>
              </a:rPr>
              <a:t>Menjetek ki valahova este; </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tabLst>
                <a:tab algn="l" pos="0"/>
              </a:tabLst>
            </a:pPr>
            <a:r>
              <a:rPr b="0" lang="hu-HU" sz="2000" spc="-1" strike="noStrike">
                <a:solidFill>
                  <a:srgbClr val="000000"/>
                </a:solidFill>
                <a:latin typeface="Century Gothic"/>
              </a:rPr>
              <a:t>Vásárolj léggömböt,virágot</a:t>
            </a:r>
            <a:r>
              <a:rPr b="0" lang="en-US" sz="2000" spc="-1" strike="noStrike">
                <a:solidFill>
                  <a:srgbClr val="000000"/>
                </a:solidFill>
                <a:latin typeface="Century Gothic"/>
              </a:rPr>
              <a:t>;</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tabLst>
                <a:tab algn="l" pos="0"/>
              </a:tabLst>
            </a:pPr>
            <a:r>
              <a:rPr b="0" lang="hu-HU" sz="2000" spc="-1" strike="noStrike">
                <a:solidFill>
                  <a:srgbClr val="000000"/>
                </a:solidFill>
                <a:latin typeface="Century Gothic"/>
              </a:rPr>
              <a:t>Készíts Bravo listát</a:t>
            </a:r>
            <a:r>
              <a:rPr b="0" lang="en-US" sz="2000" spc="-1" strike="noStrike">
                <a:solidFill>
                  <a:srgbClr val="000000"/>
                </a:solidFill>
                <a:latin typeface="Century Gothic"/>
              </a:rPr>
              <a:t>; </a:t>
            </a:r>
            <a:endParaRPr b="0" lang="en-US" sz="2000" spc="-1" strike="noStrike">
              <a:solidFill>
                <a:srgbClr val="000000"/>
              </a:solidFill>
              <a:latin typeface="Century Gothic"/>
            </a:endParaRPr>
          </a:p>
          <a:p>
            <a:pPr marL="228600" indent="-228600">
              <a:lnSpc>
                <a:spcPct val="120000"/>
              </a:lnSpc>
              <a:spcBef>
                <a:spcPts val="1001"/>
              </a:spcBef>
              <a:buClr>
                <a:srgbClr val="415588"/>
              </a:buClr>
              <a:buFont typeface="Arial"/>
              <a:buChar char="•"/>
              <a:tabLst>
                <a:tab algn="l" pos="0"/>
              </a:tabLst>
            </a:pPr>
            <a:r>
              <a:rPr b="0" lang="hu-HU" sz="2000" spc="-1" strike="noStrike">
                <a:solidFill>
                  <a:srgbClr val="000000"/>
                </a:solidFill>
                <a:latin typeface="Century Gothic"/>
              </a:rPr>
              <a:t>Dícsérd meg magad</a:t>
            </a:r>
            <a:endParaRPr b="0" lang="en-US" sz="2000" spc="-1" strike="noStrike">
              <a:solidFill>
                <a:srgbClr val="000000"/>
              </a:solidFill>
              <a:latin typeface="Century Gothic"/>
            </a:endParaRPr>
          </a:p>
          <a:p>
            <a:pPr>
              <a:lnSpc>
                <a:spcPct val="120000"/>
              </a:lnSpc>
              <a:spcBef>
                <a:spcPts val="1001"/>
              </a:spcBef>
              <a:buNone/>
              <a:tabLst>
                <a:tab algn="l" pos="0"/>
              </a:tabLst>
            </a:pPr>
            <a:r>
              <a:rPr b="0" lang="hu-HU" sz="2000" spc="-1" strike="noStrike">
                <a:solidFill>
                  <a:srgbClr val="000000"/>
                </a:solidFill>
                <a:latin typeface="Century Gothic"/>
              </a:rPr>
              <a:t> </a:t>
            </a:r>
            <a:r>
              <a:rPr b="0" i="1" lang="hu-HU" sz="2000" spc="-1" strike="noStrike">
                <a:solidFill>
                  <a:srgbClr val="000000"/>
                </a:solidFill>
                <a:latin typeface="Century Gothic"/>
              </a:rPr>
              <a:t>(„Amit megjutalmazunk, az biztosan megismétlődik.”)</a:t>
            </a:r>
            <a:endParaRPr b="0" lang="en-US" sz="2000" spc="-1" strike="noStrike">
              <a:solidFill>
                <a:srgbClr val="000000"/>
              </a:solidFill>
              <a:latin typeface="Century Gothic"/>
            </a:endParaRPr>
          </a:p>
          <a:p>
            <a:pPr>
              <a:lnSpc>
                <a:spcPct val="120000"/>
              </a:lnSpc>
              <a:spcBef>
                <a:spcPts val="1001"/>
              </a:spcBef>
              <a:buNone/>
              <a:tabLst>
                <a:tab algn="l" pos="0"/>
              </a:tabLst>
            </a:pPr>
            <a:endParaRPr b="0" lang="en-US" sz="2000" spc="-1" strike="noStrike">
              <a:solidFill>
                <a:srgbClr val="000000"/>
              </a:solidFill>
              <a:latin typeface="Century Gothic"/>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1" name="Picture 2" descr="http://www.kepeslap.com/images/24245/lanchid2_origi.jpg"/>
          <p:cNvPicPr/>
          <p:nvPr/>
        </p:nvPicPr>
        <p:blipFill>
          <a:blip r:embed="rId1"/>
          <a:srcRect l="6026" t="0" r="4974" b="0"/>
          <a:stretch/>
        </p:blipFill>
        <p:spPr>
          <a:xfrm>
            <a:off x="0" y="0"/>
            <a:ext cx="9143280" cy="6857640"/>
          </a:xfrm>
          <a:prstGeom prst="rect">
            <a:avLst/>
          </a:prstGeom>
          <a:ln w="0">
            <a:noFill/>
          </a:ln>
        </p:spPr>
      </p:pic>
      <p:sp>
        <p:nvSpPr>
          <p:cNvPr id="172" name="PlaceHolder 1"/>
          <p:cNvSpPr>
            <a:spLocks noGrp="1"/>
          </p:cNvSpPr>
          <p:nvPr>
            <p:ph type="title"/>
          </p:nvPr>
        </p:nvSpPr>
        <p:spPr>
          <a:xfrm>
            <a:off x="2743200" y="5193720"/>
            <a:ext cx="3352320" cy="955440"/>
          </a:xfrm>
          <a:prstGeom prst="rect">
            <a:avLst/>
          </a:prstGeom>
          <a:solidFill>
            <a:srgbClr val="000000">
              <a:alpha val="58000"/>
            </a:srgbClr>
          </a:solidFill>
          <a:ln w="0">
            <a:noFill/>
          </a:ln>
        </p:spPr>
        <p:txBody>
          <a:bodyPr anchor="b">
            <a:normAutofit/>
          </a:bodyPr>
          <a:p>
            <a:pPr>
              <a:lnSpc>
                <a:spcPct val="90000"/>
              </a:lnSpc>
              <a:buNone/>
            </a:pPr>
            <a:r>
              <a:rPr b="0" lang="en-US" sz="3200" spc="-1" strike="noStrike">
                <a:solidFill>
                  <a:srgbClr val="fffffe"/>
                </a:solidFill>
                <a:latin typeface="Century Gothic"/>
              </a:rPr>
              <a:t>Jó éjszakát … </a:t>
            </a:r>
            <a:endParaRPr b="0" lang="en-US" sz="3200" spc="-1" strike="noStrike">
              <a:solidFill>
                <a:srgbClr val="000000"/>
              </a:solidFill>
              <a:latin typeface="Century Gothic"/>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54545"/>
      </a:dk2>
      <a:lt2>
        <a:srgbClr val="dcdce0"/>
      </a:lt2>
      <a:accent1>
        <a:srgbClr val="415588"/>
      </a:accent1>
      <a:accent2>
        <a:srgbClr val="4294b6"/>
      </a:accent2>
      <a:accent3>
        <a:srgbClr val="087d7c"/>
      </a:accent3>
      <a:accent4>
        <a:srgbClr val="04b663"/>
      </a:accent4>
      <a:accent5>
        <a:srgbClr val="df8822"/>
      </a:accent5>
      <a:accent6>
        <a:srgbClr val="bc410a"/>
      </a:accent6>
      <a:hlink>
        <a:srgbClr val="5977c4"/>
      </a:hlink>
      <a:folHlink>
        <a:srgbClr val="01a9b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54545"/>
      </a:dk2>
      <a:lt2>
        <a:srgbClr val="dcdce0"/>
      </a:lt2>
      <a:accent1>
        <a:srgbClr val="415588"/>
      </a:accent1>
      <a:accent2>
        <a:srgbClr val="4294b6"/>
      </a:accent2>
      <a:accent3>
        <a:srgbClr val="087d7c"/>
      </a:accent3>
      <a:accent4>
        <a:srgbClr val="04b663"/>
      </a:accent4>
      <a:accent5>
        <a:srgbClr val="df8822"/>
      </a:accent5>
      <a:accent6>
        <a:srgbClr val="bc410a"/>
      </a:accent6>
      <a:hlink>
        <a:srgbClr val="5977c4"/>
      </a:hlink>
      <a:folHlink>
        <a:srgbClr val="01a9b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54545"/>
      </a:dk2>
      <a:lt2>
        <a:srgbClr val="dcdce0"/>
      </a:lt2>
      <a:accent1>
        <a:srgbClr val="415588"/>
      </a:accent1>
      <a:accent2>
        <a:srgbClr val="4294b6"/>
      </a:accent2>
      <a:accent3>
        <a:srgbClr val="087d7c"/>
      </a:accent3>
      <a:accent4>
        <a:srgbClr val="04b663"/>
      </a:accent4>
      <a:accent5>
        <a:srgbClr val="df8822"/>
      </a:accent5>
      <a:accent6>
        <a:srgbClr val="bc410a"/>
      </a:accent6>
      <a:hlink>
        <a:srgbClr val="5977c4"/>
      </a:hlink>
      <a:folHlink>
        <a:srgbClr val="01a9b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4558</TotalTime>
  <Application>LibreOffice/7.3.7.2$Linux_X86_64 LibreOffice_project/30$Build-2</Application>
  <AppVersion>15.0000</AppVersion>
  <Words>1892</Words>
  <Paragraphs>182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2018-10-18T14:26:32Z</dcterms:created>
  <dc:creator>Eniko Ilyes</dc:creator>
  <dc:description/>
  <dc:language>en-US</dc:language>
  <cp:lastModifiedBy/>
  <dcterms:modified xsi:type="dcterms:W3CDTF">2023-12-13T21:48:24Z</dcterms:modified>
  <cp:revision>211</cp:revision>
  <dc:subject/>
  <dc:title>Projektirányítás az informatikában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On-screen Show (4:3)</vt:lpwstr>
  </property>
  <property fmtid="{D5CDD505-2E9C-101B-9397-08002B2CF9AE}" pid="4" name="Slides">
    <vt:i4>28</vt:i4>
  </property>
</Properties>
</file>