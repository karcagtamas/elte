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56" r:id="rId2"/>
    <p:sldId id="282" r:id="rId3"/>
    <p:sldId id="258" r:id="rId4"/>
    <p:sldId id="470" r:id="rId5"/>
    <p:sldId id="275" r:id="rId6"/>
    <p:sldId id="281" r:id="rId7"/>
    <p:sldId id="277" r:id="rId8"/>
    <p:sldId id="278" r:id="rId9"/>
    <p:sldId id="280" r:id="rId10"/>
    <p:sldId id="262" r:id="rId11"/>
    <p:sldId id="261" r:id="rId12"/>
    <p:sldId id="272" r:id="rId13"/>
    <p:sldId id="263" r:id="rId14"/>
    <p:sldId id="266" r:id="rId15"/>
    <p:sldId id="267" r:id="rId16"/>
    <p:sldId id="273" r:id="rId17"/>
    <p:sldId id="270" r:id="rId18"/>
    <p:sldId id="468" r:id="rId19"/>
    <p:sldId id="417" r:id="rId20"/>
    <p:sldId id="414" r:id="rId21"/>
    <p:sldId id="469" r:id="rId22"/>
    <p:sldId id="433" r:id="rId23"/>
    <p:sldId id="264" r:id="rId24"/>
    <p:sldId id="265" r:id="rId25"/>
    <p:sldId id="418" r:id="rId26"/>
    <p:sldId id="419" r:id="rId27"/>
    <p:sldId id="420" r:id="rId28"/>
    <p:sldId id="421" r:id="rId29"/>
    <p:sldId id="422" r:id="rId30"/>
    <p:sldId id="467" r:id="rId31"/>
    <p:sldId id="465" r:id="rId32"/>
    <p:sldId id="463" r:id="rId33"/>
    <p:sldId id="464" r:id="rId34"/>
    <p:sldId id="413" r:id="rId35"/>
    <p:sldId id="42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82"/>
            <p14:sldId id="258"/>
            <p14:sldId id="470"/>
            <p14:sldId id="275"/>
            <p14:sldId id="281"/>
            <p14:sldId id="277"/>
            <p14:sldId id="278"/>
            <p14:sldId id="280"/>
            <p14:sldId id="262"/>
            <p14:sldId id="261"/>
            <p14:sldId id="272"/>
            <p14:sldId id="263"/>
            <p14:sldId id="266"/>
            <p14:sldId id="267"/>
            <p14:sldId id="273"/>
            <p14:sldId id="270"/>
            <p14:sldId id="468"/>
            <p14:sldId id="417"/>
            <p14:sldId id="414"/>
            <p14:sldId id="469"/>
            <p14:sldId id="433"/>
            <p14:sldId id="264"/>
            <p14:sldId id="265"/>
            <p14:sldId id="418"/>
            <p14:sldId id="419"/>
            <p14:sldId id="420"/>
            <p14:sldId id="421"/>
            <p14:sldId id="422"/>
            <p14:sldId id="467"/>
            <p14:sldId id="465"/>
            <p14:sldId id="463"/>
            <p14:sldId id="464"/>
            <p14:sldId id="413"/>
            <p14:sldId id="423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Eniko Ilyes" initials="EI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D24726"/>
    <a:srgbClr val="404040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1" autoAdjust="0"/>
    <p:restoredTop sz="94214" autoAdjust="0"/>
  </p:normalViewPr>
  <p:slideViewPr>
    <p:cSldViewPr snapToGrid="0">
      <p:cViewPr varScale="1">
        <p:scale>
          <a:sx n="67" d="100"/>
          <a:sy n="67" d="100"/>
        </p:scale>
        <p:origin x="67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78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801D67-5B21-44D0-A5D7-69C887561B5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1A10F21-518E-437C-8BB9-CEFA5FA48707}">
      <dgm:prSet/>
      <dgm:spPr/>
      <dgm:t>
        <a:bodyPr/>
        <a:lstStyle/>
        <a:p>
          <a:r>
            <a:rPr lang="hu-HU"/>
            <a:t>„A vezetők moderátorként funkcionálnak. A csapat kollektív intelligenciájára, szakértelmére és kompetenciáira támaszkodnak.”</a:t>
          </a:r>
          <a:endParaRPr lang="en-US"/>
        </a:p>
      </dgm:t>
    </dgm:pt>
    <dgm:pt modelId="{B6C43290-CAC2-4B70-89B1-708CDB16EE73}" type="parTrans" cxnId="{C1D4A0E5-05EB-4E0A-9F23-CD89F8B11F8F}">
      <dgm:prSet/>
      <dgm:spPr/>
      <dgm:t>
        <a:bodyPr/>
        <a:lstStyle/>
        <a:p>
          <a:endParaRPr lang="en-US"/>
        </a:p>
      </dgm:t>
    </dgm:pt>
    <dgm:pt modelId="{F8CDD899-5491-4C97-95B0-432A73C0FF04}" type="sibTrans" cxnId="{C1D4A0E5-05EB-4E0A-9F23-CD89F8B11F8F}">
      <dgm:prSet/>
      <dgm:spPr/>
      <dgm:t>
        <a:bodyPr/>
        <a:lstStyle/>
        <a:p>
          <a:endParaRPr lang="en-US"/>
        </a:p>
      </dgm:t>
    </dgm:pt>
    <dgm:pt modelId="{FA932B5E-F8D1-4F24-90C2-CDC80424F28B}">
      <dgm:prSet/>
      <dgm:spPr/>
      <dgm:t>
        <a:bodyPr/>
        <a:lstStyle/>
        <a:p>
          <a:r>
            <a:rPr lang="hu-HU" dirty="0"/>
            <a:t>„A vezetés nem más, mint csapatom számára keretet, s ezáltal </a:t>
          </a:r>
          <a:r>
            <a:rPr lang="hu-HU" b="1" dirty="0"/>
            <a:t>biztonságot nyújtani, ugyanakkor a csapattagok kibontakozásához kellő szabadságot biztosítani</a:t>
          </a:r>
          <a:r>
            <a:rPr lang="hu-HU" dirty="0"/>
            <a:t>.”</a:t>
          </a:r>
          <a:endParaRPr lang="en-US" dirty="0"/>
        </a:p>
      </dgm:t>
    </dgm:pt>
    <dgm:pt modelId="{A34F98E3-3345-4B03-B32F-6EA215614D29}" type="parTrans" cxnId="{0F467814-C73C-470C-BEE4-7C808F34599E}">
      <dgm:prSet/>
      <dgm:spPr/>
      <dgm:t>
        <a:bodyPr/>
        <a:lstStyle/>
        <a:p>
          <a:endParaRPr lang="en-US"/>
        </a:p>
      </dgm:t>
    </dgm:pt>
    <dgm:pt modelId="{0E7500A2-DEF1-4537-8D7A-42C68CF33D23}" type="sibTrans" cxnId="{0F467814-C73C-470C-BEE4-7C808F34599E}">
      <dgm:prSet/>
      <dgm:spPr/>
      <dgm:t>
        <a:bodyPr/>
        <a:lstStyle/>
        <a:p>
          <a:endParaRPr lang="en-US"/>
        </a:p>
      </dgm:t>
    </dgm:pt>
    <dgm:pt modelId="{D3048879-F416-4AAA-9360-2B16F3AAA2A8}">
      <dgm:prSet/>
      <dgm:spPr/>
      <dgm:t>
        <a:bodyPr/>
        <a:lstStyle/>
        <a:p>
          <a:r>
            <a:rPr lang="hu-HU" dirty="0"/>
            <a:t>„Hozzájárulni ahhoz, hogy </a:t>
          </a:r>
          <a:r>
            <a:rPr lang="hu-HU" b="1" dirty="0"/>
            <a:t>emberek egy csoportja egyéni képességeit szenvedéllyel és kreativitással értékek teremtésére használja</a:t>
          </a:r>
          <a:r>
            <a:rPr lang="hu-HU" dirty="0"/>
            <a:t>.”</a:t>
          </a:r>
          <a:endParaRPr lang="en-US" dirty="0"/>
        </a:p>
      </dgm:t>
    </dgm:pt>
    <dgm:pt modelId="{1C146BFD-0F56-4A08-8B20-3FAA4E2A44FA}" type="parTrans" cxnId="{6972FFED-02FA-43D8-8DA4-AEFE5C83B443}">
      <dgm:prSet/>
      <dgm:spPr/>
      <dgm:t>
        <a:bodyPr/>
        <a:lstStyle/>
        <a:p>
          <a:endParaRPr lang="en-US"/>
        </a:p>
      </dgm:t>
    </dgm:pt>
    <dgm:pt modelId="{94279448-522B-4A32-ADA7-C13F7317E576}" type="sibTrans" cxnId="{6972FFED-02FA-43D8-8DA4-AEFE5C83B443}">
      <dgm:prSet/>
      <dgm:spPr/>
      <dgm:t>
        <a:bodyPr/>
        <a:lstStyle/>
        <a:p>
          <a:endParaRPr lang="en-US"/>
        </a:p>
      </dgm:t>
    </dgm:pt>
    <dgm:pt modelId="{58C01240-7EC3-4478-904E-488A7786021F}" type="pres">
      <dgm:prSet presAssocID="{2B801D67-5B21-44D0-A5D7-69C887561B5D}" presName="vert0" presStyleCnt="0">
        <dgm:presLayoutVars>
          <dgm:dir/>
          <dgm:animOne val="branch"/>
          <dgm:animLvl val="lvl"/>
        </dgm:presLayoutVars>
      </dgm:prSet>
      <dgm:spPr/>
    </dgm:pt>
    <dgm:pt modelId="{7DA41D41-2ACA-408C-9FCB-12FF32FD9062}" type="pres">
      <dgm:prSet presAssocID="{C1A10F21-518E-437C-8BB9-CEFA5FA48707}" presName="thickLine" presStyleLbl="alignNode1" presStyleIdx="0" presStyleCnt="3"/>
      <dgm:spPr/>
    </dgm:pt>
    <dgm:pt modelId="{974CC89F-B5BB-4F2A-AD0A-62C4EA84B846}" type="pres">
      <dgm:prSet presAssocID="{C1A10F21-518E-437C-8BB9-CEFA5FA48707}" presName="horz1" presStyleCnt="0"/>
      <dgm:spPr/>
    </dgm:pt>
    <dgm:pt modelId="{B6398805-9758-433C-BF54-F4466ADD4B76}" type="pres">
      <dgm:prSet presAssocID="{C1A10F21-518E-437C-8BB9-CEFA5FA48707}" presName="tx1" presStyleLbl="revTx" presStyleIdx="0" presStyleCnt="3"/>
      <dgm:spPr/>
    </dgm:pt>
    <dgm:pt modelId="{4F78F76B-474E-4E62-B83F-9A587BC963E2}" type="pres">
      <dgm:prSet presAssocID="{C1A10F21-518E-437C-8BB9-CEFA5FA48707}" presName="vert1" presStyleCnt="0"/>
      <dgm:spPr/>
    </dgm:pt>
    <dgm:pt modelId="{7B8044E1-6D7E-449B-BC90-9D756729A33C}" type="pres">
      <dgm:prSet presAssocID="{FA932B5E-F8D1-4F24-90C2-CDC80424F28B}" presName="thickLine" presStyleLbl="alignNode1" presStyleIdx="1" presStyleCnt="3"/>
      <dgm:spPr/>
    </dgm:pt>
    <dgm:pt modelId="{E76308F2-C746-497D-92D9-65257B43D4ED}" type="pres">
      <dgm:prSet presAssocID="{FA932B5E-F8D1-4F24-90C2-CDC80424F28B}" presName="horz1" presStyleCnt="0"/>
      <dgm:spPr/>
    </dgm:pt>
    <dgm:pt modelId="{13885C56-DCD5-4002-B6A0-6D86CA9CAA5F}" type="pres">
      <dgm:prSet presAssocID="{FA932B5E-F8D1-4F24-90C2-CDC80424F28B}" presName="tx1" presStyleLbl="revTx" presStyleIdx="1" presStyleCnt="3"/>
      <dgm:spPr/>
    </dgm:pt>
    <dgm:pt modelId="{00413F93-D92C-4B25-9692-9D466C77AE8A}" type="pres">
      <dgm:prSet presAssocID="{FA932B5E-F8D1-4F24-90C2-CDC80424F28B}" presName="vert1" presStyleCnt="0"/>
      <dgm:spPr/>
    </dgm:pt>
    <dgm:pt modelId="{DC2CF935-B13D-46E0-A8DC-D59413A11144}" type="pres">
      <dgm:prSet presAssocID="{D3048879-F416-4AAA-9360-2B16F3AAA2A8}" presName="thickLine" presStyleLbl="alignNode1" presStyleIdx="2" presStyleCnt="3"/>
      <dgm:spPr/>
    </dgm:pt>
    <dgm:pt modelId="{3980C6C7-46A3-41CF-BAD2-F0FC7C9B8AB4}" type="pres">
      <dgm:prSet presAssocID="{D3048879-F416-4AAA-9360-2B16F3AAA2A8}" presName="horz1" presStyleCnt="0"/>
      <dgm:spPr/>
    </dgm:pt>
    <dgm:pt modelId="{B30790A1-7921-459B-A292-9F4BBDC87C0F}" type="pres">
      <dgm:prSet presAssocID="{D3048879-F416-4AAA-9360-2B16F3AAA2A8}" presName="tx1" presStyleLbl="revTx" presStyleIdx="2" presStyleCnt="3"/>
      <dgm:spPr/>
    </dgm:pt>
    <dgm:pt modelId="{224D3561-A20C-4D7B-8AF8-A870F4D8FB16}" type="pres">
      <dgm:prSet presAssocID="{D3048879-F416-4AAA-9360-2B16F3AAA2A8}" presName="vert1" presStyleCnt="0"/>
      <dgm:spPr/>
    </dgm:pt>
  </dgm:ptLst>
  <dgm:cxnLst>
    <dgm:cxn modelId="{B0888C09-9BD9-44AC-B111-42EB6F37D1CC}" type="presOf" srcId="{C1A10F21-518E-437C-8BB9-CEFA5FA48707}" destId="{B6398805-9758-433C-BF54-F4466ADD4B76}" srcOrd="0" destOrd="0" presId="urn:microsoft.com/office/officeart/2008/layout/LinedList"/>
    <dgm:cxn modelId="{0F467814-C73C-470C-BEE4-7C808F34599E}" srcId="{2B801D67-5B21-44D0-A5D7-69C887561B5D}" destId="{FA932B5E-F8D1-4F24-90C2-CDC80424F28B}" srcOrd="1" destOrd="0" parTransId="{A34F98E3-3345-4B03-B32F-6EA215614D29}" sibTransId="{0E7500A2-DEF1-4537-8D7A-42C68CF33D23}"/>
    <dgm:cxn modelId="{C4435F24-92BF-4938-B8F6-EC2CC7CA3539}" type="presOf" srcId="{2B801D67-5B21-44D0-A5D7-69C887561B5D}" destId="{58C01240-7EC3-4478-904E-488A7786021F}" srcOrd="0" destOrd="0" presId="urn:microsoft.com/office/officeart/2008/layout/LinedList"/>
    <dgm:cxn modelId="{AF878A4A-8B13-410E-AFCD-A34A64EF1D1E}" type="presOf" srcId="{D3048879-F416-4AAA-9360-2B16F3AAA2A8}" destId="{B30790A1-7921-459B-A292-9F4BBDC87C0F}" srcOrd="0" destOrd="0" presId="urn:microsoft.com/office/officeart/2008/layout/LinedList"/>
    <dgm:cxn modelId="{DA24B3A7-F677-49D3-9F98-9835F7D0F25F}" type="presOf" srcId="{FA932B5E-F8D1-4F24-90C2-CDC80424F28B}" destId="{13885C56-DCD5-4002-B6A0-6D86CA9CAA5F}" srcOrd="0" destOrd="0" presId="urn:microsoft.com/office/officeart/2008/layout/LinedList"/>
    <dgm:cxn modelId="{C1D4A0E5-05EB-4E0A-9F23-CD89F8B11F8F}" srcId="{2B801D67-5B21-44D0-A5D7-69C887561B5D}" destId="{C1A10F21-518E-437C-8BB9-CEFA5FA48707}" srcOrd="0" destOrd="0" parTransId="{B6C43290-CAC2-4B70-89B1-708CDB16EE73}" sibTransId="{F8CDD899-5491-4C97-95B0-432A73C0FF04}"/>
    <dgm:cxn modelId="{6972FFED-02FA-43D8-8DA4-AEFE5C83B443}" srcId="{2B801D67-5B21-44D0-A5D7-69C887561B5D}" destId="{D3048879-F416-4AAA-9360-2B16F3AAA2A8}" srcOrd="2" destOrd="0" parTransId="{1C146BFD-0F56-4A08-8B20-3FAA4E2A44FA}" sibTransId="{94279448-522B-4A32-ADA7-C13F7317E576}"/>
    <dgm:cxn modelId="{A0D5276D-366E-4E7A-97B5-DA21CE0280DE}" type="presParOf" srcId="{58C01240-7EC3-4478-904E-488A7786021F}" destId="{7DA41D41-2ACA-408C-9FCB-12FF32FD9062}" srcOrd="0" destOrd="0" presId="urn:microsoft.com/office/officeart/2008/layout/LinedList"/>
    <dgm:cxn modelId="{5ED679CD-6BEC-47BF-A4E6-B1A11526BE56}" type="presParOf" srcId="{58C01240-7EC3-4478-904E-488A7786021F}" destId="{974CC89F-B5BB-4F2A-AD0A-62C4EA84B846}" srcOrd="1" destOrd="0" presId="urn:microsoft.com/office/officeart/2008/layout/LinedList"/>
    <dgm:cxn modelId="{B29A864C-C32F-4F2D-A065-5FFF6792E5B4}" type="presParOf" srcId="{974CC89F-B5BB-4F2A-AD0A-62C4EA84B846}" destId="{B6398805-9758-433C-BF54-F4466ADD4B76}" srcOrd="0" destOrd="0" presId="urn:microsoft.com/office/officeart/2008/layout/LinedList"/>
    <dgm:cxn modelId="{AD999F3A-4918-41BF-96CD-87480A369FD9}" type="presParOf" srcId="{974CC89F-B5BB-4F2A-AD0A-62C4EA84B846}" destId="{4F78F76B-474E-4E62-B83F-9A587BC963E2}" srcOrd="1" destOrd="0" presId="urn:microsoft.com/office/officeart/2008/layout/LinedList"/>
    <dgm:cxn modelId="{97417733-E336-496C-A0A8-056C89C25ECF}" type="presParOf" srcId="{58C01240-7EC3-4478-904E-488A7786021F}" destId="{7B8044E1-6D7E-449B-BC90-9D756729A33C}" srcOrd="2" destOrd="0" presId="urn:microsoft.com/office/officeart/2008/layout/LinedList"/>
    <dgm:cxn modelId="{9BD7D486-851C-4894-8DD4-9F8DB91B953F}" type="presParOf" srcId="{58C01240-7EC3-4478-904E-488A7786021F}" destId="{E76308F2-C746-497D-92D9-65257B43D4ED}" srcOrd="3" destOrd="0" presId="urn:microsoft.com/office/officeart/2008/layout/LinedList"/>
    <dgm:cxn modelId="{A7424DF0-E40C-45F4-BD86-B9A023160510}" type="presParOf" srcId="{E76308F2-C746-497D-92D9-65257B43D4ED}" destId="{13885C56-DCD5-4002-B6A0-6D86CA9CAA5F}" srcOrd="0" destOrd="0" presId="urn:microsoft.com/office/officeart/2008/layout/LinedList"/>
    <dgm:cxn modelId="{545C5C05-053A-4DE5-A93E-5CC9AF5B8563}" type="presParOf" srcId="{E76308F2-C746-497D-92D9-65257B43D4ED}" destId="{00413F93-D92C-4B25-9692-9D466C77AE8A}" srcOrd="1" destOrd="0" presId="urn:microsoft.com/office/officeart/2008/layout/LinedList"/>
    <dgm:cxn modelId="{4415460E-8DB5-413D-8029-93C7710E2086}" type="presParOf" srcId="{58C01240-7EC3-4478-904E-488A7786021F}" destId="{DC2CF935-B13D-46E0-A8DC-D59413A11144}" srcOrd="4" destOrd="0" presId="urn:microsoft.com/office/officeart/2008/layout/LinedList"/>
    <dgm:cxn modelId="{3F92C9D3-7E3D-4236-89AA-2C2525A437E2}" type="presParOf" srcId="{58C01240-7EC3-4478-904E-488A7786021F}" destId="{3980C6C7-46A3-41CF-BAD2-F0FC7C9B8AB4}" srcOrd="5" destOrd="0" presId="urn:microsoft.com/office/officeart/2008/layout/LinedList"/>
    <dgm:cxn modelId="{130AECDA-D748-4E48-9D28-01E2DD93F5C5}" type="presParOf" srcId="{3980C6C7-46A3-41CF-BAD2-F0FC7C9B8AB4}" destId="{B30790A1-7921-459B-A292-9F4BBDC87C0F}" srcOrd="0" destOrd="0" presId="urn:microsoft.com/office/officeart/2008/layout/LinedList"/>
    <dgm:cxn modelId="{0B9F9CE9-96C5-4B67-AE1C-F3B4D79FB859}" type="presParOf" srcId="{3980C6C7-46A3-41CF-BAD2-F0FC7C9B8AB4}" destId="{224D3561-A20C-4D7B-8AF8-A870F4D8FB1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A50E89-A8B8-487B-A915-6C35B6A0D17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5F807B-EB04-4685-A2C7-183575F61E7D}">
      <dgm:prSet/>
      <dgm:spPr/>
      <dgm:t>
        <a:bodyPr/>
        <a:lstStyle/>
        <a:p>
          <a:r>
            <a:rPr lang="hu-HU" dirty="0"/>
            <a:t>„Tapasztalatból tudjuk, hogy az </a:t>
          </a:r>
          <a:r>
            <a:rPr lang="hu-HU" b="1" dirty="0"/>
            <a:t>önszerveződés folyamata gyakran produktívabb</a:t>
          </a:r>
          <a:r>
            <a:rPr lang="hu-HU" dirty="0"/>
            <a:t>, hatékonyabb és tartósabb, mint az állandó kívülről kontrollált folyamatok.”</a:t>
          </a:r>
          <a:endParaRPr lang="en-US" dirty="0"/>
        </a:p>
      </dgm:t>
    </dgm:pt>
    <dgm:pt modelId="{5A442B1E-6D9E-46E0-AB96-093A206B0BFC}" type="parTrans" cxnId="{A9F28B12-25A9-47C7-ACC7-89D12DD5DC59}">
      <dgm:prSet/>
      <dgm:spPr/>
      <dgm:t>
        <a:bodyPr/>
        <a:lstStyle/>
        <a:p>
          <a:endParaRPr lang="en-US"/>
        </a:p>
      </dgm:t>
    </dgm:pt>
    <dgm:pt modelId="{D93F4B54-F803-492B-B3C4-14DBE81E8B1F}" type="sibTrans" cxnId="{A9F28B12-25A9-47C7-ACC7-89D12DD5DC59}">
      <dgm:prSet/>
      <dgm:spPr/>
      <dgm:t>
        <a:bodyPr/>
        <a:lstStyle/>
        <a:p>
          <a:endParaRPr lang="en-US"/>
        </a:p>
      </dgm:t>
    </dgm:pt>
    <dgm:pt modelId="{FC24DE83-1015-4C34-BA9F-677B0E312476}">
      <dgm:prSet/>
      <dgm:spPr/>
      <dgm:t>
        <a:bodyPr/>
        <a:lstStyle/>
        <a:p>
          <a:r>
            <a:rPr lang="hu-HU" dirty="0"/>
            <a:t>„Az önszerveződő csapatok vezetői kijelölik a határokat, melyek között a dolgozók szabad mozgásteret kapnak.”</a:t>
          </a:r>
          <a:endParaRPr lang="en-US" dirty="0"/>
        </a:p>
      </dgm:t>
    </dgm:pt>
    <dgm:pt modelId="{33A5C3C8-7AA4-4222-8061-AF33C647DC5C}" type="parTrans" cxnId="{BEB17C66-9420-413D-A1D0-3E660E62C3C2}">
      <dgm:prSet/>
      <dgm:spPr/>
      <dgm:t>
        <a:bodyPr/>
        <a:lstStyle/>
        <a:p>
          <a:endParaRPr lang="en-US"/>
        </a:p>
      </dgm:t>
    </dgm:pt>
    <dgm:pt modelId="{F928425D-C748-4FEA-8A08-5CD88C40BC70}" type="sibTrans" cxnId="{BEB17C66-9420-413D-A1D0-3E660E62C3C2}">
      <dgm:prSet/>
      <dgm:spPr/>
      <dgm:t>
        <a:bodyPr/>
        <a:lstStyle/>
        <a:p>
          <a:endParaRPr lang="en-US"/>
        </a:p>
      </dgm:t>
    </dgm:pt>
    <dgm:pt modelId="{F8ECA706-4110-4365-B72F-791117048F01}">
      <dgm:prSet/>
      <dgm:spPr/>
      <dgm:t>
        <a:bodyPr/>
        <a:lstStyle/>
        <a:p>
          <a:r>
            <a:rPr lang="hu-HU" dirty="0"/>
            <a:t>„</a:t>
          </a:r>
          <a:r>
            <a:rPr lang="hu-HU" b="1" dirty="0"/>
            <a:t>Az agilis vezetés a csapatot állítja középpontba </a:t>
          </a:r>
          <a:r>
            <a:rPr lang="hu-HU" dirty="0"/>
            <a:t>– kreatív, gyors és felelősségvállaló csapatot – anélkül, hogy a dolgozót, mint egyént figyelmen kívül hagyná.”</a:t>
          </a:r>
          <a:endParaRPr lang="en-US" dirty="0"/>
        </a:p>
      </dgm:t>
    </dgm:pt>
    <dgm:pt modelId="{1B328F01-A1A9-43E8-834C-4845EA900B52}" type="parTrans" cxnId="{187EF871-48A2-4A6D-8E9A-5696ECC695B2}">
      <dgm:prSet/>
      <dgm:spPr/>
      <dgm:t>
        <a:bodyPr/>
        <a:lstStyle/>
        <a:p>
          <a:endParaRPr lang="en-US"/>
        </a:p>
      </dgm:t>
    </dgm:pt>
    <dgm:pt modelId="{99074F83-FC91-4D4A-99D1-CC7DDCC971A7}" type="sibTrans" cxnId="{187EF871-48A2-4A6D-8E9A-5696ECC695B2}">
      <dgm:prSet/>
      <dgm:spPr/>
      <dgm:t>
        <a:bodyPr/>
        <a:lstStyle/>
        <a:p>
          <a:endParaRPr lang="en-US"/>
        </a:p>
      </dgm:t>
    </dgm:pt>
    <dgm:pt modelId="{48EA405A-B2F7-4AEC-ADE9-50007EEF9239}" type="pres">
      <dgm:prSet presAssocID="{B9A50E89-A8B8-487B-A915-6C35B6A0D17A}" presName="vert0" presStyleCnt="0">
        <dgm:presLayoutVars>
          <dgm:dir/>
          <dgm:animOne val="branch"/>
          <dgm:animLvl val="lvl"/>
        </dgm:presLayoutVars>
      </dgm:prSet>
      <dgm:spPr/>
    </dgm:pt>
    <dgm:pt modelId="{BB18BE56-439D-4871-AD6A-FB312E2B7346}" type="pres">
      <dgm:prSet presAssocID="{345F807B-EB04-4685-A2C7-183575F61E7D}" presName="thickLine" presStyleLbl="alignNode1" presStyleIdx="0" presStyleCnt="3"/>
      <dgm:spPr/>
    </dgm:pt>
    <dgm:pt modelId="{839BAB06-2975-463E-A8B8-40C9EED88A3B}" type="pres">
      <dgm:prSet presAssocID="{345F807B-EB04-4685-A2C7-183575F61E7D}" presName="horz1" presStyleCnt="0"/>
      <dgm:spPr/>
    </dgm:pt>
    <dgm:pt modelId="{7C1F1650-7847-4C3E-97BE-3993A89607AD}" type="pres">
      <dgm:prSet presAssocID="{345F807B-EB04-4685-A2C7-183575F61E7D}" presName="tx1" presStyleLbl="revTx" presStyleIdx="0" presStyleCnt="3"/>
      <dgm:spPr/>
    </dgm:pt>
    <dgm:pt modelId="{C25EFA1F-248F-4361-8962-B44C101F2BFB}" type="pres">
      <dgm:prSet presAssocID="{345F807B-EB04-4685-A2C7-183575F61E7D}" presName="vert1" presStyleCnt="0"/>
      <dgm:spPr/>
    </dgm:pt>
    <dgm:pt modelId="{7B1FA054-E667-4F9D-911E-E2D04BA05B1D}" type="pres">
      <dgm:prSet presAssocID="{FC24DE83-1015-4C34-BA9F-677B0E312476}" presName="thickLine" presStyleLbl="alignNode1" presStyleIdx="1" presStyleCnt="3"/>
      <dgm:spPr/>
    </dgm:pt>
    <dgm:pt modelId="{36E590E8-92E8-439D-A8F2-5DC4990ED343}" type="pres">
      <dgm:prSet presAssocID="{FC24DE83-1015-4C34-BA9F-677B0E312476}" presName="horz1" presStyleCnt="0"/>
      <dgm:spPr/>
    </dgm:pt>
    <dgm:pt modelId="{97E00A25-3387-418E-BCD6-14FC6DF6A3B0}" type="pres">
      <dgm:prSet presAssocID="{FC24DE83-1015-4C34-BA9F-677B0E312476}" presName="tx1" presStyleLbl="revTx" presStyleIdx="1" presStyleCnt="3"/>
      <dgm:spPr/>
    </dgm:pt>
    <dgm:pt modelId="{523469C3-BEC4-46BB-A035-9624C9439F85}" type="pres">
      <dgm:prSet presAssocID="{FC24DE83-1015-4C34-BA9F-677B0E312476}" presName="vert1" presStyleCnt="0"/>
      <dgm:spPr/>
    </dgm:pt>
    <dgm:pt modelId="{91A939FF-1C25-4982-B319-920BF56B29AA}" type="pres">
      <dgm:prSet presAssocID="{F8ECA706-4110-4365-B72F-791117048F01}" presName="thickLine" presStyleLbl="alignNode1" presStyleIdx="2" presStyleCnt="3"/>
      <dgm:spPr/>
    </dgm:pt>
    <dgm:pt modelId="{1C07EA55-3A14-4FAD-84FB-58009B30FE51}" type="pres">
      <dgm:prSet presAssocID="{F8ECA706-4110-4365-B72F-791117048F01}" presName="horz1" presStyleCnt="0"/>
      <dgm:spPr/>
    </dgm:pt>
    <dgm:pt modelId="{F6C76075-6811-4D30-BA08-D10EBF1B101B}" type="pres">
      <dgm:prSet presAssocID="{F8ECA706-4110-4365-B72F-791117048F01}" presName="tx1" presStyleLbl="revTx" presStyleIdx="2" presStyleCnt="3"/>
      <dgm:spPr/>
    </dgm:pt>
    <dgm:pt modelId="{C5BE4590-3EB9-4D12-B761-D3B846F33007}" type="pres">
      <dgm:prSet presAssocID="{F8ECA706-4110-4365-B72F-791117048F01}" presName="vert1" presStyleCnt="0"/>
      <dgm:spPr/>
    </dgm:pt>
  </dgm:ptLst>
  <dgm:cxnLst>
    <dgm:cxn modelId="{7B800103-A61B-4BAD-BDFD-7EB89A805D2C}" type="presOf" srcId="{FC24DE83-1015-4C34-BA9F-677B0E312476}" destId="{97E00A25-3387-418E-BCD6-14FC6DF6A3B0}" srcOrd="0" destOrd="0" presId="urn:microsoft.com/office/officeart/2008/layout/LinedList"/>
    <dgm:cxn modelId="{A9F28B12-25A9-47C7-ACC7-89D12DD5DC59}" srcId="{B9A50E89-A8B8-487B-A915-6C35B6A0D17A}" destId="{345F807B-EB04-4685-A2C7-183575F61E7D}" srcOrd="0" destOrd="0" parTransId="{5A442B1E-6D9E-46E0-AB96-093A206B0BFC}" sibTransId="{D93F4B54-F803-492B-B3C4-14DBE81E8B1F}"/>
    <dgm:cxn modelId="{BEB17C66-9420-413D-A1D0-3E660E62C3C2}" srcId="{B9A50E89-A8B8-487B-A915-6C35B6A0D17A}" destId="{FC24DE83-1015-4C34-BA9F-677B0E312476}" srcOrd="1" destOrd="0" parTransId="{33A5C3C8-7AA4-4222-8061-AF33C647DC5C}" sibTransId="{F928425D-C748-4FEA-8A08-5CD88C40BC70}"/>
    <dgm:cxn modelId="{BBD31E71-F9A8-4850-B7F0-104295CC07EE}" type="presOf" srcId="{345F807B-EB04-4685-A2C7-183575F61E7D}" destId="{7C1F1650-7847-4C3E-97BE-3993A89607AD}" srcOrd="0" destOrd="0" presId="urn:microsoft.com/office/officeart/2008/layout/LinedList"/>
    <dgm:cxn modelId="{187EF871-48A2-4A6D-8E9A-5696ECC695B2}" srcId="{B9A50E89-A8B8-487B-A915-6C35B6A0D17A}" destId="{F8ECA706-4110-4365-B72F-791117048F01}" srcOrd="2" destOrd="0" parTransId="{1B328F01-A1A9-43E8-834C-4845EA900B52}" sibTransId="{99074F83-FC91-4D4A-99D1-CC7DDCC971A7}"/>
    <dgm:cxn modelId="{B329EBC7-1279-434A-80EC-B49F373C28A1}" type="presOf" srcId="{F8ECA706-4110-4365-B72F-791117048F01}" destId="{F6C76075-6811-4D30-BA08-D10EBF1B101B}" srcOrd="0" destOrd="0" presId="urn:microsoft.com/office/officeart/2008/layout/LinedList"/>
    <dgm:cxn modelId="{D7CA16D3-0A51-4635-AE1B-5F1E40805756}" type="presOf" srcId="{B9A50E89-A8B8-487B-A915-6C35B6A0D17A}" destId="{48EA405A-B2F7-4AEC-ADE9-50007EEF9239}" srcOrd="0" destOrd="0" presId="urn:microsoft.com/office/officeart/2008/layout/LinedList"/>
    <dgm:cxn modelId="{595E874C-4F66-4F63-952A-6245869D80AD}" type="presParOf" srcId="{48EA405A-B2F7-4AEC-ADE9-50007EEF9239}" destId="{BB18BE56-439D-4871-AD6A-FB312E2B7346}" srcOrd="0" destOrd="0" presId="urn:microsoft.com/office/officeart/2008/layout/LinedList"/>
    <dgm:cxn modelId="{01864689-B798-4F96-858C-5DD22856902D}" type="presParOf" srcId="{48EA405A-B2F7-4AEC-ADE9-50007EEF9239}" destId="{839BAB06-2975-463E-A8B8-40C9EED88A3B}" srcOrd="1" destOrd="0" presId="urn:microsoft.com/office/officeart/2008/layout/LinedList"/>
    <dgm:cxn modelId="{E825D7C9-7BA3-49FD-A55D-EAD399FBB4C4}" type="presParOf" srcId="{839BAB06-2975-463E-A8B8-40C9EED88A3B}" destId="{7C1F1650-7847-4C3E-97BE-3993A89607AD}" srcOrd="0" destOrd="0" presId="urn:microsoft.com/office/officeart/2008/layout/LinedList"/>
    <dgm:cxn modelId="{FD772751-6511-4108-A927-8692A75B4546}" type="presParOf" srcId="{839BAB06-2975-463E-A8B8-40C9EED88A3B}" destId="{C25EFA1F-248F-4361-8962-B44C101F2BFB}" srcOrd="1" destOrd="0" presId="urn:microsoft.com/office/officeart/2008/layout/LinedList"/>
    <dgm:cxn modelId="{15C92979-CF7F-4996-8F77-76564A3671EF}" type="presParOf" srcId="{48EA405A-B2F7-4AEC-ADE9-50007EEF9239}" destId="{7B1FA054-E667-4F9D-911E-E2D04BA05B1D}" srcOrd="2" destOrd="0" presId="urn:microsoft.com/office/officeart/2008/layout/LinedList"/>
    <dgm:cxn modelId="{0A502BE9-0D04-4D46-97BC-80304EC43649}" type="presParOf" srcId="{48EA405A-B2F7-4AEC-ADE9-50007EEF9239}" destId="{36E590E8-92E8-439D-A8F2-5DC4990ED343}" srcOrd="3" destOrd="0" presId="urn:microsoft.com/office/officeart/2008/layout/LinedList"/>
    <dgm:cxn modelId="{852F0F25-73FF-4823-96F3-C39CA783FB4A}" type="presParOf" srcId="{36E590E8-92E8-439D-A8F2-5DC4990ED343}" destId="{97E00A25-3387-418E-BCD6-14FC6DF6A3B0}" srcOrd="0" destOrd="0" presId="urn:microsoft.com/office/officeart/2008/layout/LinedList"/>
    <dgm:cxn modelId="{3E756E23-EFC5-471B-8468-4400982F19C5}" type="presParOf" srcId="{36E590E8-92E8-439D-A8F2-5DC4990ED343}" destId="{523469C3-BEC4-46BB-A035-9624C9439F85}" srcOrd="1" destOrd="0" presId="urn:microsoft.com/office/officeart/2008/layout/LinedList"/>
    <dgm:cxn modelId="{D5493EE3-6B24-4F82-A6B3-FC59D2D082E4}" type="presParOf" srcId="{48EA405A-B2F7-4AEC-ADE9-50007EEF9239}" destId="{91A939FF-1C25-4982-B319-920BF56B29AA}" srcOrd="4" destOrd="0" presId="urn:microsoft.com/office/officeart/2008/layout/LinedList"/>
    <dgm:cxn modelId="{3F80334B-BA2B-4405-A1A5-7B0E434FCBD5}" type="presParOf" srcId="{48EA405A-B2F7-4AEC-ADE9-50007EEF9239}" destId="{1C07EA55-3A14-4FAD-84FB-58009B30FE51}" srcOrd="5" destOrd="0" presId="urn:microsoft.com/office/officeart/2008/layout/LinedList"/>
    <dgm:cxn modelId="{5238FB76-9060-44EA-9E8B-A84C978A1732}" type="presParOf" srcId="{1C07EA55-3A14-4FAD-84FB-58009B30FE51}" destId="{F6C76075-6811-4D30-BA08-D10EBF1B101B}" srcOrd="0" destOrd="0" presId="urn:microsoft.com/office/officeart/2008/layout/LinedList"/>
    <dgm:cxn modelId="{672D5E20-44B4-4487-9357-5B8F2B62FB01}" type="presParOf" srcId="{1C07EA55-3A14-4FAD-84FB-58009B30FE51}" destId="{C5BE4590-3EB9-4D12-B761-D3B846F330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41D41-2ACA-408C-9FCB-12FF32FD9062}">
      <dsp:nvSpPr>
        <dsp:cNvPr id="0" name=""/>
        <dsp:cNvSpPr/>
      </dsp:nvSpPr>
      <dsp:spPr>
        <a:xfrm>
          <a:off x="0" y="2484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98805-9758-433C-BF54-F4466ADD4B76}">
      <dsp:nvSpPr>
        <dsp:cNvPr id="0" name=""/>
        <dsp:cNvSpPr/>
      </dsp:nvSpPr>
      <dsp:spPr>
        <a:xfrm>
          <a:off x="0" y="2484"/>
          <a:ext cx="7728267" cy="1694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„A vezetők moderátorként funkcionálnak. A csapat kollektív intelligenciájára, szakértelmére és kompetenciáira támaszkodnak.”</a:t>
          </a:r>
          <a:endParaRPr lang="en-US" sz="2400" kern="1200"/>
        </a:p>
      </dsp:txBody>
      <dsp:txXfrm>
        <a:off x="0" y="2484"/>
        <a:ext cx="7728267" cy="1694118"/>
      </dsp:txXfrm>
    </dsp:sp>
    <dsp:sp modelId="{7B8044E1-6D7E-449B-BC90-9D756729A33C}">
      <dsp:nvSpPr>
        <dsp:cNvPr id="0" name=""/>
        <dsp:cNvSpPr/>
      </dsp:nvSpPr>
      <dsp:spPr>
        <a:xfrm>
          <a:off x="0" y="1696602"/>
          <a:ext cx="77282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85C56-DCD5-4002-B6A0-6D86CA9CAA5F}">
      <dsp:nvSpPr>
        <dsp:cNvPr id="0" name=""/>
        <dsp:cNvSpPr/>
      </dsp:nvSpPr>
      <dsp:spPr>
        <a:xfrm>
          <a:off x="0" y="1696602"/>
          <a:ext cx="7728267" cy="1694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„A vezetés nem más, mint csapatom számára keretet, s ezáltal </a:t>
          </a:r>
          <a:r>
            <a:rPr lang="hu-HU" sz="2400" b="1" kern="1200" dirty="0"/>
            <a:t>biztonságot nyújtani, ugyanakkor a csapattagok kibontakozásához kellő szabadságot biztosítani</a:t>
          </a:r>
          <a:r>
            <a:rPr lang="hu-HU" sz="2400" kern="1200" dirty="0"/>
            <a:t>.”</a:t>
          </a:r>
          <a:endParaRPr lang="en-US" sz="2400" kern="1200" dirty="0"/>
        </a:p>
      </dsp:txBody>
      <dsp:txXfrm>
        <a:off x="0" y="1696602"/>
        <a:ext cx="7728267" cy="1694118"/>
      </dsp:txXfrm>
    </dsp:sp>
    <dsp:sp modelId="{DC2CF935-B13D-46E0-A8DC-D59413A11144}">
      <dsp:nvSpPr>
        <dsp:cNvPr id="0" name=""/>
        <dsp:cNvSpPr/>
      </dsp:nvSpPr>
      <dsp:spPr>
        <a:xfrm>
          <a:off x="0" y="3390721"/>
          <a:ext cx="77282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790A1-7921-459B-A292-9F4BBDC87C0F}">
      <dsp:nvSpPr>
        <dsp:cNvPr id="0" name=""/>
        <dsp:cNvSpPr/>
      </dsp:nvSpPr>
      <dsp:spPr>
        <a:xfrm>
          <a:off x="0" y="3390721"/>
          <a:ext cx="7728267" cy="1694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„Hozzájárulni ahhoz, hogy </a:t>
          </a:r>
          <a:r>
            <a:rPr lang="hu-HU" sz="2400" b="1" kern="1200" dirty="0"/>
            <a:t>emberek egy csoportja egyéni képességeit szenvedéllyel és kreativitással értékek teremtésére használja</a:t>
          </a:r>
          <a:r>
            <a:rPr lang="hu-HU" sz="2400" kern="1200" dirty="0"/>
            <a:t>.”</a:t>
          </a:r>
          <a:endParaRPr lang="en-US" sz="2400" kern="1200" dirty="0"/>
        </a:p>
      </dsp:txBody>
      <dsp:txXfrm>
        <a:off x="0" y="3390721"/>
        <a:ext cx="7728267" cy="1694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8BE56-439D-4871-AD6A-FB312E2B7346}">
      <dsp:nvSpPr>
        <dsp:cNvPr id="0" name=""/>
        <dsp:cNvSpPr/>
      </dsp:nvSpPr>
      <dsp:spPr>
        <a:xfrm>
          <a:off x="0" y="2484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F1650-7847-4C3E-97BE-3993A89607AD}">
      <dsp:nvSpPr>
        <dsp:cNvPr id="0" name=""/>
        <dsp:cNvSpPr/>
      </dsp:nvSpPr>
      <dsp:spPr>
        <a:xfrm>
          <a:off x="0" y="2484"/>
          <a:ext cx="7728267" cy="1694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„Tapasztalatból tudjuk, hogy az </a:t>
          </a:r>
          <a:r>
            <a:rPr lang="hu-HU" sz="2400" b="1" kern="1200" dirty="0"/>
            <a:t>önszerveződés folyamata gyakran produktívabb</a:t>
          </a:r>
          <a:r>
            <a:rPr lang="hu-HU" sz="2400" kern="1200" dirty="0"/>
            <a:t>, hatékonyabb és tartósabb, mint az állandó kívülről kontrollált folyamatok.”</a:t>
          </a:r>
          <a:endParaRPr lang="en-US" sz="2400" kern="1200" dirty="0"/>
        </a:p>
      </dsp:txBody>
      <dsp:txXfrm>
        <a:off x="0" y="2484"/>
        <a:ext cx="7728267" cy="1694118"/>
      </dsp:txXfrm>
    </dsp:sp>
    <dsp:sp modelId="{7B1FA054-E667-4F9D-911E-E2D04BA05B1D}">
      <dsp:nvSpPr>
        <dsp:cNvPr id="0" name=""/>
        <dsp:cNvSpPr/>
      </dsp:nvSpPr>
      <dsp:spPr>
        <a:xfrm>
          <a:off x="0" y="1696602"/>
          <a:ext cx="7728267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E00A25-3387-418E-BCD6-14FC6DF6A3B0}">
      <dsp:nvSpPr>
        <dsp:cNvPr id="0" name=""/>
        <dsp:cNvSpPr/>
      </dsp:nvSpPr>
      <dsp:spPr>
        <a:xfrm>
          <a:off x="0" y="1696602"/>
          <a:ext cx="7728267" cy="1694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„Az önszerveződő csapatok vezetői kijelölik a határokat, melyek között a dolgozók szabad mozgásteret kapnak.”</a:t>
          </a:r>
          <a:endParaRPr lang="en-US" sz="2400" kern="1200" dirty="0"/>
        </a:p>
      </dsp:txBody>
      <dsp:txXfrm>
        <a:off x="0" y="1696602"/>
        <a:ext cx="7728267" cy="1694118"/>
      </dsp:txXfrm>
    </dsp:sp>
    <dsp:sp modelId="{91A939FF-1C25-4982-B319-920BF56B29AA}">
      <dsp:nvSpPr>
        <dsp:cNvPr id="0" name=""/>
        <dsp:cNvSpPr/>
      </dsp:nvSpPr>
      <dsp:spPr>
        <a:xfrm>
          <a:off x="0" y="3390721"/>
          <a:ext cx="7728267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76075-6811-4D30-BA08-D10EBF1B101B}">
      <dsp:nvSpPr>
        <dsp:cNvPr id="0" name=""/>
        <dsp:cNvSpPr/>
      </dsp:nvSpPr>
      <dsp:spPr>
        <a:xfrm>
          <a:off x="0" y="3390721"/>
          <a:ext cx="7728267" cy="1694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 dirty="0"/>
            <a:t>„</a:t>
          </a:r>
          <a:r>
            <a:rPr lang="hu-HU" sz="2400" b="1" kern="1200" dirty="0"/>
            <a:t>Az agilis vezetés a csapatot állítja középpontba </a:t>
          </a:r>
          <a:r>
            <a:rPr lang="hu-HU" sz="2400" kern="1200" dirty="0"/>
            <a:t>– kreatív, gyors és felelősségvállaló csapatot – anélkül, hogy a dolgozót, mint egyént figyelmen kívül hagyná.”</a:t>
          </a:r>
          <a:endParaRPr lang="en-US" sz="2400" kern="1200" dirty="0"/>
        </a:p>
      </dsp:txBody>
      <dsp:txXfrm>
        <a:off x="0" y="3390721"/>
        <a:ext cx="7728267" cy="1694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2/28/2023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9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79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ilyese@inf.elte.hu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szt.inf.elte.hu/ilyese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7507-0B83-4B95-95CE-C0229575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57200"/>
            <a:ext cx="8117967" cy="3676650"/>
          </a:xfrm>
        </p:spPr>
        <p:txBody>
          <a:bodyPr>
            <a:normAutofit/>
          </a:bodyPr>
          <a:lstStyle/>
          <a:p>
            <a:br>
              <a:rPr lang="hu-HU" b="1" dirty="0"/>
            </a:br>
            <a:r>
              <a:rPr lang="hu-HU" b="1" dirty="0"/>
              <a:t>Projektirányítás a gyakorlatban </a:t>
            </a:r>
            <a:br>
              <a:rPr lang="hu-HU" b="1" dirty="0"/>
            </a:br>
            <a:r>
              <a:rPr lang="hu-HU" b="1" dirty="0"/>
              <a:t>2023 tavasz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https://www.ilearnerp.com/wp-content/uploads/2016/12/upk-training.jpg">
            <a:extLst>
              <a:ext uri="{FF2B5EF4-FFF2-40B4-BE49-F238E27FC236}">
                <a16:creationId xmlns:a16="http://schemas.microsoft.com/office/drawing/2014/main" id="{55DE7378-C7AF-40AB-A3CD-D243E69CA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50" y="1295400"/>
            <a:ext cx="36576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95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AAE5-B17E-4FE4-9581-AA3B827C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Bemutatkozás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6BEF7-9754-4D3B-915D-849979D33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9483"/>
            <a:ext cx="4416552" cy="3977640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600" dirty="0"/>
              <a:t>Cserép Máté András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600" dirty="0"/>
              <a:t>Ilyés Enikő</a:t>
            </a:r>
          </a:p>
        </p:txBody>
      </p:sp>
    </p:spTree>
    <p:extLst>
      <p:ext uri="{BB962C8B-B14F-4D97-AF65-F5344CB8AC3E}">
        <p14:creationId xmlns:p14="http://schemas.microsoft.com/office/powerpoint/2010/main" val="93372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ML5 Icon">
            <a:extLst>
              <a:ext uri="{FF2B5EF4-FFF2-40B4-BE49-F238E27FC236}">
                <a16:creationId xmlns:a16="http://schemas.microsoft.com/office/drawing/2014/main" id="{DA4DA55F-8C63-48FA-B20D-9F6EFCB8FF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38" y="1380769"/>
            <a:ext cx="1336980" cy="13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F64D8-6969-4E1B-BC24-D19CA004A465}"/>
              </a:ext>
            </a:extLst>
          </p:cNvPr>
          <p:cNvSpPr txBox="1"/>
          <p:nvPr/>
        </p:nvSpPr>
        <p:spPr>
          <a:xfrm>
            <a:off x="693738" y="2926080"/>
            <a:ext cx="107362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Név: Ilyés Enikő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Szerepkör: ELTE IK PhD hallgató (2017-től), Scrum mester teljes állásban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Kutatási téma: Szoftverfejlesztési módszertanok gyakorlatának oktatása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Elérhetőség: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MS Teams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hlinkClick r:id="rId3"/>
              </a:rPr>
              <a:t>ilyese@inf.elte.hu</a:t>
            </a:r>
            <a:r>
              <a:rPr lang="hu-HU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hlinkClick r:id="rId4"/>
              </a:rPr>
              <a:t>https://pszt.inf.elte.hu/ilyese/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F9CF15-50C4-4EB0-BB1A-1044B487C033}"/>
              </a:ext>
            </a:extLst>
          </p:cNvPr>
          <p:cNvSpPr txBox="1"/>
          <p:nvPr/>
        </p:nvSpPr>
        <p:spPr>
          <a:xfrm>
            <a:off x="7105650" y="1600200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rgbClr val="C00000"/>
                </a:solidFill>
              </a:rPr>
              <a:t>Kinek nem volt órája már velem? </a:t>
            </a:r>
            <a:endParaRPr 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1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6F64D8-6969-4E1B-BC24-D19CA004A465}"/>
              </a:ext>
            </a:extLst>
          </p:cNvPr>
          <p:cNvSpPr txBox="1"/>
          <p:nvPr/>
        </p:nvSpPr>
        <p:spPr>
          <a:xfrm>
            <a:off x="727869" y="3429000"/>
            <a:ext cx="107362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Hogyan szólítsunk?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Hogyan kerültél ide?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Milyen előzetese Scrum-os </a:t>
            </a:r>
            <a:r>
              <a:rPr lang="en-US" dirty="0"/>
              <a:t>/</a:t>
            </a:r>
            <a:r>
              <a:rPr lang="hu-HU" dirty="0"/>
              <a:t> </a:t>
            </a:r>
            <a:r>
              <a:rPr lang="en-US" dirty="0" err="1"/>
              <a:t>Agilis</a:t>
            </a:r>
            <a:r>
              <a:rPr lang="en-US" dirty="0"/>
              <a:t> m</a:t>
            </a:r>
            <a:r>
              <a:rPr lang="hu-HU" dirty="0" err="1"/>
              <a:t>ódszertanos</a:t>
            </a:r>
            <a:r>
              <a:rPr lang="hu-HU" dirty="0"/>
              <a:t> / csapatmunkás tudásod, tapasztalatod van?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F9CF15-50C4-4EB0-BB1A-1044B487C033}"/>
              </a:ext>
            </a:extLst>
          </p:cNvPr>
          <p:cNvSpPr txBox="1"/>
          <p:nvPr/>
        </p:nvSpPr>
        <p:spPr>
          <a:xfrm>
            <a:off x="2341144" y="1784865"/>
            <a:ext cx="386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rgbClr val="C00000"/>
                </a:solidFill>
              </a:rPr>
              <a:t>És ti kik vagytok? 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Ikon Emberek Személy - Ingyenes kép a Pixabay-en">
            <a:extLst>
              <a:ext uri="{FF2B5EF4-FFF2-40B4-BE49-F238E27FC236}">
                <a16:creationId xmlns:a16="http://schemas.microsoft.com/office/drawing/2014/main" id="{EEEC6ACF-75E5-4777-BBDD-5D9DC6FE4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73" y="1281566"/>
            <a:ext cx="1375931" cy="137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007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612A-2F5F-44C2-87C2-16959E06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8660892" cy="640080"/>
          </a:xfrm>
        </p:spPr>
        <p:txBody>
          <a:bodyPr>
            <a:normAutofit/>
          </a:bodyPr>
          <a:lstStyle/>
          <a:p>
            <a:r>
              <a:rPr lang="hu-HU" dirty="0"/>
              <a:t>Projektirányítás a gyakorlatban tárgy célja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3170-35A3-4881-B724-EF1EE2299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71" y="1435608"/>
            <a:ext cx="11652504" cy="4841367"/>
          </a:xfrm>
        </p:spPr>
        <p:txBody>
          <a:bodyPr/>
          <a:lstStyle/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hu-HU" sz="2000" i="1" dirty="0"/>
              <a:t>E gyakorlat célja: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hu-HU" sz="2000" dirty="0"/>
              <a:t>Elméleti ismereteket és gyakorlási lehetőséget nyújtani az agilis vezetés témakörben.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hu-HU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hu-HU" sz="2000" dirty="0"/>
              <a:t>Megvalósulási forma: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2000" dirty="0"/>
              <a:t>Mindenki két Szoftvertechnológia gyakorlatos 3-4 fős kicsoportot kísér a félév folyamán agilis vezetéssel.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2000" dirty="0"/>
              <a:t>A félév elején elméleti felkészítővel, később tapasztalatcserés alkalmakkal támogatjuk az agilis vezetőket. </a:t>
            </a:r>
          </a:p>
        </p:txBody>
      </p:sp>
    </p:spTree>
    <p:extLst>
      <p:ext uri="{BB962C8B-B14F-4D97-AF65-F5344CB8AC3E}">
        <p14:creationId xmlns:p14="http://schemas.microsoft.com/office/powerpoint/2010/main" val="390850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612A-2F5F-44C2-87C2-16959E06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337167" cy="640080"/>
          </a:xfrm>
        </p:spPr>
        <p:txBody>
          <a:bodyPr>
            <a:normAutofit/>
          </a:bodyPr>
          <a:lstStyle/>
          <a:p>
            <a:r>
              <a:rPr lang="hu-HU" dirty="0"/>
              <a:t>Számonkérés a Projektirányítás a gyakorlatban tárgy kapcsán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3170-35A3-4881-B724-EF1EE2299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71" y="1435608"/>
            <a:ext cx="11652504" cy="4841367"/>
          </a:xfrm>
        </p:spPr>
        <p:txBody>
          <a:bodyPr>
            <a:normAutofit lnSpcReduction="10000"/>
          </a:bodyPr>
          <a:lstStyle/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hu-HU" sz="2000" i="1" dirty="0"/>
              <a:t>- Elméleti ismeretek az agilis módszertanok működését illetően – Teszt (25%) – </a:t>
            </a:r>
            <a:r>
              <a:rPr lang="hu-HU" sz="2000" i="1" dirty="0">
                <a:solidFill>
                  <a:srgbClr val="C00000"/>
                </a:solidFill>
              </a:rPr>
              <a:t>Harmadik héten!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hu-HU" sz="2000" i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hu-HU" sz="2000" i="1" dirty="0"/>
              <a:t>- Félévközi munka - tervezés, bemutató, visszatekintés minősége, heti megbeszélések, elakadások észlelése és kezelése a csapatban, csapat fejlesztése, minden héten rövid állapotjelentés az észlelt jelenségekről, félév végén pedig összefoglaló elemzés(50%)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hu-HU" sz="2000" i="1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hu-HU" sz="2000" i="1" dirty="0"/>
              <a:t>Vezetett csapatok visszajelzése a vezetőre vonatkozóan – kérdőívek (25%)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hu-HU" sz="2000" i="1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hu-HU" sz="2000" i="1" dirty="0"/>
              <a:t>(! Figyelem: 3 kredit </a:t>
            </a:r>
            <a:r>
              <a:rPr lang="en-US" sz="2000" i="1" dirty="0"/>
              <a:t>= </a:t>
            </a:r>
            <a:r>
              <a:rPr lang="hu-HU" sz="2000" i="1" dirty="0"/>
              <a:t>3 </a:t>
            </a:r>
            <a:r>
              <a:rPr lang="en-US" sz="2000" i="1" dirty="0"/>
              <a:t>x 30 </a:t>
            </a:r>
            <a:r>
              <a:rPr lang="en-US" sz="2000" i="1" dirty="0" err="1"/>
              <a:t>munka</a:t>
            </a:r>
            <a:r>
              <a:rPr lang="hu-HU" sz="2000" i="1" dirty="0"/>
              <a:t>óra! )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701447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7346442" cy="640080"/>
          </a:xfrm>
        </p:spPr>
        <p:txBody>
          <a:bodyPr>
            <a:normAutofit fontScale="90000"/>
          </a:bodyPr>
          <a:lstStyle/>
          <a:p>
            <a:r>
              <a:rPr lang="hu-HU" dirty="0"/>
              <a:t>Projektirányítás a gyakorlatban tárgy féléves terve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10263-6439-413E-B681-C3D5308A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797054"/>
              </p:ext>
            </p:extLst>
          </p:nvPr>
        </p:nvGraphicFramePr>
        <p:xfrm>
          <a:off x="741361" y="1445197"/>
          <a:ext cx="10431463" cy="41915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868">
                  <a:extLst>
                    <a:ext uri="{9D8B030D-6E8A-4147-A177-3AD203B41FA5}">
                      <a16:colId xmlns:a16="http://schemas.microsoft.com/office/drawing/2014/main" val="3507903706"/>
                    </a:ext>
                  </a:extLst>
                </a:gridCol>
                <a:gridCol w="4796921">
                  <a:extLst>
                    <a:ext uri="{9D8B030D-6E8A-4147-A177-3AD203B41FA5}">
                      <a16:colId xmlns:a16="http://schemas.microsoft.com/office/drawing/2014/main" val="2635287149"/>
                    </a:ext>
                  </a:extLst>
                </a:gridCol>
                <a:gridCol w="5049674">
                  <a:extLst>
                    <a:ext uri="{9D8B030D-6E8A-4147-A177-3AD203B41FA5}">
                      <a16:colId xmlns:a16="http://schemas.microsoft.com/office/drawing/2014/main" val="4263562211"/>
                    </a:ext>
                  </a:extLst>
                </a:gridCol>
              </a:tblGrid>
              <a:tr h="325267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Hét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Gyakorlat (kedd. 17:45-19:15)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Órán kívül</a:t>
                      </a:r>
                      <a:endParaRPr lang="en-US" sz="2000" dirty="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59078125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Adminisztráció, elméleti felkészítő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Meghallgatja a kereteket, csapathoz kapcsolódik, csapatot épít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4103535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Első tapasztalatok, elméleti felkészítő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Csapaépítés, Tervezés, 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3353697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1.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1972446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2.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Bemutatón, (ezt követően) </a:t>
                      </a:r>
                      <a:r>
                        <a:rPr lang="hu-HU" sz="1800" i="1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és tervezést vezet 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6018070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1.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3297739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noProof="0" dirty="0">
                          <a:effectLst/>
                        </a:rPr>
                        <a:t>Munkaszüneti nap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71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2.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Bemutatón, (ezt követően) </a:t>
                      </a:r>
                      <a:r>
                        <a:rPr lang="hu-HU" sz="1800" i="1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és tervezést vezet le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01669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04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7413117" cy="640080"/>
          </a:xfrm>
        </p:spPr>
        <p:txBody>
          <a:bodyPr>
            <a:normAutofit fontScale="90000"/>
          </a:bodyPr>
          <a:lstStyle/>
          <a:p>
            <a:r>
              <a:rPr lang="hu-HU" dirty="0"/>
              <a:t>Projektirányítás a gyakorlatban tárgy tematika</a:t>
            </a:r>
            <a:r>
              <a:rPr lang="en-US" dirty="0"/>
              <a:t> 202</a:t>
            </a:r>
            <a:r>
              <a:rPr lang="hu-HU" dirty="0"/>
              <a:t>1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10263-6439-413E-B681-C3D5308A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183486"/>
              </p:ext>
            </p:extLst>
          </p:nvPr>
        </p:nvGraphicFramePr>
        <p:xfrm>
          <a:off x="700721" y="1435037"/>
          <a:ext cx="10431463" cy="33035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868">
                  <a:extLst>
                    <a:ext uri="{9D8B030D-6E8A-4147-A177-3AD203B41FA5}">
                      <a16:colId xmlns:a16="http://schemas.microsoft.com/office/drawing/2014/main" val="3507903706"/>
                    </a:ext>
                  </a:extLst>
                </a:gridCol>
                <a:gridCol w="4796921">
                  <a:extLst>
                    <a:ext uri="{9D8B030D-6E8A-4147-A177-3AD203B41FA5}">
                      <a16:colId xmlns:a16="http://schemas.microsoft.com/office/drawing/2014/main" val="2635287149"/>
                    </a:ext>
                  </a:extLst>
                </a:gridCol>
                <a:gridCol w="5049674">
                  <a:extLst>
                    <a:ext uri="{9D8B030D-6E8A-4147-A177-3AD203B41FA5}">
                      <a16:colId xmlns:a16="http://schemas.microsoft.com/office/drawing/2014/main" val="4263562211"/>
                    </a:ext>
                  </a:extLst>
                </a:gridCol>
              </a:tblGrid>
              <a:tr h="34296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Hét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Előadás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Gyakorlat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9078125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1.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3353697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Csoportos konzultáció 2. alcsoport</a:t>
                      </a:r>
                      <a:endParaRPr kumimoji="0" lang="hu-HU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1972446"/>
                  </a:ext>
                </a:extLst>
              </a:tr>
              <a:tr h="76327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Csoportos konzultáció 1. alcsoport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Bemutatón, (ezt követően) </a:t>
                      </a:r>
                      <a:r>
                        <a:rPr lang="hu-HU" sz="1800" i="1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és tervezést vezet 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6018070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2.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329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Közös konzultáció 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71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Közös lezárás, visszatekintés</a:t>
                      </a:r>
                      <a:endParaRPr lang="en-US" sz="200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Bemutatón, (ezt követően) </a:t>
                      </a:r>
                      <a:r>
                        <a:rPr lang="hu-HU" sz="1800" i="1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vezet 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669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840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0589-9BCD-4E08-8AA0-ADFE24F17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Helyzetfelmérés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8BDD2-6D86-401E-BFBF-EFF85759CD3F}"/>
              </a:ext>
            </a:extLst>
          </p:cNvPr>
          <p:cNvSpPr txBox="1"/>
          <p:nvPr/>
        </p:nvSpPr>
        <p:spPr>
          <a:xfrm>
            <a:off x="521208" y="1790611"/>
            <a:ext cx="95752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/>
              <a:t>Ki volt már ezen a héten Szoftvertechnológia gyakorlaton?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/>
              <a:t>Milyen kommunikációs csatornát építetek ki a csapatokkal?</a:t>
            </a:r>
          </a:p>
          <a:p>
            <a:endParaRPr lang="hu-HU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i="1" dirty="0"/>
          </a:p>
          <a:p>
            <a:endParaRPr lang="hu-HU" sz="1800" i="1" dirty="0"/>
          </a:p>
        </p:txBody>
      </p:sp>
    </p:spTree>
    <p:extLst>
      <p:ext uri="{BB962C8B-B14F-4D97-AF65-F5344CB8AC3E}">
        <p14:creationId xmlns:p14="http://schemas.microsoft.com/office/powerpoint/2010/main" val="334044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612A-2F5F-44C2-87C2-16959E06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7879842" cy="640080"/>
          </a:xfrm>
        </p:spPr>
        <p:txBody>
          <a:bodyPr>
            <a:normAutofit/>
          </a:bodyPr>
          <a:lstStyle/>
          <a:p>
            <a:r>
              <a:rPr lang="hu-HU" dirty="0"/>
              <a:t>Célok a Szoftvertechnológia gyakorlat kapcsán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3170-35A3-4881-B724-EF1EE2299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71" y="1435608"/>
            <a:ext cx="11652504" cy="4841367"/>
          </a:xfrm>
        </p:spPr>
        <p:txBody>
          <a:bodyPr>
            <a:normAutofit fontScale="85000" lnSpcReduction="20000"/>
          </a:bodyPr>
          <a:lstStyle/>
          <a:p>
            <a:r>
              <a:rPr lang="hu-HU" dirty="0"/>
              <a:t>Előzmények: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/>
              <a:t>A hallgatók tanultak már programozást, programozási nyelveket.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dirty="0"/>
              <a:t>A hallgatók készítettek már egyedül kisebb játékot.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hu-HU" sz="2000" i="1" dirty="0"/>
              <a:t>E gyakorlat célja: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hu-HU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hu-HU" sz="2000" dirty="0"/>
              <a:t>Teljes folyamatában lássák a szoftverfejlesztést.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hu-HU" sz="2000" dirty="0"/>
              <a:t>Kipróbálják, hogyan lehet közösen / kis csoportban (3 fő) szoftvert fejleszteni (</a:t>
            </a:r>
            <a:r>
              <a:rPr lang="en-US" sz="2000" dirty="0"/>
              <a:t>m</a:t>
            </a:r>
            <a:r>
              <a:rPr lang="hu-HU" sz="2000" dirty="0" err="1"/>
              <a:t>ódszerek</a:t>
            </a:r>
            <a:r>
              <a:rPr lang="hu-HU" sz="2000" dirty="0"/>
              <a:t>, eszközök)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hu-HU" sz="2000" dirty="0"/>
              <a:t>Nagyobb hangsúly kerüljön a felhasználó / Termékgazda szempontjaira – </a:t>
            </a:r>
            <a:r>
              <a:rPr lang="en-US" sz="2000" dirty="0" err="1"/>
              <a:t>i</a:t>
            </a:r>
            <a:r>
              <a:rPr lang="hu-HU" sz="2000" dirty="0"/>
              <a:t>parorientált nézőpontra</a:t>
            </a:r>
            <a:r>
              <a:rPr lang="en-US" sz="2000" dirty="0"/>
              <a:t>.</a:t>
            </a:r>
            <a:endParaRPr lang="hu-HU" sz="2000" dirty="0"/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hu-HU" sz="2000" dirty="0"/>
              <a:t>Az előadáson elhangzó újdonságok alkalmazásra kerüljenek</a:t>
            </a:r>
            <a:r>
              <a:rPr lang="en-US" sz="2000" dirty="0"/>
              <a:t>.</a:t>
            </a:r>
            <a:endParaRPr lang="hu-HU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hu-HU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hu-HU" sz="2000" dirty="0"/>
              <a:t>Publikáció a 2019-es kivitelezésről: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hu-HU" sz="2000" dirty="0"/>
              <a:t>A Szoftvertechnológia tárgy agilisra vált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hu-HU" sz="2000" dirty="0"/>
              <a:t>https://people.inf.elte.hu/szlavi/InfoDidact19/Manuscripts/IEPBSzRCsM.pdf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97851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Szoftvertechnológia tárgy tematika</a:t>
            </a:r>
            <a:r>
              <a:rPr lang="en-US" dirty="0"/>
              <a:t> 202</a:t>
            </a:r>
            <a:r>
              <a:rPr lang="hu-HU" dirty="0"/>
              <a:t>1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10263-6439-413E-B681-C3D5308A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97964"/>
              </p:ext>
            </p:extLst>
          </p:nvPr>
        </p:nvGraphicFramePr>
        <p:xfrm>
          <a:off x="741361" y="1445197"/>
          <a:ext cx="10431463" cy="50876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868">
                  <a:extLst>
                    <a:ext uri="{9D8B030D-6E8A-4147-A177-3AD203B41FA5}">
                      <a16:colId xmlns:a16="http://schemas.microsoft.com/office/drawing/2014/main" val="3507903706"/>
                    </a:ext>
                  </a:extLst>
                </a:gridCol>
                <a:gridCol w="4796921">
                  <a:extLst>
                    <a:ext uri="{9D8B030D-6E8A-4147-A177-3AD203B41FA5}">
                      <a16:colId xmlns:a16="http://schemas.microsoft.com/office/drawing/2014/main" val="2635287149"/>
                    </a:ext>
                  </a:extLst>
                </a:gridCol>
                <a:gridCol w="5049674">
                  <a:extLst>
                    <a:ext uri="{9D8B030D-6E8A-4147-A177-3AD203B41FA5}">
                      <a16:colId xmlns:a16="http://schemas.microsoft.com/office/drawing/2014/main" val="4263562211"/>
                    </a:ext>
                  </a:extLst>
                </a:gridCol>
              </a:tblGrid>
              <a:tr h="325267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Hét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Előadás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Gyakorlat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59078125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Szoftverf</a:t>
                      </a:r>
                      <a:r>
                        <a:rPr lang="hu-HU" sz="20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ejle</a:t>
                      </a:r>
                      <a:r>
                        <a:rPr lang="hu-HU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sztési folyamat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Feladat ismertetése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834103535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Követelmény specifikáció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163353697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Objektum orientált tervezés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 dirty="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721972446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Objektumorientált tervezési szempontok és minták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Számonkérés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Követelményelemzés és tervezés</a:t>
                      </a:r>
                      <a:endParaRPr lang="en-US" sz="2000">
                        <a:effectLst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(Használati-eset diagram, useCase-ek, osztály diagram, EK diagram (ha van DB))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256018070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Projekt menedzsment eszközök, verziókezelés (Cserép Máté)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533297739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Build </a:t>
                      </a:r>
                      <a:r>
                        <a:rPr lang="en-US" sz="2000" dirty="0" err="1">
                          <a:effectLst/>
                        </a:rPr>
                        <a:t>rendszerek</a:t>
                      </a:r>
                      <a:endParaRPr lang="hu-HU" sz="20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dirty="0">
                          <a:effectLst/>
                        </a:rPr>
                        <a:t>(Cserép Máté)</a:t>
                      </a:r>
                      <a:endParaRPr lang="en-US" sz="200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838712888"/>
                  </a:ext>
                </a:extLst>
              </a:tr>
              <a:tr h="448235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Verifikáció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és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validáció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egységteszt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JUnit-al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/B </a:t>
                      </a:r>
                      <a:r>
                        <a:rPr lang="en-US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szakir</a:t>
                      </a:r>
                      <a:r>
                        <a:rPr lang="hu-HU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ány</a:t>
                      </a:r>
                      <a:r>
                        <a:rPr lang="hu-H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fr-FR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GTest</a:t>
                      </a:r>
                      <a:r>
                        <a:rPr lang="fr-F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QtTest</a:t>
                      </a:r>
                      <a:r>
                        <a:rPr lang="fr-F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NUnit</a:t>
                      </a:r>
                      <a:r>
                        <a:rPr lang="fr-F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és</a:t>
                      </a:r>
                      <a:r>
                        <a:rPr lang="fr-FR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xUnit</a:t>
                      </a:r>
                      <a:endParaRPr lang="fr-FR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Számonkérés</a:t>
                      </a: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Prototípus 1</a:t>
                      </a:r>
                      <a:endParaRPr lang="hu-HU" sz="2000" noProof="0" dirty="0">
                        <a:effectLst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Git</a:t>
                      </a: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használat, a </a:t>
                      </a:r>
                      <a:r>
                        <a:rPr lang="hu-HU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UseCase</a:t>
                      </a: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-ek 30%-a </a:t>
                      </a:r>
                      <a:r>
                        <a:rPr lang="hu-HU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működjön</a:t>
                      </a:r>
                      <a:endParaRPr lang="en-US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01669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86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Tárgy tematika</a:t>
            </a:r>
            <a:r>
              <a:rPr lang="en-US" dirty="0"/>
              <a:t> 202</a:t>
            </a:r>
            <a:r>
              <a:rPr lang="hu-HU" dirty="0"/>
              <a:t>1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10263-6439-413E-B681-C3D5308A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85858"/>
              </p:ext>
            </p:extLst>
          </p:nvPr>
        </p:nvGraphicFramePr>
        <p:xfrm>
          <a:off x="700721" y="1435037"/>
          <a:ext cx="10431463" cy="47524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868">
                  <a:extLst>
                    <a:ext uri="{9D8B030D-6E8A-4147-A177-3AD203B41FA5}">
                      <a16:colId xmlns:a16="http://schemas.microsoft.com/office/drawing/2014/main" val="3507903706"/>
                    </a:ext>
                  </a:extLst>
                </a:gridCol>
                <a:gridCol w="4796921">
                  <a:extLst>
                    <a:ext uri="{9D8B030D-6E8A-4147-A177-3AD203B41FA5}">
                      <a16:colId xmlns:a16="http://schemas.microsoft.com/office/drawing/2014/main" val="2635287149"/>
                    </a:ext>
                  </a:extLst>
                </a:gridCol>
                <a:gridCol w="5049674">
                  <a:extLst>
                    <a:ext uri="{9D8B030D-6E8A-4147-A177-3AD203B41FA5}">
                      <a16:colId xmlns:a16="http://schemas.microsoft.com/office/drawing/2014/main" val="4263562211"/>
                    </a:ext>
                  </a:extLst>
                </a:gridCol>
              </a:tblGrid>
              <a:tr h="34296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Hét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Előadás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Gyakorlat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9078125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integration and delivery </a:t>
                      </a:r>
                      <a:b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(Cserép Máté)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163353697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TDD, Clean Code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721972446"/>
                  </a:ext>
                </a:extLst>
              </a:tr>
              <a:tr h="120904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Szálkezelés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Számonkérés</a:t>
                      </a:r>
                      <a:r>
                        <a:rPr lang="hu-H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Prototípus 2</a:t>
                      </a:r>
                      <a:endParaRPr lang="hu-HU" sz="2000" dirty="0">
                        <a:effectLst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 használat, Unit testek, a </a:t>
                      </a:r>
                      <a:r>
                        <a:rPr lang="hu-HU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UseCase</a:t>
                      </a: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-ek 90%-a </a:t>
                      </a:r>
                      <a:r>
                        <a:rPr lang="hu-HU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működjön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256018070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Tervminták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 dirty="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53329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hu-HU" sz="2000" dirty="0">
                          <a:effectLst/>
                        </a:rPr>
                        <a:t>(Neumann nap)</a:t>
                      </a:r>
                      <a:br>
                        <a:rPr lang="en-US" sz="2000" dirty="0">
                          <a:effectLst/>
                        </a:rPr>
                      </a:br>
                      <a:endParaRPr lang="en-US" sz="200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</a:t>
                      </a:r>
                      <a:endParaRPr lang="en-US" sz="2000" dirty="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83871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Agilis módszertan (Ilyés Enikő)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Számonkérés</a:t>
                      </a:r>
                      <a:r>
                        <a:rPr lang="hu-H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Végleges termék</a:t>
                      </a:r>
                      <a:endParaRPr lang="hu-HU" sz="2000" dirty="0">
                        <a:effectLst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Clean</a:t>
                      </a:r>
                      <a:r>
                        <a:rPr lang="hu-H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hu-H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</a:t>
                      </a:r>
                      <a:r>
                        <a:rPr lang="hu-H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alapos Unit test, minden funkció </a:t>
                      </a:r>
                      <a:r>
                        <a:rPr lang="hu-H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működjön</a:t>
                      </a:r>
                      <a:endParaRPr lang="hu-HU" sz="2000" dirty="0">
                        <a:effectLst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401669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494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90E1E-0405-4E6A-A739-34B87E8B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984867" cy="640080"/>
          </a:xfrm>
        </p:spPr>
        <p:txBody>
          <a:bodyPr>
            <a:normAutofit/>
          </a:bodyPr>
          <a:lstStyle/>
          <a:p>
            <a:r>
              <a:rPr lang="hu-HU" dirty="0"/>
              <a:t>Scrum-szerű módszertan alkalmazása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3FD61-32D2-49CA-BB91-F424DE14D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435607"/>
            <a:ext cx="10852405" cy="4688967"/>
          </a:xfrm>
        </p:spPr>
        <p:txBody>
          <a:bodyPr>
            <a:normAutofit/>
          </a:bodyPr>
          <a:lstStyle/>
          <a:p>
            <a:r>
              <a:rPr lang="hu-HU" sz="1600" i="1" dirty="0"/>
              <a:t>A gyakorlati órákon a gyakorlatvezető 2 szerepkörben lesz jelen.</a:t>
            </a:r>
          </a:p>
          <a:p>
            <a:endParaRPr lang="hu-HU" sz="1600" i="1" dirty="0"/>
          </a:p>
          <a:p>
            <a:pPr marL="285750" indent="-285750">
              <a:buFontTx/>
              <a:buChar char="-"/>
            </a:pPr>
            <a:r>
              <a:rPr lang="hu-HU" sz="1600" i="1" dirty="0">
                <a:solidFill>
                  <a:srgbClr val="FF0000"/>
                </a:solidFill>
              </a:rPr>
              <a:t>Gyakorlatvezető</a:t>
            </a:r>
            <a:r>
              <a:rPr lang="hu-HU" sz="1600" i="1" dirty="0"/>
              <a:t>: </a:t>
            </a:r>
            <a:r>
              <a:rPr lang="hu-HU" sz="1600" dirty="0"/>
              <a:t>Tisztázza a tárgy teljesítésének követelményeit. Esetleg technikai elakadásokban segít.</a:t>
            </a:r>
            <a:endParaRPr lang="hu-HU" sz="1600" i="1" dirty="0"/>
          </a:p>
          <a:p>
            <a:pPr marL="285750" indent="-285750">
              <a:buFontTx/>
              <a:buChar char="-"/>
            </a:pPr>
            <a:r>
              <a:rPr lang="hu-HU" sz="1600" i="1" dirty="0">
                <a:solidFill>
                  <a:srgbClr val="FF0000"/>
                </a:solidFill>
              </a:rPr>
              <a:t>Termékgazda</a:t>
            </a:r>
            <a:r>
              <a:rPr lang="hu-HU" sz="1600" i="1" dirty="0"/>
              <a:t>: </a:t>
            </a:r>
            <a:r>
              <a:rPr lang="hu-HU" sz="1600" dirty="0"/>
              <a:t>Képviseli egy potenciális ügyfél igényeit. (Üzleti szempont!)</a:t>
            </a:r>
          </a:p>
          <a:p>
            <a:pPr marL="285750" indent="-285750">
              <a:buFontTx/>
              <a:buChar char="-"/>
            </a:pPr>
            <a:endParaRPr lang="hu-HU" sz="1600" i="1" dirty="0"/>
          </a:p>
          <a:p>
            <a:r>
              <a:rPr lang="hu-HU" sz="1600" i="1" dirty="0"/>
              <a:t>A Szoftverfejlesztés a gyakorlatban hallgató a következő szerepkörben lesz jelen:</a:t>
            </a:r>
          </a:p>
          <a:p>
            <a:pPr marL="285750" indent="-285750">
              <a:buFontTx/>
              <a:buChar char="-"/>
            </a:pPr>
            <a:r>
              <a:rPr lang="hu-HU" sz="1600" i="1" dirty="0">
                <a:solidFill>
                  <a:srgbClr val="FF0000"/>
                </a:solidFill>
              </a:rPr>
              <a:t>Scrum mester</a:t>
            </a:r>
            <a:r>
              <a:rPr lang="hu-HU" sz="1600" i="1" dirty="0"/>
              <a:t>: </a:t>
            </a:r>
            <a:r>
              <a:rPr lang="hu-HU" sz="1600" dirty="0"/>
              <a:t>Segítséget, lendületet ad a csoport </a:t>
            </a:r>
            <a:r>
              <a:rPr lang="hu-HU" sz="1600" b="1" dirty="0"/>
              <a:t>önállóságának</a:t>
            </a:r>
            <a:r>
              <a:rPr lang="hu-HU" sz="1600" dirty="0"/>
              <a:t> kialakításához.  </a:t>
            </a:r>
            <a:endParaRPr lang="hu-HU" sz="1600" i="1" dirty="0"/>
          </a:p>
          <a:p>
            <a:endParaRPr lang="hu-HU" sz="1600" i="1" dirty="0"/>
          </a:p>
          <a:p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400433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Mikor-mi a Scrum mester hallgató feladata?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E0A172-8636-40E6-ACDC-7B1FDB981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580799"/>
              </p:ext>
            </p:extLst>
          </p:nvPr>
        </p:nvGraphicFramePr>
        <p:xfrm>
          <a:off x="731836" y="1564514"/>
          <a:ext cx="10260012" cy="4156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6300">
                  <a:extLst>
                    <a:ext uri="{9D8B030D-6E8A-4147-A177-3AD203B41FA5}">
                      <a16:colId xmlns:a16="http://schemas.microsoft.com/office/drawing/2014/main" val="2299532932"/>
                    </a:ext>
                  </a:extLst>
                </a:gridCol>
                <a:gridCol w="4706856">
                  <a:extLst>
                    <a:ext uri="{9D8B030D-6E8A-4147-A177-3AD203B41FA5}">
                      <a16:colId xmlns:a16="http://schemas.microsoft.com/office/drawing/2014/main" val="579452131"/>
                    </a:ext>
                  </a:extLst>
                </a:gridCol>
                <a:gridCol w="4706856">
                  <a:extLst>
                    <a:ext uri="{9D8B030D-6E8A-4147-A177-3AD203B41FA5}">
                      <a16:colId xmlns:a16="http://schemas.microsoft.com/office/drawing/2014/main" val="1138961754"/>
                    </a:ext>
                  </a:extLst>
                </a:gridCol>
              </a:tblGrid>
              <a:tr h="33259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Hét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Scrum mester feladata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Gyakorlat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2096700"/>
                  </a:ext>
                </a:extLst>
              </a:tr>
              <a:tr h="58894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Meghallgatja a kereteket, csapathoz kapcsolódik, megkeresik a közös időpontot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</a:rPr>
                        <a:t>Feladat ismertetése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4603838"/>
                  </a:ext>
                </a:extLst>
              </a:tr>
              <a:tr h="58894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Csapaépítés, Tervezés, 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3699455"/>
                  </a:ext>
                </a:extLst>
              </a:tr>
              <a:tr h="58894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603619"/>
                  </a:ext>
                </a:extLst>
              </a:tr>
              <a:tr h="105526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Bemutatón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(ezt követően)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vezet le,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Tervezés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elindulását biztosítja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rtl="0"/>
                      <a:r>
                        <a:rPr lang="hu-HU" sz="1800" b="1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Számonkérés</a:t>
                      </a:r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Követelményelemzés és tervezés</a:t>
                      </a:r>
                    </a:p>
                    <a:p>
                      <a:pPr rtl="0"/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(Használati-eset diagram, </a:t>
                      </a:r>
                      <a:r>
                        <a:rPr lang="hu-HU" sz="18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useCase</a:t>
                      </a:r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-ek, osztály diagram, EK diagram (ha van DB))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1606185"/>
                  </a:ext>
                </a:extLst>
              </a:tr>
              <a:tr h="33259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0645197"/>
                  </a:ext>
                </a:extLst>
              </a:tr>
              <a:tr h="59525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60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hu-HU" sz="18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1583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052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Mikor-mi a Scrum mester hallgató feladat?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10263-6439-413E-B681-C3D5308A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578894"/>
              </p:ext>
            </p:extLst>
          </p:nvPr>
        </p:nvGraphicFramePr>
        <p:xfrm>
          <a:off x="741361" y="1445197"/>
          <a:ext cx="10431463" cy="4897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868">
                  <a:extLst>
                    <a:ext uri="{9D8B030D-6E8A-4147-A177-3AD203B41FA5}">
                      <a16:colId xmlns:a16="http://schemas.microsoft.com/office/drawing/2014/main" val="3507903706"/>
                    </a:ext>
                  </a:extLst>
                </a:gridCol>
                <a:gridCol w="4796921">
                  <a:extLst>
                    <a:ext uri="{9D8B030D-6E8A-4147-A177-3AD203B41FA5}">
                      <a16:colId xmlns:a16="http://schemas.microsoft.com/office/drawing/2014/main" val="2635287149"/>
                    </a:ext>
                  </a:extLst>
                </a:gridCol>
                <a:gridCol w="5049674">
                  <a:extLst>
                    <a:ext uri="{9D8B030D-6E8A-4147-A177-3AD203B41FA5}">
                      <a16:colId xmlns:a16="http://schemas.microsoft.com/office/drawing/2014/main" val="4263562211"/>
                    </a:ext>
                  </a:extLst>
                </a:gridCol>
              </a:tblGrid>
              <a:tr h="325267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Hét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Scrum mester feladata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Gyakorlat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9078125"/>
                  </a:ext>
                </a:extLst>
              </a:tr>
              <a:tr h="43163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7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Bemutatón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(ezt követően)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vezet le,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Tervezés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elindulását biztosítja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rtl="0"/>
                      <a:r>
                        <a:rPr lang="hu-HU" sz="1800" b="1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Számonkérés</a:t>
                      </a:r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Prototípus 1</a:t>
                      </a:r>
                    </a:p>
                    <a:p>
                      <a:pPr rtl="0"/>
                      <a:r>
                        <a:rPr lang="hu-HU" sz="18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használat, a </a:t>
                      </a:r>
                      <a:r>
                        <a:rPr lang="hu-HU" sz="18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UseCase</a:t>
                      </a:r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-ek 30%-a </a:t>
                      </a:r>
                      <a:r>
                        <a:rPr lang="hu-HU" sz="18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működjön</a:t>
                      </a:r>
                      <a:endParaRPr lang="hu-HU" sz="1800" b="0" i="0" u="none" strike="noStrike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4103535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noProof="0" dirty="0">
                          <a:effectLst/>
                        </a:rPr>
                        <a:t>Heti Scrum</a:t>
                      </a:r>
                      <a:endParaRPr lang="hu-HU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3353697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noProof="0">
                          <a:effectLst/>
                        </a:rPr>
                        <a:t>Napi Scrum</a:t>
                      </a:r>
                      <a:endParaRPr lang="hu-HU" sz="18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1972446"/>
                  </a:ext>
                </a:extLst>
              </a:tr>
              <a:tr h="430062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10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Bemutatón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(ezt követően)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vezet le,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Tervezés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elindulását biztosítja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rtl="0"/>
                      <a:r>
                        <a:rPr lang="hu-HU" sz="1800" b="1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Számonkérés</a:t>
                      </a:r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Prototípus 2</a:t>
                      </a:r>
                    </a:p>
                    <a:p>
                      <a:pPr rtl="0"/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 használat, Unit testek, a </a:t>
                      </a:r>
                      <a:r>
                        <a:rPr lang="hu-HU" sz="18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UseCase</a:t>
                      </a:r>
                      <a:r>
                        <a:rPr lang="hu-HU" sz="18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-ek 90%-a </a:t>
                      </a:r>
                      <a:r>
                        <a:rPr lang="hu-HU" sz="18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működjön</a:t>
                      </a:r>
                      <a:endParaRPr lang="hu-HU" sz="1800" b="0" i="0" u="none" strike="noStrike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hu-HU" sz="18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6018070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11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33297739"/>
                  </a:ext>
                </a:extLst>
              </a:tr>
              <a:tr h="48050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12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</a:rPr>
                        <a:t>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8712888"/>
                  </a:ext>
                </a:extLst>
              </a:tr>
              <a:tr h="44823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>
                          <a:effectLst/>
                        </a:rPr>
                        <a:t>13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Bemutatón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(ezt követően) 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vezet le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rtl="0"/>
                      <a:r>
                        <a:rPr lang="hu-HU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Számonkérés</a:t>
                      </a: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Végleges termék</a:t>
                      </a:r>
                    </a:p>
                    <a:p>
                      <a:pPr rtl="0"/>
                      <a:r>
                        <a:rPr lang="hu-HU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</a:t>
                      </a: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r>
                        <a:rPr lang="hu-HU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alapos Unit test, minden funkció </a:t>
                      </a:r>
                      <a:r>
                        <a:rPr lang="hu-HU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működjön</a:t>
                      </a:r>
                      <a:endParaRPr lang="hu-HU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669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06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Szoftvertechnológia gyakorlat értékelésről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B3FC4-43B9-4541-9413-0F17B0A0290F}"/>
              </a:ext>
            </a:extLst>
          </p:cNvPr>
          <p:cNvSpPr/>
          <p:nvPr/>
        </p:nvSpPr>
        <p:spPr>
          <a:xfrm>
            <a:off x="521208" y="1473200"/>
            <a:ext cx="11355832" cy="3226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000000"/>
                </a:solidFill>
                <a:latin typeface="Vodafone Lt"/>
              </a:rPr>
              <a:t>A számonkérés a 4., 7., 10., 13. gyakorlati órákon lenne. A megadott szempontoknak erre az órára teljesülnie kell, </a:t>
            </a:r>
            <a:r>
              <a:rPr lang="hu-HU" b="1" dirty="0" err="1">
                <a:solidFill>
                  <a:srgbClr val="000000"/>
                </a:solidFill>
                <a:latin typeface="Vodafone Lt"/>
              </a:rPr>
              <a:t>Git</a:t>
            </a:r>
            <a:r>
              <a:rPr lang="hu-HU" b="1" dirty="0">
                <a:solidFill>
                  <a:srgbClr val="000000"/>
                </a:solidFill>
                <a:latin typeface="Vodafone Lt"/>
              </a:rPr>
              <a:t>-    be is fel kell legyen töltve.</a:t>
            </a:r>
            <a:r>
              <a:rPr lang="hu-HU" dirty="0">
                <a:solidFill>
                  <a:srgbClr val="000000"/>
                </a:solidFill>
                <a:latin typeface="Vodafone Lt"/>
              </a:rPr>
              <a:t> 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000000"/>
                </a:solidFill>
                <a:latin typeface="Vodafone Lt"/>
              </a:rPr>
              <a:t>Minden számonkérés </a:t>
            </a:r>
            <a:r>
              <a:rPr lang="hu-HU" dirty="0">
                <a:solidFill>
                  <a:srgbClr val="000000"/>
                </a:solidFill>
                <a:latin typeface="Vodafone Lt"/>
              </a:rPr>
              <a:t>során kapott részpontszám </a:t>
            </a:r>
            <a:r>
              <a:rPr lang="hu-HU" b="1" dirty="0">
                <a:solidFill>
                  <a:srgbClr val="000000"/>
                </a:solidFill>
                <a:latin typeface="Vodafone Lt"/>
              </a:rPr>
              <a:t>ugyanolyan súllyal</a:t>
            </a:r>
            <a:r>
              <a:rPr lang="hu-HU" dirty="0">
                <a:solidFill>
                  <a:srgbClr val="000000"/>
                </a:solidFill>
                <a:latin typeface="Vodafone Lt"/>
              </a:rPr>
              <a:t> számít bele a végső érékelésbe.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000000"/>
                </a:solidFill>
                <a:latin typeface="Vodafone Lt"/>
              </a:rPr>
              <a:t>Minden számokérési ponton minden hallgató kap értékelést és ez el kell érjen egy minimum pontszámot. (pl. a klasszikus ötös értékelési skálánkon minimum 2-esnek kell lennie). (Tehát </a:t>
            </a:r>
            <a:r>
              <a:rPr lang="hu-HU" b="1" dirty="0">
                <a:solidFill>
                  <a:srgbClr val="000000"/>
                </a:solidFill>
                <a:latin typeface="Vodafone Lt"/>
              </a:rPr>
              <a:t>nem lehet olyan, hogy valaki egyik munkaszakaszhoz nem járul hozzá</a:t>
            </a:r>
            <a:r>
              <a:rPr lang="hu-HU" dirty="0">
                <a:solidFill>
                  <a:srgbClr val="000000"/>
                </a:solidFill>
                <a:latin typeface="Vodafone Lt"/>
              </a:rPr>
              <a:t>.)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000000"/>
                </a:solidFill>
                <a:latin typeface="Vodafone Lt"/>
              </a:rPr>
              <a:t>Az egyes személyek értékelése során figyeljünk arra is, hogy mi van a GIT-ben. 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rgbClr val="000000"/>
                </a:solidFill>
                <a:latin typeface="Vodafone Lt"/>
              </a:rPr>
              <a:t> A félév végén, teszt formájában </a:t>
            </a:r>
            <a:r>
              <a:rPr lang="hu-HU" b="1" dirty="0">
                <a:solidFill>
                  <a:srgbClr val="000000"/>
                </a:solidFill>
                <a:latin typeface="Vodafone Lt"/>
              </a:rPr>
              <a:t>lesz elméleti számonkérés is (teljesítette</a:t>
            </a:r>
            <a:r>
              <a:rPr lang="en-US" b="1" dirty="0">
                <a:solidFill>
                  <a:srgbClr val="000000"/>
                </a:solidFill>
                <a:latin typeface="Vodafone Lt"/>
              </a:rPr>
              <a:t>/</a:t>
            </a:r>
            <a:r>
              <a:rPr lang="hu-HU" b="1" dirty="0">
                <a:solidFill>
                  <a:srgbClr val="000000"/>
                </a:solidFill>
                <a:latin typeface="Vodafone Lt"/>
              </a:rPr>
              <a:t>nem teljesítette)</a:t>
            </a:r>
            <a:endParaRPr lang="hu-HU" dirty="0">
              <a:solidFill>
                <a:srgbClr val="000000"/>
              </a:solidFill>
              <a:latin typeface="Vodafone 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81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38726-B04F-4E04-82CE-B69771C0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435608"/>
            <a:ext cx="5994654" cy="3977640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hu-HU" sz="2000" dirty="0"/>
              <a:t>Sok sikert!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u-HU" sz="2000" dirty="0"/>
              <a:t>Forduljatok hozzánk bizalommal! </a:t>
            </a:r>
            <a:r>
              <a:rPr lang="hu-HU" sz="2000" dirty="0">
                <a:sym typeface="Wingdings" panose="05000000000000000000" pitchFamily="2" charset="2"/>
              </a:rPr>
              <a:t>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u-HU" sz="2000" dirty="0">
                <a:sym typeface="Wingdings" panose="05000000000000000000" pitchFamily="2" charset="2"/>
              </a:rPr>
              <a:t>Használjuk a közös csatornákat! 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994529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F6AF-022C-43F1-9195-C7AD3D00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Agilis vezetés – elméleti anyag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122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0000-65CC-4422-9B4E-557929DD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19" y="1399809"/>
            <a:ext cx="2947482" cy="4601183"/>
          </a:xfrm>
        </p:spPr>
        <p:txBody>
          <a:bodyPr>
            <a:normAutofit/>
          </a:bodyPr>
          <a:lstStyle/>
          <a:p>
            <a:r>
              <a:rPr lang="hu-HU" dirty="0"/>
              <a:t>Agilis vezetés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E7851A7-53F9-4C69-BD6E-FE61C81E39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83039"/>
              </p:ext>
            </p:extLst>
          </p:nvPr>
        </p:nvGraphicFramePr>
        <p:xfrm>
          <a:off x="3759896" y="1466484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3AC8EA5-0400-4209-8F6D-FCC0DEADB1E0}"/>
              </a:ext>
            </a:extLst>
          </p:cNvPr>
          <p:cNvSpPr/>
          <p:nvPr/>
        </p:nvSpPr>
        <p:spPr>
          <a:xfrm>
            <a:off x="8664836" y="307906"/>
            <a:ext cx="327491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hu-HU" dirty="0"/>
              <a:t>Forrás: Agilis és sikeres vezetés</a:t>
            </a:r>
          </a:p>
          <a:p>
            <a:r>
              <a:rPr lang="hu-HU" dirty="0"/>
              <a:t>Katrin </a:t>
            </a:r>
            <a:r>
              <a:rPr lang="hu-HU" dirty="0" err="1"/>
              <a:t>Gresser</a:t>
            </a:r>
            <a:r>
              <a:rPr lang="hu-HU" dirty="0"/>
              <a:t>, </a:t>
            </a:r>
            <a:r>
              <a:rPr lang="hu-HU" dirty="0" err="1"/>
              <a:t>Renate</a:t>
            </a:r>
            <a:r>
              <a:rPr lang="hu-HU" dirty="0"/>
              <a:t> </a:t>
            </a:r>
            <a:r>
              <a:rPr lang="hu-HU" dirty="0" err="1"/>
              <a:t>Freisler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82928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0000-65CC-4422-9B4E-557929DD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87" y="1057162"/>
            <a:ext cx="2947482" cy="4601183"/>
          </a:xfrm>
        </p:spPr>
        <p:txBody>
          <a:bodyPr>
            <a:normAutofit/>
          </a:bodyPr>
          <a:lstStyle/>
          <a:p>
            <a:r>
              <a:rPr lang="hu-HU" dirty="0"/>
              <a:t>Agilis vezetés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5C25B0-B093-44F2-B067-5D20FE9BC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243235"/>
              </p:ext>
            </p:extLst>
          </p:nvPr>
        </p:nvGraphicFramePr>
        <p:xfrm>
          <a:off x="3778946" y="13807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6219D23-F707-4B96-A459-311BC9A6A198}"/>
              </a:ext>
            </a:extLst>
          </p:cNvPr>
          <p:cNvSpPr/>
          <p:nvPr/>
        </p:nvSpPr>
        <p:spPr>
          <a:xfrm>
            <a:off x="8664836" y="307906"/>
            <a:ext cx="327491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hu-HU" dirty="0"/>
              <a:t>Forrás: Agilis és sikeres vezetés</a:t>
            </a:r>
          </a:p>
          <a:p>
            <a:r>
              <a:rPr lang="hu-HU" dirty="0"/>
              <a:t>Katrin </a:t>
            </a:r>
            <a:r>
              <a:rPr lang="hu-HU" dirty="0" err="1"/>
              <a:t>Gresser</a:t>
            </a:r>
            <a:r>
              <a:rPr lang="hu-HU" dirty="0"/>
              <a:t>, </a:t>
            </a:r>
            <a:r>
              <a:rPr lang="hu-HU" dirty="0" err="1"/>
              <a:t>Renate</a:t>
            </a:r>
            <a:r>
              <a:rPr lang="hu-HU" dirty="0"/>
              <a:t> </a:t>
            </a:r>
            <a:r>
              <a:rPr lang="hu-HU" dirty="0" err="1"/>
              <a:t>Freisler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97224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FCC061-DE89-4003-8883-5C0C68B04C5A}"/>
              </a:ext>
            </a:extLst>
          </p:cNvPr>
          <p:cNvSpPr txBox="1"/>
          <p:nvPr/>
        </p:nvSpPr>
        <p:spPr>
          <a:xfrm>
            <a:off x="620111" y="1734208"/>
            <a:ext cx="107415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hu-HU" dirty="0"/>
              <a:t>Átláthatóság: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 kialakuló folyamat átlátható kell legyen mind a munkát elvégző, mind az azt fogadó felek számára.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i="1" dirty="0"/>
              <a:t>Azok a munkaanyagok, amelyek nem átláthatóak, olyan döntésekhez vezethetnek, amelyek értékcsökkentőek és kockázatnövelők.</a:t>
            </a:r>
          </a:p>
          <a:p>
            <a:pPr lvl="1"/>
            <a:endParaRPr lang="hu-HU" i="1" dirty="0"/>
          </a:p>
          <a:p>
            <a:pPr marL="342900" indent="-342900">
              <a:buAutoNum type="arabicPeriod"/>
            </a:pPr>
            <a:r>
              <a:rPr lang="hu-HU" dirty="0"/>
              <a:t>Megfigyelés: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 haladást a megállapodott célok irányában rendszeresen és gondosan felül kell vizsgálnunk, hogy felfedezhessük a nem kívánt lehetséges eltéréseket és problémákat. </a:t>
            </a:r>
          </a:p>
          <a:p>
            <a:pPr lvl="1"/>
            <a:endParaRPr lang="hu-HU" dirty="0"/>
          </a:p>
          <a:p>
            <a:pPr marL="342900" indent="-342900">
              <a:buAutoNum type="arabicPeriod"/>
            </a:pPr>
            <a:r>
              <a:rPr lang="hu-HU" dirty="0"/>
              <a:t>Alkalmazkodás: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Amennyiben bármilyen szempontból, egy folyamat az elfogadható határokon kívülre kerül vagy a végtermék nem megfelelő, akkor a követett folyamaton vagy a kidolgozás alatt lévő anyagon módosítani kell.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A további eltérések minimalizálása érdekében a módosítást mihamarabb el kell végezni.  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BB8AA-E2CA-40FD-A793-3F63E6F5D4AE}"/>
              </a:ext>
            </a:extLst>
          </p:cNvPr>
          <p:cNvSpPr txBox="1"/>
          <p:nvPr/>
        </p:nvSpPr>
        <p:spPr>
          <a:xfrm>
            <a:off x="620111" y="5773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+mj-lt"/>
                <a:ea typeface="+mj-ea"/>
                <a:cs typeface="+mj-cs"/>
              </a:rPr>
              <a:t>Scrum elméleti alapjai</a:t>
            </a:r>
            <a:endParaRPr lang="en-US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826DB3-53FC-413F-A05A-0ADC1C689143}"/>
              </a:ext>
            </a:extLst>
          </p:cNvPr>
          <p:cNvSpPr/>
          <p:nvPr/>
        </p:nvSpPr>
        <p:spPr>
          <a:xfrm>
            <a:off x="9903373" y="5968848"/>
            <a:ext cx="201535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hu-HU" dirty="0"/>
              <a:t>Forrás: </a:t>
            </a:r>
          </a:p>
          <a:p>
            <a:r>
              <a:rPr lang="hu-HU" dirty="0"/>
              <a:t>Scrum </a:t>
            </a:r>
            <a:r>
              <a:rPr lang="hu-HU" dirty="0" err="1"/>
              <a:t>guide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77940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B1526D-DDFF-4501-8D7A-CCCADC51E1D7}"/>
              </a:ext>
            </a:extLst>
          </p:cNvPr>
          <p:cNvSpPr txBox="1"/>
          <p:nvPr/>
        </p:nvSpPr>
        <p:spPr>
          <a:xfrm>
            <a:off x="1537138" y="938242"/>
            <a:ext cx="6172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Scrum Team</a:t>
            </a:r>
            <a:endParaRPr lang="hu-HU" i="1" dirty="0">
              <a:solidFill>
                <a:srgbClr val="C00000"/>
              </a:solidFill>
            </a:endParaRPr>
          </a:p>
          <a:p>
            <a:r>
              <a:rPr lang="en-US" dirty="0" err="1"/>
              <a:t>Developerek</a:t>
            </a:r>
            <a:endParaRPr lang="hu-HU" dirty="0"/>
          </a:p>
          <a:p>
            <a:r>
              <a:rPr lang="en-US" dirty="0"/>
              <a:t>Product Owner</a:t>
            </a:r>
            <a:endParaRPr lang="hu-HU" dirty="0"/>
          </a:p>
          <a:p>
            <a:r>
              <a:rPr lang="en-US" dirty="0"/>
              <a:t>Scrum Master </a:t>
            </a:r>
            <a:endParaRPr lang="hu-HU" dirty="0"/>
          </a:p>
          <a:p>
            <a:endParaRPr lang="hu-HU" dirty="0"/>
          </a:p>
          <a:p>
            <a:r>
              <a:rPr lang="en-US" i="1" dirty="0">
                <a:solidFill>
                  <a:srgbClr val="C00000"/>
                </a:solidFill>
              </a:rPr>
              <a:t>Scrum </a:t>
            </a:r>
            <a:r>
              <a:rPr lang="en-US" i="1" dirty="0" err="1">
                <a:solidFill>
                  <a:srgbClr val="C00000"/>
                </a:solidFill>
              </a:rPr>
              <a:t>események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endParaRPr lang="hu-HU" i="1" dirty="0">
              <a:solidFill>
                <a:srgbClr val="C00000"/>
              </a:solidFill>
            </a:endParaRPr>
          </a:p>
          <a:p>
            <a:r>
              <a:rPr lang="en-US" dirty="0"/>
              <a:t>A Sprint </a:t>
            </a:r>
            <a:endParaRPr lang="hu-HU" dirty="0"/>
          </a:p>
          <a:p>
            <a:r>
              <a:rPr lang="en-US" dirty="0"/>
              <a:t>Sprint Planning </a:t>
            </a:r>
            <a:endParaRPr lang="hu-HU" dirty="0"/>
          </a:p>
          <a:p>
            <a:r>
              <a:rPr lang="en-US" dirty="0"/>
              <a:t>Daily Scrum </a:t>
            </a:r>
            <a:endParaRPr lang="hu-HU" dirty="0"/>
          </a:p>
          <a:p>
            <a:r>
              <a:rPr lang="en-US" dirty="0"/>
              <a:t>Sprint Review</a:t>
            </a:r>
            <a:endParaRPr lang="hu-HU" dirty="0"/>
          </a:p>
          <a:p>
            <a:r>
              <a:rPr lang="en-US" dirty="0"/>
              <a:t>Sprint Retrospective </a:t>
            </a:r>
            <a:endParaRPr lang="hu-HU" dirty="0"/>
          </a:p>
          <a:p>
            <a:endParaRPr lang="hu-HU" dirty="0"/>
          </a:p>
          <a:p>
            <a:r>
              <a:rPr lang="en-US" i="1" dirty="0">
                <a:solidFill>
                  <a:srgbClr val="C00000"/>
                </a:solidFill>
              </a:rPr>
              <a:t>Scrum </a:t>
            </a:r>
            <a:r>
              <a:rPr lang="en-US" i="1" dirty="0" err="1">
                <a:solidFill>
                  <a:srgbClr val="C00000"/>
                </a:solidFill>
              </a:rPr>
              <a:t>munkaanyagok</a:t>
            </a:r>
            <a:endParaRPr lang="hu-HU" i="1" dirty="0">
              <a:solidFill>
                <a:srgbClr val="C00000"/>
              </a:solidFill>
            </a:endParaRPr>
          </a:p>
          <a:p>
            <a:r>
              <a:rPr lang="en-US" dirty="0"/>
              <a:t>Product Backlog</a:t>
            </a:r>
            <a:endParaRPr lang="hu-HU" dirty="0"/>
          </a:p>
          <a:p>
            <a:r>
              <a:rPr lang="en-US" dirty="0"/>
              <a:t>Sprint Backlog</a:t>
            </a:r>
            <a:endParaRPr lang="hu-HU" dirty="0"/>
          </a:p>
          <a:p>
            <a:r>
              <a:rPr lang="en-US" dirty="0" err="1"/>
              <a:t>Inkrementum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ACBE7-43C0-4A44-BC69-FF9BCD56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1" y="1219200"/>
            <a:ext cx="5872723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64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6061-8C08-48F2-9CAD-1F312441A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394317" cy="640080"/>
          </a:xfrm>
        </p:spPr>
        <p:txBody>
          <a:bodyPr>
            <a:normAutofit/>
          </a:bodyPr>
          <a:lstStyle/>
          <a:p>
            <a:r>
              <a:rPr lang="hu-HU" dirty="0"/>
              <a:t>Scrum módszertan - Termékgazda - Gyakorlatvezető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7B949-E98C-44EF-B070-7D7D6A769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435608"/>
            <a:ext cx="9023605" cy="4755642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Az </a:t>
            </a:r>
            <a:r>
              <a:rPr lang="hu-HU" sz="1600" b="1" kern="0" dirty="0">
                <a:latin typeface="Vodafone Lt" pitchFamily="34" charset="0"/>
              </a:rPr>
              <a:t>ügyfél hangját </a:t>
            </a:r>
            <a:r>
              <a:rPr lang="hu-HU" sz="1600" kern="0" dirty="0">
                <a:latin typeface="Vodafone Lt" pitchFamily="34" charset="0"/>
              </a:rPr>
              <a:t>képviseli.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A „mit” kérdésével foglalkozik, és nem a „hogyan”-</a:t>
            </a:r>
            <a:r>
              <a:rPr lang="hu-HU" sz="1600" kern="0" dirty="0" err="1">
                <a:latin typeface="Vodafone Lt" pitchFamily="34" charset="0"/>
              </a:rPr>
              <a:t>nal</a:t>
            </a:r>
            <a:r>
              <a:rPr lang="hu-HU" sz="1600" kern="0" dirty="0">
                <a:latin typeface="Vodafone Lt" pitchFamily="34" charset="0"/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Meghatározza a kibocsátási dátumokat és azok tartalmát.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Biztosítja, hogy a Scrum csapat üzleti szempontból hasznos dolgokon dolgozik.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Priorizálja az igényeket üzleti értékük szerint, illetve szükség esetén futamonként módosítja azt.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Elfogadja vagy visszautasítja a futam eredményeit.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1600" i="1" kern="0" dirty="0">
              <a:latin typeface="Vodafone Lt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7129A-82C5-4F4C-AB6E-CE3ED63A2C0C}"/>
              </a:ext>
            </a:extLst>
          </p:cNvPr>
          <p:cNvSpPr txBox="1"/>
          <p:nvPr/>
        </p:nvSpPr>
        <p:spPr>
          <a:xfrm>
            <a:off x="7720012" y="4022979"/>
            <a:ext cx="3686175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0000"/>
              <a:defRPr/>
            </a:pPr>
            <a:r>
              <a:rPr lang="hu-HU" i="1" kern="0" dirty="0">
                <a:solidFill>
                  <a:schemeClr val="accent1"/>
                </a:solidFill>
                <a:latin typeface="Vodafone Lt" pitchFamily="34" charset="0"/>
              </a:rPr>
              <a:t>A jó termékgazda tulajdonságai: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hu-HU" kern="0" dirty="0">
                <a:solidFill>
                  <a:schemeClr val="accent1"/>
                </a:solidFill>
                <a:latin typeface="Vodafone Lt" pitchFamily="34" charset="0"/>
              </a:rPr>
              <a:t>Kommunikatív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hu-HU" kern="0" dirty="0">
                <a:solidFill>
                  <a:schemeClr val="accent1"/>
                </a:solidFill>
                <a:latin typeface="Vodafone Lt" pitchFamily="34" charset="0"/>
              </a:rPr>
              <a:t>Döntésképes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hu-HU" kern="0" dirty="0">
                <a:solidFill>
                  <a:schemeClr val="accent1"/>
                </a:solidFill>
                <a:latin typeface="Vodafone Lt" pitchFamily="34" charset="0"/>
              </a:rPr>
              <a:t>Felhatalmazással  rendelkező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hu-HU" kern="0" dirty="0">
                <a:solidFill>
                  <a:schemeClr val="accent1"/>
                </a:solidFill>
                <a:latin typeface="Vodafone Lt" pitchFamily="34" charset="0"/>
              </a:rPr>
              <a:t>Vezető típus, akit elfogad a csapat</a:t>
            </a:r>
          </a:p>
        </p:txBody>
      </p:sp>
    </p:spTree>
    <p:extLst>
      <p:ext uri="{BB962C8B-B14F-4D97-AF65-F5344CB8AC3E}">
        <p14:creationId xmlns:p14="http://schemas.microsoft.com/office/powerpoint/2010/main" val="3966810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1148-1A1B-4E1F-BE99-C288B09D0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7603617" cy="640080"/>
          </a:xfrm>
        </p:spPr>
        <p:txBody>
          <a:bodyPr>
            <a:normAutofit fontScale="90000"/>
          </a:bodyPr>
          <a:lstStyle/>
          <a:p>
            <a:r>
              <a:rPr lang="hu-HU" dirty="0"/>
              <a:t>Scrum módszertan - Scrum mester – </a:t>
            </a:r>
            <a:r>
              <a:rPr lang="hu-HU" dirty="0" err="1"/>
              <a:t>Msc</a:t>
            </a:r>
            <a:r>
              <a:rPr lang="hu-HU" dirty="0"/>
              <a:t>.-s hallgató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2F6B-446F-456A-8BE6-B7EDC3BE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435608"/>
            <a:ext cx="10347579" cy="4527042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A </a:t>
            </a:r>
            <a:r>
              <a:rPr lang="hu-HU" sz="1600" b="1" kern="0" dirty="0">
                <a:latin typeface="Vodafone Lt" pitchFamily="34" charset="0"/>
              </a:rPr>
              <a:t>folyamatokért</a:t>
            </a:r>
            <a:r>
              <a:rPr lang="hu-HU" sz="1600" kern="0" dirty="0">
                <a:latin typeface="Vodafone Lt" pitchFamily="34" charset="0"/>
              </a:rPr>
              <a:t> felelős.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Tréner.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Felelős a Scrum értékek és gyakorlatok meghatározásáért.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A napi Scrum résztvevője.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Biztosítja a csapat termelékenységét.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>
                <a:latin typeface="Vodafone Lt" pitchFamily="34" charset="0"/>
              </a:rPr>
              <a:t>A csapat szolgáló vezetője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8D845-0756-419F-874C-63CAC62F9551}"/>
              </a:ext>
            </a:extLst>
          </p:cNvPr>
          <p:cNvSpPr txBox="1"/>
          <p:nvPr/>
        </p:nvSpPr>
        <p:spPr>
          <a:xfrm>
            <a:off x="7720012" y="4022979"/>
            <a:ext cx="3686175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0000"/>
              <a:defRPr/>
            </a:pPr>
            <a:r>
              <a:rPr lang="hu-HU" i="1" kern="0" dirty="0">
                <a:solidFill>
                  <a:schemeClr val="accent1"/>
                </a:solidFill>
              </a:rPr>
              <a:t>A jó Scrum mester tulajdonságai: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>
                <a:solidFill>
                  <a:schemeClr val="accent1"/>
                </a:solidFill>
              </a:rPr>
              <a:t>Együttműködő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>
                <a:solidFill>
                  <a:schemeClr val="accent1"/>
                </a:solidFill>
              </a:rPr>
              <a:t>Elkötelezett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>
                <a:solidFill>
                  <a:schemeClr val="accent1"/>
                </a:solidFill>
              </a:rPr>
              <a:t>Befolyásolási képességgel rendelkező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>
                <a:solidFill>
                  <a:schemeClr val="accent1"/>
                </a:solidFill>
              </a:rPr>
              <a:t>Értelmes, jól informált</a:t>
            </a:r>
          </a:p>
        </p:txBody>
      </p:sp>
    </p:spTree>
    <p:extLst>
      <p:ext uri="{BB962C8B-B14F-4D97-AF65-F5344CB8AC3E}">
        <p14:creationId xmlns:p14="http://schemas.microsoft.com/office/powerpoint/2010/main" val="1026211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Scrum módszertan - Fejlesztők – Szoftvertechnológiás hallgatók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530E-17BF-4A86-AC58-81CB9086D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A8A17-4BC7-48CA-8809-6EF639A755E2}"/>
              </a:ext>
            </a:extLst>
          </p:cNvPr>
          <p:cNvSpPr txBox="1"/>
          <p:nvPr/>
        </p:nvSpPr>
        <p:spPr>
          <a:xfrm>
            <a:off x="691896" y="1913662"/>
            <a:ext cx="11195304" cy="263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A tényleges munkát végzi.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Tipikusan 3-9 fős csapat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A  csapattagok határozzák meg a munka menetét és kiosztását, a csapat önszerveződő. Ideális esetben nincsenek címek, rangok. 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Univerzális csapatok (tervező, programozó, tesztelő, stb.). Legjobb, ha mindenki képes átvenni másik munkáját.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A csapat összetétele csak futamok között változik.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A Scrum mester és a Termékgazda nem tagja.</a:t>
            </a:r>
          </a:p>
        </p:txBody>
      </p:sp>
    </p:spTree>
    <p:extLst>
      <p:ext uri="{BB962C8B-B14F-4D97-AF65-F5344CB8AC3E}">
        <p14:creationId xmlns:p14="http://schemas.microsoft.com/office/powerpoint/2010/main" val="1401229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Eset 1.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530E-17BF-4A86-AC58-81CB9086D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A872F-9656-4E51-9406-183928327B81}"/>
              </a:ext>
            </a:extLst>
          </p:cNvPr>
          <p:cNvSpPr txBox="1"/>
          <p:nvPr/>
        </p:nvSpPr>
        <p:spPr>
          <a:xfrm>
            <a:off x="642257" y="1578820"/>
            <a:ext cx="980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csapat azt mondja, nem tudják pontosan, hogyan képzelte el a Termékgazda az alkalmazást.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B519D-C5FB-483C-88A8-23A7A41F5AF5}"/>
              </a:ext>
            </a:extLst>
          </p:cNvPr>
          <p:cNvSpPr txBox="1"/>
          <p:nvPr/>
        </p:nvSpPr>
        <p:spPr>
          <a:xfrm>
            <a:off x="521208" y="2237426"/>
            <a:ext cx="11239868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Te Scrum mesterként megkérded a Termékgazdát, hogy mit is szeretne, majd elmondod a csapatnak. </a:t>
            </a:r>
            <a:endParaRPr lang="hu-HU" sz="1800" kern="0" dirty="0"/>
          </a:p>
        </p:txBody>
      </p:sp>
    </p:spTree>
    <p:extLst>
      <p:ext uri="{BB962C8B-B14F-4D97-AF65-F5344CB8AC3E}">
        <p14:creationId xmlns:p14="http://schemas.microsoft.com/office/powerpoint/2010/main" val="179065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Eset 2.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530E-17BF-4A86-AC58-81CB9086D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A872F-9656-4E51-9406-183928327B81}"/>
              </a:ext>
            </a:extLst>
          </p:cNvPr>
          <p:cNvSpPr txBox="1"/>
          <p:nvPr/>
        </p:nvSpPr>
        <p:spPr>
          <a:xfrm>
            <a:off x="642257" y="1578820"/>
            <a:ext cx="1052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csapat jelzi, hogy nem értenek a verziókezeléshez, azt sem tudják, hogyan kellene nekiállni.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2C342-0B6C-4AFB-99F7-B06D6DEE6FD9}"/>
              </a:ext>
            </a:extLst>
          </p:cNvPr>
          <p:cNvSpPr txBox="1"/>
          <p:nvPr/>
        </p:nvSpPr>
        <p:spPr>
          <a:xfrm>
            <a:off x="521208" y="2237426"/>
            <a:ext cx="11239868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Beállítod a lehető legjobban a verziókezelőt, majd adsz egy sablon arra nézve, hogyan kell használják.</a:t>
            </a:r>
            <a:endParaRPr lang="hu-HU" sz="1800" kern="0" dirty="0"/>
          </a:p>
        </p:txBody>
      </p:sp>
    </p:spTree>
    <p:extLst>
      <p:ext uri="{BB962C8B-B14F-4D97-AF65-F5344CB8AC3E}">
        <p14:creationId xmlns:p14="http://schemas.microsoft.com/office/powerpoint/2010/main" val="30451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Eset 3.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530E-17BF-4A86-AC58-81CB9086D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A872F-9656-4E51-9406-183928327B81}"/>
              </a:ext>
            </a:extLst>
          </p:cNvPr>
          <p:cNvSpPr txBox="1"/>
          <p:nvPr/>
        </p:nvSpPr>
        <p:spPr>
          <a:xfrm>
            <a:off x="539496" y="1524392"/>
            <a:ext cx="1052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csapat jelzi, hogy nehezükre esik elosztani a munkát, ráadásul egyik tag nem is dolgozik.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A6E94-D951-4740-8FD3-764AFBCAF8D9}"/>
              </a:ext>
            </a:extLst>
          </p:cNvPr>
          <p:cNvSpPr txBox="1"/>
          <p:nvPr/>
        </p:nvSpPr>
        <p:spPr>
          <a:xfrm>
            <a:off x="521208" y="2237426"/>
            <a:ext cx="11239868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Pontosan kiosztod mindenkinek a munkát és annak, aki eddig nem dolgozz, több munkát osztasz. </a:t>
            </a:r>
            <a:endParaRPr lang="hu-HU" sz="1800" kern="0" dirty="0"/>
          </a:p>
        </p:txBody>
      </p:sp>
    </p:spTree>
    <p:extLst>
      <p:ext uri="{BB962C8B-B14F-4D97-AF65-F5344CB8AC3E}">
        <p14:creationId xmlns:p14="http://schemas.microsoft.com/office/powerpoint/2010/main" val="28861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Eset 4.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A872F-9656-4E51-9406-183928327B81}"/>
              </a:ext>
            </a:extLst>
          </p:cNvPr>
          <p:cNvSpPr txBox="1"/>
          <p:nvPr/>
        </p:nvSpPr>
        <p:spPr>
          <a:xfrm>
            <a:off x="539496" y="1524392"/>
            <a:ext cx="1052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Egyik csapattag nincs jelen a megbeszélésen.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22550-A592-4EC7-8DC5-520A37A08D12}"/>
              </a:ext>
            </a:extLst>
          </p:cNvPr>
          <p:cNvSpPr txBox="1"/>
          <p:nvPr/>
        </p:nvSpPr>
        <p:spPr>
          <a:xfrm>
            <a:off x="521208" y="2237426"/>
            <a:ext cx="11239868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Nem törődsz vele, majd következő alkalomra biztosan jön. Csak akkor aggódsz, ha már 3 hete eltűnt. </a:t>
            </a:r>
            <a:endParaRPr lang="hu-HU" sz="1800" kern="0" dirty="0"/>
          </a:p>
        </p:txBody>
      </p:sp>
    </p:spTree>
    <p:extLst>
      <p:ext uri="{BB962C8B-B14F-4D97-AF65-F5344CB8AC3E}">
        <p14:creationId xmlns:p14="http://schemas.microsoft.com/office/powerpoint/2010/main" val="45637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Kérdések fontossága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3DB590-33B3-4AB7-804D-2A2758AA2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363483"/>
            <a:ext cx="7358649" cy="5099304"/>
          </a:xfrm>
          <a:prstGeom prst="rect">
            <a:avLst/>
          </a:prstGeom>
          <a:solidFill>
            <a:srgbClr val="FF9B45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DFF4E2-F813-48F8-8CAE-16D3B9EEE53B}"/>
              </a:ext>
            </a:extLst>
          </p:cNvPr>
          <p:cNvSpPr/>
          <p:nvPr/>
        </p:nvSpPr>
        <p:spPr>
          <a:xfrm>
            <a:off x="9917562" y="5209615"/>
            <a:ext cx="2015358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hu-HU" dirty="0"/>
              <a:t>Forrás: </a:t>
            </a:r>
          </a:p>
          <a:p>
            <a:r>
              <a:rPr lang="hu-HU" dirty="0" err="1"/>
              <a:t>ProMan</a:t>
            </a:r>
            <a:r>
              <a:rPr lang="hu-HU" dirty="0"/>
              <a:t> Consulting – SM képzés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27E98-F41B-40B0-8892-1D75A1A1C4DF}"/>
              </a:ext>
            </a:extLst>
          </p:cNvPr>
          <p:cNvSpPr txBox="1"/>
          <p:nvPr/>
        </p:nvSpPr>
        <p:spPr>
          <a:xfrm>
            <a:off x="5302545" y="3535920"/>
            <a:ext cx="873458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hu-HU" dirty="0"/>
              <a:t>Miért?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8F9E8-0D6B-4A49-B6D3-863E2CAE7622}"/>
              </a:ext>
            </a:extLst>
          </p:cNvPr>
          <p:cNvSpPr txBox="1"/>
          <p:nvPr/>
        </p:nvSpPr>
        <p:spPr>
          <a:xfrm>
            <a:off x="5152146" y="4075253"/>
            <a:ext cx="1174256" cy="369332"/>
          </a:xfrm>
          <a:prstGeom prst="rect">
            <a:avLst/>
          </a:prstGeom>
          <a:solidFill>
            <a:srgbClr val="FF9B45"/>
          </a:solidFill>
        </p:spPr>
        <p:txBody>
          <a:bodyPr wrap="square" rtlCol="0">
            <a:spAutoFit/>
          </a:bodyPr>
          <a:lstStyle/>
          <a:p>
            <a:r>
              <a:rPr lang="hu-HU" dirty="0"/>
              <a:t>Hogyan?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605B4B-6825-456C-BF32-62218FEF5CDF}"/>
              </a:ext>
            </a:extLst>
          </p:cNvPr>
          <p:cNvSpPr txBox="1"/>
          <p:nvPr/>
        </p:nvSpPr>
        <p:spPr>
          <a:xfrm>
            <a:off x="5027048" y="4614586"/>
            <a:ext cx="1415793" cy="378697"/>
          </a:xfrm>
          <a:prstGeom prst="rect">
            <a:avLst/>
          </a:prstGeom>
          <a:solidFill>
            <a:srgbClr val="FF9B45"/>
          </a:solidFill>
        </p:spPr>
        <p:txBody>
          <a:bodyPr wrap="square" rtlCol="0">
            <a:spAutoFit/>
          </a:bodyPr>
          <a:lstStyle/>
          <a:p>
            <a:r>
              <a:rPr lang="hu-HU" dirty="0"/>
              <a:t>Mi? Milyen?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930A7B-D216-4940-9DBB-64DFE9366EEA}"/>
              </a:ext>
            </a:extLst>
          </p:cNvPr>
          <p:cNvSpPr txBox="1"/>
          <p:nvPr/>
        </p:nvSpPr>
        <p:spPr>
          <a:xfrm>
            <a:off x="4657296" y="5209615"/>
            <a:ext cx="2155296" cy="369332"/>
          </a:xfrm>
          <a:prstGeom prst="rect">
            <a:avLst/>
          </a:prstGeom>
          <a:solidFill>
            <a:srgbClr val="FF9B45"/>
          </a:solidFill>
        </p:spPr>
        <p:txBody>
          <a:bodyPr wrap="square" rtlCol="0">
            <a:spAutoFit/>
          </a:bodyPr>
          <a:lstStyle/>
          <a:p>
            <a:r>
              <a:rPr lang="hu-HU" dirty="0"/>
              <a:t>Ki? Mikor? Merre?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D4F729-BD23-4C0B-85B5-8A30B01A7746}"/>
              </a:ext>
            </a:extLst>
          </p:cNvPr>
          <p:cNvSpPr txBox="1"/>
          <p:nvPr/>
        </p:nvSpPr>
        <p:spPr>
          <a:xfrm>
            <a:off x="4137129" y="5809779"/>
            <a:ext cx="3174387" cy="369332"/>
          </a:xfrm>
          <a:prstGeom prst="rect">
            <a:avLst/>
          </a:prstGeom>
          <a:solidFill>
            <a:srgbClr val="FF9B45"/>
          </a:solidFill>
        </p:spPr>
        <p:txBody>
          <a:bodyPr wrap="square" rtlCol="0">
            <a:spAutoFit/>
          </a:bodyPr>
          <a:lstStyle/>
          <a:p>
            <a:r>
              <a:rPr lang="hu-HU" dirty="0"/>
              <a:t>Melyik? Eldöntendő kérdések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2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91BC4-3850-4BC8-BB3F-CA1DE150A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18" y="0"/>
            <a:ext cx="1017076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FA08A1-1D18-4D98-AE92-F6D24EFF32A8}"/>
              </a:ext>
            </a:extLst>
          </p:cNvPr>
          <p:cNvSpPr/>
          <p:nvPr/>
        </p:nvSpPr>
        <p:spPr>
          <a:xfrm>
            <a:off x="10176642" y="5442478"/>
            <a:ext cx="2015358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hu-HU" dirty="0"/>
              <a:t>Forrás: </a:t>
            </a:r>
          </a:p>
          <a:p>
            <a:r>
              <a:rPr lang="hu-HU" dirty="0" err="1"/>
              <a:t>ProMan</a:t>
            </a:r>
            <a:r>
              <a:rPr lang="hu-HU" dirty="0"/>
              <a:t> Consulting – SM képzés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2F008-87BA-47BC-B5C6-F1FC3F701F11}"/>
              </a:ext>
            </a:extLst>
          </p:cNvPr>
          <p:cNvSpPr/>
          <p:nvPr/>
        </p:nvSpPr>
        <p:spPr>
          <a:xfrm>
            <a:off x="925286" y="4985657"/>
            <a:ext cx="2579914" cy="1872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38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8C10-9C5E-44CE-9AB7-7B8B6AC4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9831482" cy="640080"/>
          </a:xfrm>
        </p:spPr>
        <p:txBody>
          <a:bodyPr>
            <a:normAutofit/>
          </a:bodyPr>
          <a:lstStyle/>
          <a:p>
            <a:r>
              <a:rPr lang="hu-HU" dirty="0"/>
              <a:t>Megfelelő vezetői hozzáállás – nem agilis, de segítő modell lehet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329D-7182-466D-A616-0A50E212E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713" y="1578430"/>
            <a:ext cx="7492802" cy="4364480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1. </a:t>
            </a:r>
            <a:r>
              <a:rPr lang="hu-HU" sz="1600" dirty="0"/>
              <a:t>Rendelkező vezetői magatartás:</a:t>
            </a:r>
          </a:p>
          <a:p>
            <a:pPr marL="628650" lvl="1" indent="-171450"/>
            <a:r>
              <a:rPr lang="hu-HU" sz="1600" dirty="0"/>
              <a:t>nem megfelelő képesség, megfelelő hajlandóság esetén</a:t>
            </a:r>
          </a:p>
          <a:p>
            <a:pPr marL="628650" lvl="1" indent="-171450"/>
            <a:r>
              <a:rPr lang="hu-HU" sz="1600" dirty="0"/>
              <a:t>világos követelmények, standardok, átlátható munkafolyamatok, szoros kontroll</a:t>
            </a:r>
          </a:p>
          <a:p>
            <a:r>
              <a:rPr lang="hu-HU" sz="1600" dirty="0"/>
              <a:t>2. „Megmagyarázó” vezetői magatartás: </a:t>
            </a:r>
          </a:p>
          <a:p>
            <a:pPr marL="628650" lvl="1" indent="-171450"/>
            <a:r>
              <a:rPr lang="hu-HU" sz="1600" dirty="0"/>
              <a:t>nem megfelelő képesség, nem megfelelő hajlandóság esetén</a:t>
            </a:r>
          </a:p>
          <a:p>
            <a:pPr marL="628650" lvl="1" indent="-171450"/>
            <a:r>
              <a:rPr lang="hu-HU" sz="1600" dirty="0"/>
              <a:t>„Mit miért teszünk?”</a:t>
            </a:r>
          </a:p>
          <a:p>
            <a:pPr marL="628650" lvl="1" indent="-171450"/>
            <a:r>
              <a:rPr lang="hu-HU" sz="1600" dirty="0"/>
              <a:t>több dialógus, több személyes odafigyelés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F38F1-D729-4CA5-9419-FD31088C2181}"/>
              </a:ext>
            </a:extLst>
          </p:cNvPr>
          <p:cNvSpPr/>
          <p:nvPr/>
        </p:nvSpPr>
        <p:spPr>
          <a:xfrm>
            <a:off x="9318172" y="5606142"/>
            <a:ext cx="2873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1091461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8C10-9C5E-44CE-9AB7-7B8B6AC4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744364" cy="640080"/>
          </a:xfrm>
        </p:spPr>
        <p:txBody>
          <a:bodyPr>
            <a:normAutofit/>
          </a:bodyPr>
          <a:lstStyle/>
          <a:p>
            <a:r>
              <a:rPr lang="hu-HU" dirty="0"/>
              <a:t>Megfelelő vezetői hozzáállás - nem agilis, de segítő modell lehet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329D-7182-466D-A616-0A50E212E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256" y="1394500"/>
            <a:ext cx="7100916" cy="3852415"/>
          </a:xfrm>
        </p:spPr>
        <p:txBody>
          <a:bodyPr>
            <a:noAutofit/>
          </a:bodyPr>
          <a:lstStyle/>
          <a:p>
            <a:r>
              <a:rPr lang="en-US" sz="1600" dirty="0"/>
              <a:t>3. </a:t>
            </a:r>
            <a:r>
              <a:rPr lang="hu-HU" sz="1500" dirty="0"/>
              <a:t>Részvételt elősegítő (</a:t>
            </a:r>
            <a:r>
              <a:rPr lang="hu-HU" sz="1500" dirty="0" err="1"/>
              <a:t>participatív</a:t>
            </a:r>
            <a:r>
              <a:rPr lang="hu-HU" sz="1500" dirty="0"/>
              <a:t>) vezetői magatartás:</a:t>
            </a:r>
          </a:p>
          <a:p>
            <a:pPr marL="628650" lvl="1" indent="-171450"/>
            <a:r>
              <a:rPr lang="hu-HU" sz="1500" dirty="0"/>
              <a:t>megfelelő képesség, nem megfelelő hajlandóság esetén (pl. fáradt dolgozó)</a:t>
            </a:r>
          </a:p>
          <a:p>
            <a:pPr marL="628650" lvl="1" indent="-171450"/>
            <a:r>
              <a:rPr lang="hu-HU" sz="1500" dirty="0"/>
              <a:t>okok feltárása, megértő beszélgetés, segítés</a:t>
            </a:r>
          </a:p>
          <a:p>
            <a:pPr marL="628650" lvl="1" indent="-171450"/>
            <a:r>
              <a:rPr lang="hu-HU" sz="1500" dirty="0"/>
              <a:t>többirányú kommunikáció, kölcsönös érzelmi támogatás</a:t>
            </a:r>
          </a:p>
          <a:p>
            <a:r>
              <a:rPr lang="hu-HU" sz="1500" dirty="0"/>
              <a:t>4. Felhatalmazó (delegáló) vezetői magatartás:</a:t>
            </a:r>
          </a:p>
          <a:p>
            <a:pPr marL="628650" lvl="1" indent="-171450"/>
            <a:r>
              <a:rPr lang="hu-HU" sz="1500" dirty="0"/>
              <a:t>megfelelő képesség, megfelelő hajlandóság esetén</a:t>
            </a:r>
          </a:p>
          <a:p>
            <a:pPr marL="628650" lvl="1" indent="-171450"/>
            <a:r>
              <a:rPr lang="hu-HU" sz="1500" dirty="0"/>
              <a:t>a vezető megfigyelő, méri és értékeli az eredményeket, keretek biztosít, döntési jogkört átad, a „hogyan”-t rábízza a munkatársra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4457D6-063C-4CDA-9B86-BD411BE847EC}"/>
              </a:ext>
            </a:extLst>
          </p:cNvPr>
          <p:cNvSpPr/>
          <p:nvPr/>
        </p:nvSpPr>
        <p:spPr>
          <a:xfrm>
            <a:off x="9318172" y="5606142"/>
            <a:ext cx="2873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52108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106498-9D87-4A84-8AEC-919A85E97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90600"/>
            <a:ext cx="8077200" cy="5049958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2C9E09E-7063-4467-B3C0-6E83045274B8}"/>
              </a:ext>
            </a:extLst>
          </p:cNvPr>
          <p:cNvSpPr txBox="1">
            <a:spLocks noChangeArrowheads="1"/>
          </p:cNvSpPr>
          <p:nvPr/>
        </p:nvSpPr>
        <p:spPr>
          <a:xfrm>
            <a:off x="790575" y="295275"/>
            <a:ext cx="87630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Scrum értékek – az iránytű</a:t>
            </a:r>
            <a:endParaRPr lang="en-US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52004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Jégtörő játékok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A872F-9656-4E51-9406-183928327B81}"/>
              </a:ext>
            </a:extLst>
          </p:cNvPr>
          <p:cNvSpPr txBox="1"/>
          <p:nvPr/>
        </p:nvSpPr>
        <p:spPr>
          <a:xfrm>
            <a:off x="539496" y="1524392"/>
            <a:ext cx="105264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Keressetek három olyan hobbit, melyet minden csapattag magáénak vall.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Készítsen a csapat magának logót nagyon rövid idő alatt (pl. </a:t>
            </a:r>
            <a:r>
              <a:rPr lang="hu-HU" dirty="0" err="1"/>
              <a:t>max</a:t>
            </a:r>
            <a:r>
              <a:rPr lang="hu-HU" dirty="0"/>
              <a:t> 5 perc).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Mindenki mondjon magáról 3 állítást, kettő legyen igaz, egy hamis. A többiek feladata kitalálni, hogy melyik volt a hamis. </a:t>
            </a:r>
          </a:p>
          <a:p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Szólánc: Körbe megy a szólánc, amilyen betűvel végződik az egyik személy szava, azzal kell </a:t>
            </a:r>
            <a:r>
              <a:rPr lang="hu-HU" dirty="0" err="1"/>
              <a:t>kezdődjön</a:t>
            </a:r>
            <a:r>
              <a:rPr lang="hu-HU" dirty="0"/>
              <a:t> a következőé (megjelölhető témakör is – pl. programozó</a:t>
            </a:r>
            <a:r>
              <a:rPr lang="en-US" dirty="0"/>
              <a:t>; </a:t>
            </a:r>
            <a:r>
              <a:rPr lang="en-US" dirty="0" err="1"/>
              <a:t>adhatunk</a:t>
            </a:r>
            <a:r>
              <a:rPr lang="en-US" dirty="0"/>
              <a:t> id</a:t>
            </a:r>
            <a:r>
              <a:rPr lang="hu-HU" dirty="0" err="1"/>
              <a:t>őlimitet</a:t>
            </a:r>
            <a:r>
              <a:rPr lang="hu-H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Számolj: körbe megy a számolás, minden x-el (pl. 7-tel) osztható számot nem szabad kimondani, mert akkor „robban” és elölről kell kezdeni a számolást. Helyette valamilyen más szót kell mondani (pl. bamm)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3736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_Win32_new.potx" id="{95F22252-1276-4CE0-B5B2-7173AC23E7C1}" vid="{5251F4FC-9BFF-4FAA-9D53-CA33255737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5005</TotalTime>
  <Words>2128</Words>
  <Application>Microsoft Office PowerPoint</Application>
  <PresentationFormat>Widescreen</PresentationFormat>
  <Paragraphs>368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Courier New</vt:lpstr>
      <vt:lpstr>Segoe UI</vt:lpstr>
      <vt:lpstr>Segoe UI Light</vt:lpstr>
      <vt:lpstr>Vodafone Lt</vt:lpstr>
      <vt:lpstr>Wingdings</vt:lpstr>
      <vt:lpstr>WelcomeDoc</vt:lpstr>
      <vt:lpstr> Projektirányítás a gyakorlatban  2023 tavasz </vt:lpstr>
      <vt:lpstr>Bemutatkozás</vt:lpstr>
      <vt:lpstr>PowerPoint Presentation</vt:lpstr>
      <vt:lpstr>PowerPoint Presentation</vt:lpstr>
      <vt:lpstr>Projektirányítás a gyakorlatban tárgy célja</vt:lpstr>
      <vt:lpstr>Számonkérés a Projektirányítás a gyakorlatban tárgy kapcsán</vt:lpstr>
      <vt:lpstr>Projektirányítás a gyakorlatban tárgy féléves terve</vt:lpstr>
      <vt:lpstr>Projektirányítás a gyakorlatban tárgy tematika 2021</vt:lpstr>
      <vt:lpstr>Helyzetfelmérés</vt:lpstr>
      <vt:lpstr>Célok a Szoftvertechnológia gyakorlat kapcsán</vt:lpstr>
      <vt:lpstr>Szoftvertechnológia tárgy tematika 2021</vt:lpstr>
      <vt:lpstr>Tárgy tematika 2021</vt:lpstr>
      <vt:lpstr>Scrum-szerű módszertan alkalmazása</vt:lpstr>
      <vt:lpstr>Mikor-mi a Scrum mester hallgató feladata?</vt:lpstr>
      <vt:lpstr>Mikor-mi a Scrum mester hallgató feladat?</vt:lpstr>
      <vt:lpstr>A Szoftvertechnológia gyakorlat értékelésről</vt:lpstr>
      <vt:lpstr>PowerPoint Presentation</vt:lpstr>
      <vt:lpstr>Agilis vezetés – elméleti anyag</vt:lpstr>
      <vt:lpstr>Agilis vezetés</vt:lpstr>
      <vt:lpstr>Agilis vezetés</vt:lpstr>
      <vt:lpstr>PowerPoint Presentation</vt:lpstr>
      <vt:lpstr>PowerPoint Presentation</vt:lpstr>
      <vt:lpstr>Scrum módszertan - Termékgazda - Gyakorlatvezető</vt:lpstr>
      <vt:lpstr>Scrum módszertan - Scrum mester – Msc.-s hallgató</vt:lpstr>
      <vt:lpstr>Scrum módszertan - Fejlesztők – Szoftvertechnológiás hallgatók</vt:lpstr>
      <vt:lpstr>Eset 1.</vt:lpstr>
      <vt:lpstr>Eset 2.</vt:lpstr>
      <vt:lpstr>Eset 3.</vt:lpstr>
      <vt:lpstr>Eset 4.</vt:lpstr>
      <vt:lpstr>Kérdések fontossága</vt:lpstr>
      <vt:lpstr>PowerPoint Presentation</vt:lpstr>
      <vt:lpstr>Megfelelő vezetői hozzáállás – nem agilis, de segítő modell lehet</vt:lpstr>
      <vt:lpstr>Megfelelő vezetői hozzáállás - nem agilis, de segítő modell lehet</vt:lpstr>
      <vt:lpstr>PowerPoint Presentation</vt:lpstr>
      <vt:lpstr>Jégtörő játékok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Programozási technológia 2. / Szoftvertechnológia  2018/2019 tavasz</dc:title>
  <dc:creator>Eniko Ilyes</dc:creator>
  <cp:keywords/>
  <cp:lastModifiedBy>Eniko Ilyes</cp:lastModifiedBy>
  <cp:revision>115</cp:revision>
  <dcterms:created xsi:type="dcterms:W3CDTF">2019-01-30T10:23:56Z</dcterms:created>
  <dcterms:modified xsi:type="dcterms:W3CDTF">2023-02-28T20:48:24Z</dcterms:modified>
  <cp:version/>
</cp:coreProperties>
</file>