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80" r:id="rId3"/>
    <p:sldId id="468" r:id="rId4"/>
    <p:sldId id="463" r:id="rId5"/>
    <p:sldId id="464" r:id="rId6"/>
    <p:sldId id="413" r:id="rId7"/>
    <p:sldId id="265" r:id="rId8"/>
    <p:sldId id="433" r:id="rId9"/>
    <p:sldId id="298" r:id="rId10"/>
    <p:sldId id="274" r:id="rId11"/>
    <p:sldId id="471" r:id="rId12"/>
    <p:sldId id="472" r:id="rId13"/>
    <p:sldId id="306" r:id="rId14"/>
    <p:sldId id="336" r:id="rId15"/>
    <p:sldId id="337" r:id="rId16"/>
    <p:sldId id="338" r:id="rId17"/>
    <p:sldId id="341" r:id="rId18"/>
    <p:sldId id="260" r:id="rId19"/>
    <p:sldId id="436" r:id="rId20"/>
    <p:sldId id="416" r:id="rId21"/>
    <p:sldId id="345" r:id="rId22"/>
    <p:sldId id="352" r:id="rId23"/>
    <p:sldId id="364" r:id="rId24"/>
    <p:sldId id="474" r:id="rId25"/>
    <p:sldId id="373" r:id="rId26"/>
    <p:sldId id="277" r:id="rId27"/>
    <p:sldId id="470" r:id="rId28"/>
    <p:sldId id="47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80"/>
            <p14:sldId id="468"/>
            <p14:sldId id="463"/>
            <p14:sldId id="464"/>
            <p14:sldId id="413"/>
            <p14:sldId id="265"/>
            <p14:sldId id="433"/>
            <p14:sldId id="298"/>
            <p14:sldId id="274"/>
            <p14:sldId id="471"/>
            <p14:sldId id="472"/>
            <p14:sldId id="306"/>
            <p14:sldId id="336"/>
            <p14:sldId id="337"/>
            <p14:sldId id="338"/>
            <p14:sldId id="341"/>
            <p14:sldId id="260"/>
            <p14:sldId id="436"/>
            <p14:sldId id="416"/>
            <p14:sldId id="345"/>
            <p14:sldId id="352"/>
            <p14:sldId id="364"/>
            <p14:sldId id="474"/>
            <p14:sldId id="373"/>
            <p14:sldId id="277"/>
            <p14:sldId id="470"/>
            <p14:sldId id="473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Eniko Ilyes" initials="EI" lastIdx="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45"/>
    <a:srgbClr val="D24726"/>
    <a:srgbClr val="404040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4214" autoAdjust="0"/>
  </p:normalViewPr>
  <p:slideViewPr>
    <p:cSldViewPr snapToGrid="0">
      <p:cViewPr varScale="1">
        <p:scale>
          <a:sx n="67" d="100"/>
          <a:sy n="67" d="100"/>
        </p:scale>
        <p:origin x="672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278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1-02-18T15:24:00.446" idx="4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>
            <a:extLst>
              <a:ext uri="{FF2B5EF4-FFF2-40B4-BE49-F238E27FC236}">
                <a16:creationId xmlns:a16="http://schemas.microsoft.com/office/drawing/2014/main" id="{ADC9C41B-A59B-4E96-8C64-5E1909F2D9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7" name="Notes Placeholder 2">
            <a:extLst>
              <a:ext uri="{FF2B5EF4-FFF2-40B4-BE49-F238E27FC236}">
                <a16:creationId xmlns:a16="http://schemas.microsoft.com/office/drawing/2014/main" id="{5A9B903E-FE7F-47A5-B715-FF0885EC6D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hu-HU" altLang="hu-HU"/>
              <a:t>3. alkalom</a:t>
            </a:r>
          </a:p>
        </p:txBody>
      </p:sp>
      <p:sp>
        <p:nvSpPr>
          <p:cNvPr id="149508" name="Slide Number Placeholder 3">
            <a:extLst>
              <a:ext uri="{FF2B5EF4-FFF2-40B4-BE49-F238E27FC236}">
                <a16:creationId xmlns:a16="http://schemas.microsoft.com/office/drawing/2014/main" id="{E3A6AEA0-862C-456D-802B-A75BA2FBC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0884E3A-838D-4C2B-B8A8-54FA0A2A1FE7}" type="slidenum">
              <a:rPr lang="en-US" altLang="hu-HU"/>
              <a:pPr eaLnBrk="1" hangingPunct="1"/>
              <a:t>9</a:t>
            </a:fld>
            <a:endParaRPr lang="en-US" altLang="hu-H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>
            <a:extLst>
              <a:ext uri="{FF2B5EF4-FFF2-40B4-BE49-F238E27FC236}">
                <a16:creationId xmlns:a16="http://schemas.microsoft.com/office/drawing/2014/main" id="{1C356366-C350-4478-8D3C-A349685FBB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Notes Placeholder 2">
            <a:extLst>
              <a:ext uri="{FF2B5EF4-FFF2-40B4-BE49-F238E27FC236}">
                <a16:creationId xmlns:a16="http://schemas.microsoft.com/office/drawing/2014/main" id="{95D79345-43FE-4ECA-8108-9DCE54B090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hu-HU" altLang="hu-HU"/>
              <a:t>5. alkalom</a:t>
            </a:r>
          </a:p>
        </p:txBody>
      </p:sp>
      <p:sp>
        <p:nvSpPr>
          <p:cNvPr id="155652" name="Slide Number Placeholder 3">
            <a:extLst>
              <a:ext uri="{FF2B5EF4-FFF2-40B4-BE49-F238E27FC236}">
                <a16:creationId xmlns:a16="http://schemas.microsoft.com/office/drawing/2014/main" id="{5168EAC4-0106-48FC-AD68-AB51CF04F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4F4BF69-0364-444F-8C83-0BD9EA1B45DA}" type="slidenum">
              <a:rPr lang="en-US" altLang="hu-HU"/>
              <a:pPr eaLnBrk="1" hangingPunct="1"/>
              <a:t>22</a:t>
            </a:fld>
            <a:endParaRPr lang="en-US" altLang="hu-H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3/7/2023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49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79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BEFDA-E99A-4D41-8333-0C32F9551E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2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600200" lvl="3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scrumguides.org/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7507-0B83-4B95-95CE-C02295758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57200"/>
            <a:ext cx="8117967" cy="3676650"/>
          </a:xfrm>
        </p:spPr>
        <p:txBody>
          <a:bodyPr>
            <a:normAutofit/>
          </a:bodyPr>
          <a:lstStyle/>
          <a:p>
            <a:br>
              <a:rPr lang="hu-HU" b="1" dirty="0"/>
            </a:br>
            <a:r>
              <a:rPr lang="hu-HU" b="1" dirty="0"/>
              <a:t>Projektirányítás a gyakorlatban </a:t>
            </a:r>
            <a:br>
              <a:rPr lang="hu-HU" b="1" dirty="0"/>
            </a:br>
            <a:r>
              <a:rPr lang="hu-HU" b="1" dirty="0"/>
              <a:t>2023 tavasz</a:t>
            </a:r>
            <a:br>
              <a:rPr lang="en-US" dirty="0"/>
            </a:br>
            <a:endParaRPr lang="en-US" dirty="0"/>
          </a:p>
        </p:txBody>
      </p:sp>
      <p:pic>
        <p:nvPicPr>
          <p:cNvPr id="1026" name="Picture 2" descr="https://www.ilearnerp.com/wp-content/uploads/2016/12/upk-training.jpg">
            <a:extLst>
              <a:ext uri="{FF2B5EF4-FFF2-40B4-BE49-F238E27FC236}">
                <a16:creationId xmlns:a16="http://schemas.microsoft.com/office/drawing/2014/main" id="{55DE7378-C7AF-40AB-A3CD-D243E69CA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850" y="1295400"/>
            <a:ext cx="36576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950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0589-9BCD-4E08-8AA0-ADFE24F17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Helyzetfelmérés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8BDD2-6D86-401E-BFBF-EFF85759CD3F}"/>
              </a:ext>
            </a:extLst>
          </p:cNvPr>
          <p:cNvSpPr txBox="1"/>
          <p:nvPr/>
        </p:nvSpPr>
        <p:spPr>
          <a:xfrm>
            <a:off x="521208" y="1790611"/>
            <a:ext cx="104515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i="1" dirty="0"/>
              <a:t>Van olyan, aki nem találkozott még a csoportjával?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i="1" dirty="0"/>
              <a:t>Van olyan aki nem sikerült még rendszeres megbeszélési időpontot egyeztessen a saját csoportjával?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i="1" dirty="0"/>
              <a:t>Első benyomások? Esetleg problémák?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800" i="1" dirty="0"/>
          </a:p>
        </p:txBody>
      </p:sp>
    </p:spTree>
    <p:extLst>
      <p:ext uri="{BB962C8B-B14F-4D97-AF65-F5344CB8AC3E}">
        <p14:creationId xmlns:p14="http://schemas.microsoft.com/office/powerpoint/2010/main" val="3340449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5F6AF-022C-43F1-9195-C7AD3D009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Agilis vezetés – elméleti anyag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12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8C10-9C5E-44CE-9AB7-7B8B6AC46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9831482" cy="640080"/>
          </a:xfrm>
        </p:spPr>
        <p:txBody>
          <a:bodyPr>
            <a:normAutofit/>
          </a:bodyPr>
          <a:lstStyle/>
          <a:p>
            <a:r>
              <a:rPr lang="hu-HU" dirty="0"/>
              <a:t>Megfelelő vezetői hozzáállás – nem agilis, de segítő modell lehet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1329D-7182-466D-A616-0A50E212E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713" y="1578430"/>
            <a:ext cx="7492802" cy="4364480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1. </a:t>
            </a:r>
            <a:r>
              <a:rPr lang="hu-HU" sz="1600" dirty="0"/>
              <a:t>Rendelkező vezetői magatartás:</a:t>
            </a:r>
          </a:p>
          <a:p>
            <a:pPr marL="628650" lvl="1" indent="-171450"/>
            <a:r>
              <a:rPr lang="hu-HU" sz="1600" dirty="0"/>
              <a:t>nem megfelelő képesség, megfelelő hajlandóság esetén</a:t>
            </a:r>
          </a:p>
          <a:p>
            <a:pPr marL="628650" lvl="1" indent="-171450"/>
            <a:r>
              <a:rPr lang="hu-HU" sz="1600" dirty="0"/>
              <a:t>világos követelmények, standardok, átlátható munkafolyamatok, szoros kontroll</a:t>
            </a:r>
          </a:p>
          <a:p>
            <a:r>
              <a:rPr lang="hu-HU" sz="1600" dirty="0"/>
              <a:t>2. „Megmagyarázó” vezetői magatartás: </a:t>
            </a:r>
          </a:p>
          <a:p>
            <a:pPr marL="628650" lvl="1" indent="-171450"/>
            <a:r>
              <a:rPr lang="hu-HU" sz="1600" dirty="0"/>
              <a:t>nem megfelelő képesség, nem megfelelő hajlandóság esetén</a:t>
            </a:r>
          </a:p>
          <a:p>
            <a:pPr marL="628650" lvl="1" indent="-171450"/>
            <a:r>
              <a:rPr lang="hu-HU" sz="1600" dirty="0"/>
              <a:t>„Mit miért teszünk?”</a:t>
            </a:r>
          </a:p>
          <a:p>
            <a:pPr marL="628650" lvl="1" indent="-171450"/>
            <a:r>
              <a:rPr lang="hu-HU" sz="1600" dirty="0"/>
              <a:t>több dialógus, több személyes odafigyelés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F38F1-D729-4CA5-9419-FD31088C2181}"/>
              </a:ext>
            </a:extLst>
          </p:cNvPr>
          <p:cNvSpPr/>
          <p:nvPr/>
        </p:nvSpPr>
        <p:spPr>
          <a:xfrm>
            <a:off x="9318172" y="5606142"/>
            <a:ext cx="28738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109146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8C10-9C5E-44CE-9AB7-7B8B6AC46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1744364" cy="640080"/>
          </a:xfrm>
        </p:spPr>
        <p:txBody>
          <a:bodyPr>
            <a:normAutofit/>
          </a:bodyPr>
          <a:lstStyle/>
          <a:p>
            <a:r>
              <a:rPr lang="hu-HU" dirty="0"/>
              <a:t>Megfelelő vezetői hozzáállás - nem agilis, de segítő modell lehet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1329D-7182-466D-A616-0A50E212E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256" y="1394500"/>
            <a:ext cx="7100916" cy="3852415"/>
          </a:xfrm>
        </p:spPr>
        <p:txBody>
          <a:bodyPr>
            <a:noAutofit/>
          </a:bodyPr>
          <a:lstStyle/>
          <a:p>
            <a:r>
              <a:rPr lang="en-US" sz="1600" dirty="0"/>
              <a:t>3. </a:t>
            </a:r>
            <a:r>
              <a:rPr lang="hu-HU" sz="1500" dirty="0"/>
              <a:t>Részvételt elősegítő (</a:t>
            </a:r>
            <a:r>
              <a:rPr lang="hu-HU" sz="1500" dirty="0" err="1"/>
              <a:t>participatív</a:t>
            </a:r>
            <a:r>
              <a:rPr lang="hu-HU" sz="1500" dirty="0"/>
              <a:t>) vezetői magatartás:</a:t>
            </a:r>
          </a:p>
          <a:p>
            <a:pPr marL="628650" lvl="1" indent="-171450"/>
            <a:r>
              <a:rPr lang="hu-HU" sz="1500" dirty="0"/>
              <a:t>megfelelő képesség, nem megfelelő hajlandóság esetén (pl. fáradt dolgozó)</a:t>
            </a:r>
          </a:p>
          <a:p>
            <a:pPr marL="628650" lvl="1" indent="-171450"/>
            <a:r>
              <a:rPr lang="hu-HU" sz="1500" dirty="0"/>
              <a:t>okok feltárása, megértő beszélgetés, segítés</a:t>
            </a:r>
          </a:p>
          <a:p>
            <a:pPr marL="628650" lvl="1" indent="-171450"/>
            <a:r>
              <a:rPr lang="hu-HU" sz="1500" dirty="0"/>
              <a:t>többirányú kommunikáció, kölcsönös érzelmi támogatás</a:t>
            </a:r>
          </a:p>
          <a:p>
            <a:r>
              <a:rPr lang="hu-HU" sz="1500" dirty="0"/>
              <a:t>4. Felhatalmazó (delegáló) vezetői magatartás:</a:t>
            </a:r>
          </a:p>
          <a:p>
            <a:pPr marL="628650" lvl="1" indent="-171450"/>
            <a:r>
              <a:rPr lang="hu-HU" sz="1500" dirty="0"/>
              <a:t>megfelelő képesség, megfelelő hajlandóság esetén</a:t>
            </a:r>
          </a:p>
          <a:p>
            <a:pPr marL="628650" lvl="1" indent="-171450"/>
            <a:r>
              <a:rPr lang="hu-HU" sz="1500" dirty="0"/>
              <a:t>a vezető megfigyelő, méri és értékeli az eredményeket, keretek biztosít, döntési jogkört átad, a „hogyan” rábízza a munkatársra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4457D6-063C-4CDA-9B86-BD411BE847EC}"/>
              </a:ext>
            </a:extLst>
          </p:cNvPr>
          <p:cNvSpPr/>
          <p:nvPr/>
        </p:nvSpPr>
        <p:spPr>
          <a:xfrm>
            <a:off x="9318172" y="5606142"/>
            <a:ext cx="28738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u-HU" dirty="0"/>
              <a:t>Forrás: Goda Gyula - Szervezetfejlesztés és Vezetéstudomány jegyzet </a:t>
            </a:r>
          </a:p>
        </p:txBody>
      </p:sp>
    </p:spTree>
    <p:extLst>
      <p:ext uri="{BB962C8B-B14F-4D97-AF65-F5344CB8AC3E}">
        <p14:creationId xmlns:p14="http://schemas.microsoft.com/office/powerpoint/2010/main" val="52108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106498-9D87-4A84-8AEC-919A85E97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990600"/>
            <a:ext cx="8077200" cy="5049958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82C9E09E-7063-4467-B3C0-6E83045274B8}"/>
              </a:ext>
            </a:extLst>
          </p:cNvPr>
          <p:cNvSpPr txBox="1">
            <a:spLocks noChangeArrowheads="1"/>
          </p:cNvSpPr>
          <p:nvPr/>
        </p:nvSpPr>
        <p:spPr>
          <a:xfrm>
            <a:off x="790575" y="295275"/>
            <a:ext cx="8763000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Scrum értékek – az iránytű</a:t>
            </a:r>
            <a:endParaRPr lang="en-US" sz="3300" b="1" kern="0" dirty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25200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5FBBDF-3E1D-45AF-9094-009C208037E6}"/>
              </a:ext>
            </a:extLst>
          </p:cNvPr>
          <p:cNvSpPr txBox="1"/>
          <p:nvPr/>
        </p:nvSpPr>
        <p:spPr>
          <a:xfrm>
            <a:off x="4865914" y="5040087"/>
            <a:ext cx="3407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https://www.scrumguides.org/</a:t>
            </a:r>
            <a:endParaRPr lang="hu-H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13F775-B42C-460D-9E70-FCF14C53F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838200"/>
            <a:ext cx="3276600" cy="37255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B1526D-DDFF-4501-8D7A-CCCADC51E1D7}"/>
              </a:ext>
            </a:extLst>
          </p:cNvPr>
          <p:cNvSpPr txBox="1"/>
          <p:nvPr/>
        </p:nvSpPr>
        <p:spPr>
          <a:xfrm>
            <a:off x="1537138" y="938242"/>
            <a:ext cx="6172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Scrum Team</a:t>
            </a:r>
            <a:endParaRPr lang="hu-HU" i="1" dirty="0">
              <a:solidFill>
                <a:srgbClr val="C00000"/>
              </a:solidFill>
            </a:endParaRPr>
          </a:p>
          <a:p>
            <a:r>
              <a:rPr lang="en-US" dirty="0" err="1"/>
              <a:t>Developerek</a:t>
            </a:r>
            <a:endParaRPr lang="hu-HU" dirty="0"/>
          </a:p>
          <a:p>
            <a:r>
              <a:rPr lang="en-US" dirty="0"/>
              <a:t>Product Owner</a:t>
            </a:r>
            <a:endParaRPr lang="hu-HU" dirty="0"/>
          </a:p>
          <a:p>
            <a:r>
              <a:rPr lang="en-US" dirty="0"/>
              <a:t>Scrum Master </a:t>
            </a:r>
            <a:endParaRPr lang="hu-HU" dirty="0"/>
          </a:p>
          <a:p>
            <a:endParaRPr lang="hu-HU" dirty="0"/>
          </a:p>
          <a:p>
            <a:r>
              <a:rPr lang="en-US" i="1" dirty="0">
                <a:solidFill>
                  <a:srgbClr val="C00000"/>
                </a:solidFill>
              </a:rPr>
              <a:t>Scrum </a:t>
            </a:r>
            <a:r>
              <a:rPr lang="en-US" i="1" dirty="0" err="1">
                <a:solidFill>
                  <a:srgbClr val="C00000"/>
                </a:solidFill>
              </a:rPr>
              <a:t>események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endParaRPr lang="hu-HU" i="1" dirty="0">
              <a:solidFill>
                <a:srgbClr val="C00000"/>
              </a:solidFill>
            </a:endParaRPr>
          </a:p>
          <a:p>
            <a:r>
              <a:rPr lang="en-US" dirty="0"/>
              <a:t>A Sprint </a:t>
            </a:r>
            <a:endParaRPr lang="hu-HU" dirty="0"/>
          </a:p>
          <a:p>
            <a:r>
              <a:rPr lang="en-US" dirty="0"/>
              <a:t>Sprint Planning </a:t>
            </a:r>
            <a:endParaRPr lang="hu-HU" dirty="0"/>
          </a:p>
          <a:p>
            <a:r>
              <a:rPr lang="en-US" dirty="0"/>
              <a:t>Daily Scrum </a:t>
            </a:r>
            <a:endParaRPr lang="hu-HU" dirty="0"/>
          </a:p>
          <a:p>
            <a:r>
              <a:rPr lang="en-US" dirty="0"/>
              <a:t>Sprint Review</a:t>
            </a:r>
            <a:endParaRPr lang="hu-HU" dirty="0"/>
          </a:p>
          <a:p>
            <a:r>
              <a:rPr lang="en-US" dirty="0"/>
              <a:t>Sprint Retrospective </a:t>
            </a:r>
            <a:endParaRPr lang="hu-HU" dirty="0"/>
          </a:p>
          <a:p>
            <a:endParaRPr lang="hu-HU" dirty="0"/>
          </a:p>
          <a:p>
            <a:r>
              <a:rPr lang="en-US" i="1" dirty="0">
                <a:solidFill>
                  <a:srgbClr val="C00000"/>
                </a:solidFill>
              </a:rPr>
              <a:t>Scrum </a:t>
            </a:r>
            <a:r>
              <a:rPr lang="en-US" i="1" dirty="0" err="1">
                <a:solidFill>
                  <a:srgbClr val="C00000"/>
                </a:solidFill>
              </a:rPr>
              <a:t>munkaanyagok</a:t>
            </a:r>
            <a:endParaRPr lang="hu-HU" i="1" dirty="0">
              <a:solidFill>
                <a:srgbClr val="C00000"/>
              </a:solidFill>
            </a:endParaRPr>
          </a:p>
          <a:p>
            <a:r>
              <a:rPr lang="en-US" dirty="0"/>
              <a:t>Product Backlog</a:t>
            </a:r>
            <a:endParaRPr lang="hu-HU" dirty="0"/>
          </a:p>
          <a:p>
            <a:r>
              <a:rPr lang="en-US" dirty="0"/>
              <a:t>Sprint Backlog</a:t>
            </a:r>
            <a:endParaRPr lang="hu-HU" dirty="0"/>
          </a:p>
          <a:p>
            <a:r>
              <a:rPr lang="en-US" dirty="0" err="1"/>
              <a:t>Inkrementum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ACBE7-43C0-4A44-BC69-FF9BCD564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1" y="1219200"/>
            <a:ext cx="5872723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64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4527D9-5436-4530-92F0-878AFEE1E785}"/>
              </a:ext>
            </a:extLst>
          </p:cNvPr>
          <p:cNvSpPr txBox="1"/>
          <p:nvPr/>
        </p:nvSpPr>
        <p:spPr>
          <a:xfrm>
            <a:off x="3495675" y="2438401"/>
            <a:ext cx="5391150" cy="1323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hu-HU" sz="8000" b="1" dirty="0">
                <a:solidFill>
                  <a:schemeClr val="accent1">
                    <a:lumMod val="50000"/>
                  </a:schemeClr>
                </a:solidFill>
                <a:latin typeface="Arial" charset="0"/>
                <a:cs typeface="Arial" charset="0"/>
              </a:rPr>
              <a:t>A folyamat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B647ACD-BFF9-44E4-AF67-192C675C0417}"/>
              </a:ext>
            </a:extLst>
          </p:cNvPr>
          <p:cNvSpPr txBox="1">
            <a:spLocks noChangeArrowheads="1"/>
          </p:cNvSpPr>
          <p:nvPr/>
        </p:nvSpPr>
        <p:spPr>
          <a:xfrm>
            <a:off x="1914525" y="382587"/>
            <a:ext cx="4738688" cy="8382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Sprint</a:t>
            </a:r>
            <a:r>
              <a:rPr lang="en-US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(</a:t>
            </a: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futam</a:t>
            </a:r>
            <a:r>
              <a:rPr lang="en-US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)</a:t>
            </a:r>
            <a:endParaRPr lang="hu-HU" sz="3300" b="1" kern="0" dirty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D0F859-F5CC-49D2-8D7A-191793E4824A}"/>
              </a:ext>
            </a:extLst>
          </p:cNvPr>
          <p:cNvSpPr txBox="1">
            <a:spLocks/>
          </p:cNvSpPr>
          <p:nvPr/>
        </p:nvSpPr>
        <p:spPr>
          <a:xfrm>
            <a:off x="1914525" y="1600200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359384-D758-4B73-B824-DE3D3DF934C6}"/>
              </a:ext>
            </a:extLst>
          </p:cNvPr>
          <p:cNvSpPr txBox="1">
            <a:spLocks/>
          </p:cNvSpPr>
          <p:nvPr/>
        </p:nvSpPr>
        <p:spPr>
          <a:xfrm>
            <a:off x="1600200" y="1455821"/>
            <a:ext cx="8534400" cy="32004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2-4 hetes munkaszakasz (állandó hossz jobb ritmust okoz).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A terméknek mind </a:t>
            </a:r>
            <a:r>
              <a:rPr lang="hu-HU" sz="2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tervezése, kódolása és tesztelése </a:t>
            </a: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a futam alatt zajlik.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A futam eredménye </a:t>
            </a:r>
            <a:r>
              <a:rPr lang="hu-HU" sz="2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üzleti értéket képviselő működő kód.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A feladatok és az idők meghatározása után a </a:t>
            </a:r>
            <a:r>
              <a:rPr lang="hu-HU" sz="240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Product</a:t>
            </a: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 </a:t>
            </a:r>
            <a:r>
              <a:rPr lang="hu-HU" sz="240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Owner</a:t>
            </a: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 nem szól bele a csapat munkájába.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A Scrum csapat magában dolgozik, ha jó összetételű, </a:t>
            </a:r>
            <a:b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</a:b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akkor </a:t>
            </a:r>
            <a:r>
              <a:rPr lang="hu-HU" sz="24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önszerveződő.</a:t>
            </a: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  <a:t>A futam alatt együtt kell dolgozni!</a:t>
            </a:r>
            <a:br>
              <a:rPr lang="hu-HU" sz="2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Vodafone Lt" pitchFamily="34" charset="0"/>
              </a:rPr>
            </a:br>
            <a:endParaRPr lang="hu-HU" sz="2400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04C2C9-3D7F-4262-97E2-50C2A9F7826D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0" y="533400"/>
            <a:ext cx="7696200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II. Daily Scrum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5BD3EB-922A-4DFD-99C7-1E90DEE2EBA8}"/>
              </a:ext>
            </a:extLst>
          </p:cNvPr>
          <p:cNvSpPr txBox="1">
            <a:spLocks/>
          </p:cNvSpPr>
          <p:nvPr/>
        </p:nvSpPr>
        <p:spPr>
          <a:xfrm>
            <a:off x="1914525" y="1600200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F61ADF-143A-4715-A452-D9242F3DD45E}"/>
              </a:ext>
            </a:extLst>
          </p:cNvPr>
          <p:cNvSpPr txBox="1">
            <a:spLocks/>
          </p:cNvSpPr>
          <p:nvPr/>
        </p:nvSpPr>
        <p:spPr>
          <a:xfrm>
            <a:off x="1866900" y="1371600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200" kern="0" dirty="0">
                <a:latin typeface="Vodafone Lt" pitchFamily="34" charset="0"/>
              </a:rPr>
              <a:t>Minden nap ugyanabban az időben a </a:t>
            </a:r>
            <a:r>
              <a:rPr lang="hu-HU" sz="2200" kern="0" dirty="0" err="1">
                <a:latin typeface="Vodafone Lt" pitchFamily="34" charset="0"/>
              </a:rPr>
              <a:t>developerek</a:t>
            </a:r>
            <a:r>
              <a:rPr lang="hu-HU" sz="2200" kern="0" dirty="0">
                <a:latin typeface="Vodafone Lt" pitchFamily="34" charset="0"/>
              </a:rPr>
              <a:t> rövid megbeszélést tartanak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200" kern="0" dirty="0">
                <a:latin typeface="Vodafone Lt" pitchFamily="34" charset="0"/>
              </a:rPr>
              <a:t>Cél a haladást gátló akadályok meghatározása (nem felszámolása)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200" kern="0" dirty="0">
                <a:latin typeface="Vodafone Lt" pitchFamily="34" charset="0"/>
              </a:rPr>
              <a:t>(Például) minden tag három kérdésre válaszol: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200" kern="0" dirty="0">
                <a:latin typeface="Vodafone Lt" pitchFamily="34" charset="0"/>
              </a:rPr>
              <a:t>Mit végzett az utolsó megbeszélés óta?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200" kern="0" dirty="0">
                <a:latin typeface="Vodafone Lt" pitchFamily="34" charset="0"/>
              </a:rPr>
              <a:t>Mit fog csinálni a következő megbeszélésig?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200" kern="0" dirty="0">
                <a:latin typeface="Vodafone Lt" pitchFamily="34" charset="0"/>
              </a:rPr>
              <a:t>Van-e valami, ami gátolja, hogy a tervek szerint haladjon?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200" kern="0" dirty="0">
                <a:latin typeface="Vodafone Lt" pitchFamily="34" charset="0"/>
              </a:rPr>
              <a:t>Eredménye egy végrehajtható terv a soron következő munkanapra</a:t>
            </a:r>
            <a:r>
              <a:rPr lang="en-US" sz="2200" kern="0" dirty="0">
                <a:latin typeface="Vodafone Lt" pitchFamily="34" charset="0"/>
              </a:rPr>
              <a:t>/</a:t>
            </a:r>
            <a:r>
              <a:rPr lang="en-US" sz="2200" kern="0" dirty="0" err="1">
                <a:latin typeface="Vodafone Lt" pitchFamily="34" charset="0"/>
              </a:rPr>
              <a:t>napokra</a:t>
            </a:r>
            <a:r>
              <a:rPr lang="en-US" sz="2200" kern="0" dirty="0">
                <a:latin typeface="Vodafone Lt" pitchFamily="34" charset="0"/>
              </a:rPr>
              <a:t>.</a:t>
            </a:r>
            <a:endParaRPr lang="hu-HU" sz="2200" kern="0" dirty="0">
              <a:latin typeface="Vodafone Lt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200" kern="0" dirty="0">
                <a:latin typeface="Vodafone Lt" pitchFamily="34" charset="0"/>
              </a:rPr>
              <a:t>Bárki csatlakozhat a megbeszéléshez, de csak a Scrum mester és a csapat tagjai beszélhetnek.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200" kern="0" dirty="0">
                <a:latin typeface="Vodafone Lt" pitchFamily="34" charset="0"/>
              </a:rPr>
              <a:t>Nem a Scrum mesternek szól, hanem egymásnak (egymás felé vállalnak kötelezettségeket).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200" kern="0" dirty="0">
                <a:latin typeface="Vodafone Lt" pitchFamily="34" charset="0"/>
              </a:rPr>
              <a:t>Maximum időkorlát: 15 perc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8C35AD16-0EB3-4243-9D62-BDF5452C2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1" y="1"/>
            <a:ext cx="1857375" cy="139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DD541B-D624-47D1-BD3B-45A8DE8423FF}"/>
              </a:ext>
            </a:extLst>
          </p:cNvPr>
          <p:cNvSpPr txBox="1">
            <a:spLocks noChangeArrowheads="1"/>
          </p:cNvSpPr>
          <p:nvPr/>
        </p:nvSpPr>
        <p:spPr>
          <a:xfrm>
            <a:off x="2066926" y="381000"/>
            <a:ext cx="7789863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Tipikus hibák a D</a:t>
            </a:r>
            <a:r>
              <a:rPr lang="en-US" sz="3300" b="1" kern="0" dirty="0" err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aily</a:t>
            </a: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Scrum esetében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70EB02-F76A-4F28-9744-6E0EA798D1E1}"/>
              </a:ext>
            </a:extLst>
          </p:cNvPr>
          <p:cNvSpPr txBox="1">
            <a:spLocks/>
          </p:cNvSpPr>
          <p:nvPr/>
        </p:nvSpPr>
        <p:spPr>
          <a:xfrm>
            <a:off x="1914525" y="1600200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872C2E-4FE9-4036-AA09-62E7E5897DCD}"/>
              </a:ext>
            </a:extLst>
          </p:cNvPr>
          <p:cNvSpPr txBox="1">
            <a:spLocks/>
          </p:cNvSpPr>
          <p:nvPr/>
        </p:nvSpPr>
        <p:spPr>
          <a:xfrm>
            <a:off x="2066925" y="1600200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Késve kezdődik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Elmaradozik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Elhúzódik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A Scrum mesternek beszélnek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Fecsegés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Kísérlet a felmerülő problémák megoldására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Nem a futamhoz tartozó problémákról beszélnek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Belebeszél olyan valaki, aki nem tartozik a csapathoz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Kétoldalú vagy kiscsoportos beszélgetések alakulnak ki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Személyeskedés</a:t>
            </a:r>
          </a:p>
        </p:txBody>
      </p:sp>
      <p:sp>
        <p:nvSpPr>
          <p:cNvPr id="79878" name="TextBox 5">
            <a:extLst>
              <a:ext uri="{FF2B5EF4-FFF2-40B4-BE49-F238E27FC236}">
                <a16:creationId xmlns:a16="http://schemas.microsoft.com/office/drawing/2014/main" id="{C9C1BB9F-8FCB-4B1F-808B-4D7D12833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339" y="6565900"/>
            <a:ext cx="333692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hu-HU" altLang="hu-HU" sz="800"/>
              <a:t> Részben Mike Cohn: Certify Scrum master traninig, 2012. june 11-12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906EC0-C54D-46BE-B47A-5150B1BF803B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1" y="533400"/>
            <a:ext cx="6596742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I. Futam tervezés – Sprint </a:t>
            </a:r>
            <a:r>
              <a:rPr lang="hu-HU" sz="3300" b="1" kern="0" dirty="0" err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Planning</a:t>
            </a:r>
            <a:endParaRPr lang="en-US" sz="3300" b="1" kern="0" dirty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0BD165-DD88-42F9-8140-2EFD2B23A4AC}"/>
              </a:ext>
            </a:extLst>
          </p:cNvPr>
          <p:cNvSpPr txBox="1">
            <a:spLocks/>
          </p:cNvSpPr>
          <p:nvPr/>
        </p:nvSpPr>
        <p:spPr>
          <a:xfrm>
            <a:off x="1881187" y="1311583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A csapat megbecsüli a termék kívánságlista első elemeinek a bonyolultságát, és kiválasztja azokat az elemeket, amelyek megvalósítását vállalja a futamra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Megbeszélni: 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en-US" sz="2400" kern="0" dirty="0">
                <a:latin typeface="Vodafone Lt" pitchFamily="34" charset="0"/>
              </a:rPr>
              <a:t>M</a:t>
            </a:r>
            <a:r>
              <a:rPr lang="hu-HU" sz="2400" kern="0" dirty="0" err="1">
                <a:latin typeface="Vodafone Lt" pitchFamily="34" charset="0"/>
              </a:rPr>
              <a:t>iért</a:t>
            </a:r>
            <a:r>
              <a:rPr lang="hu-HU" sz="2400" kern="0" dirty="0">
                <a:latin typeface="Vodafone Lt" pitchFamily="34" charset="0"/>
              </a:rPr>
              <a:t> értékes ez a sprint? – Sprint </a:t>
            </a:r>
            <a:r>
              <a:rPr lang="hu-HU" sz="2400" kern="0" dirty="0" err="1">
                <a:latin typeface="Vodafone Lt" pitchFamily="34" charset="0"/>
              </a:rPr>
              <a:t>Goal</a:t>
            </a:r>
            <a:endParaRPr lang="hu-HU" sz="2400" kern="0" dirty="0">
              <a:latin typeface="Vodafone Lt" pitchFamily="34" charset="0"/>
            </a:endParaRP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Mi végezhető el e sprint alatt?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Hogyan végződik el a kiválasztott munka?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0000"/>
              <a:defRPr/>
            </a:pPr>
            <a:endParaRPr lang="hu-HU" sz="2400" kern="0" dirty="0">
              <a:latin typeface="Vodafone Lt" pitchFamily="34" charset="0"/>
            </a:endParaRPr>
          </a:p>
          <a:p>
            <a:pPr lvl="1">
              <a:spcBef>
                <a:spcPct val="20000"/>
              </a:spcBef>
              <a:buClr>
                <a:schemeClr val="bg2"/>
              </a:buClr>
              <a:buSzPct val="70000"/>
              <a:defRPr/>
            </a:pPr>
            <a:r>
              <a:rPr lang="hu-HU" sz="2400" kern="0" dirty="0">
                <a:latin typeface="Vodafone Lt" pitchFamily="34" charset="0"/>
              </a:rPr>
              <a:t>Közösen meghatározni és NEM a Scrum mester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800" kern="0" dirty="0"/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8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8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800" kern="0" dirty="0"/>
          </a:p>
        </p:txBody>
      </p:sp>
      <p:sp>
        <p:nvSpPr>
          <p:cNvPr id="51205" name="AutoShape 2" descr="Image result for planning">
            <a:extLst>
              <a:ext uri="{FF2B5EF4-FFF2-40B4-BE49-F238E27FC236}">
                <a16:creationId xmlns:a16="http://schemas.microsoft.com/office/drawing/2014/main" id="{40B92115-A966-49B2-8D0F-1B3B02CC88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hu-HU"/>
          </a:p>
        </p:txBody>
      </p:sp>
      <p:sp>
        <p:nvSpPr>
          <p:cNvPr id="51206" name="AutoShape 4" descr="Image result for planning">
            <a:extLst>
              <a:ext uri="{FF2B5EF4-FFF2-40B4-BE49-F238E27FC236}">
                <a16:creationId xmlns:a16="http://schemas.microsoft.com/office/drawing/2014/main" id="{F847FFAB-963A-4AE3-9EC4-EE82ADBC39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hu-HU"/>
          </a:p>
        </p:txBody>
      </p:sp>
      <p:sp>
        <p:nvSpPr>
          <p:cNvPr id="51207" name="AutoShape 6" descr="Image result for planning">
            <a:extLst>
              <a:ext uri="{FF2B5EF4-FFF2-40B4-BE49-F238E27FC236}">
                <a16:creationId xmlns:a16="http://schemas.microsoft.com/office/drawing/2014/main" id="{F4F3C4B6-5A31-43F0-9284-F09F142AB6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hu-HU"/>
          </a:p>
        </p:txBody>
      </p:sp>
      <p:sp>
        <p:nvSpPr>
          <p:cNvPr id="51208" name="AutoShape 8" descr="Image result for planning">
            <a:extLst>
              <a:ext uri="{FF2B5EF4-FFF2-40B4-BE49-F238E27FC236}">
                <a16:creationId xmlns:a16="http://schemas.microsoft.com/office/drawing/2014/main" id="{881988AC-09AE-4DAF-817A-A6F6181CB1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hu-HU"/>
          </a:p>
        </p:txBody>
      </p:sp>
      <p:pic>
        <p:nvPicPr>
          <p:cNvPr id="51209" name="Picture 10" descr="Related image">
            <a:extLst>
              <a:ext uri="{FF2B5EF4-FFF2-40B4-BE49-F238E27FC236}">
                <a16:creationId xmlns:a16="http://schemas.microsoft.com/office/drawing/2014/main" id="{1A69E249-DFA9-4B85-995E-91171AAE2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999" y="328352"/>
            <a:ext cx="2073729" cy="1188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66486A-35C5-43E9-ACF8-84C89F82DEDB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0" y="533400"/>
            <a:ext cx="8001000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Bemutató – Sprint </a:t>
            </a:r>
            <a:r>
              <a:rPr lang="hu-HU" sz="3300" b="1" kern="0" dirty="0" err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Review</a:t>
            </a:r>
            <a:endParaRPr lang="hu-HU" sz="3300" b="1" kern="0" dirty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7C9D9B-4598-4E99-9CB1-7F57B2F53AFC}"/>
              </a:ext>
            </a:extLst>
          </p:cNvPr>
          <p:cNvSpPr txBox="1">
            <a:spLocks/>
          </p:cNvSpPr>
          <p:nvPr/>
        </p:nvSpPr>
        <p:spPr>
          <a:xfrm>
            <a:off x="1914525" y="1600200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FDFCB7-1F94-48EF-929E-FAB147A7A57F}"/>
              </a:ext>
            </a:extLst>
          </p:cNvPr>
          <p:cNvSpPr txBox="1">
            <a:spLocks/>
          </p:cNvSpPr>
          <p:nvPr/>
        </p:nvSpPr>
        <p:spPr>
          <a:xfrm>
            <a:off x="2019300" y="1497693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Minden futam széles körű (termékgazda, felhasználók, menedzsment) bemutatóval végződik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Ez az alapja a Scrum csapat  kiértékelő megbeszélésnek (1-2 óra), ami egyben a következő futam indító megbeszélése lehet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A csapat bemutatja, hogy mit alkotott a futam során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b="1" kern="0" dirty="0">
                <a:latin typeface="Vodafone Lt" pitchFamily="34" charset="0"/>
              </a:rPr>
              <a:t>Élő, működő program bemutatója</a:t>
            </a:r>
            <a:r>
              <a:rPr lang="hu-HU" sz="2300" kern="0" dirty="0">
                <a:latin typeface="Vodafone Lt" pitchFamily="34" charset="0"/>
              </a:rPr>
              <a:t>, nem prezentáció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Időt kell szánni az előkészítésére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A csapat és a Termékgazda részvétele kötelező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Bárki részt vehet rajta </a:t>
            </a:r>
            <a:r>
              <a:rPr lang="hu-HU" sz="2000" kern="0" dirty="0">
                <a:latin typeface="Vodafone Lt" pitchFamily="34" charset="0"/>
              </a:rPr>
              <a:t>(</a:t>
            </a:r>
            <a:r>
              <a:rPr lang="hu-HU" sz="2000" kern="0" dirty="0" err="1">
                <a:latin typeface="Vodafone Lt" pitchFamily="34" charset="0"/>
              </a:rPr>
              <a:t>Scrum</a:t>
            </a:r>
            <a:r>
              <a:rPr lang="hu-HU" sz="2000" kern="0" dirty="0">
                <a:latin typeface="Vodafone Lt" pitchFamily="34" charset="0"/>
              </a:rPr>
              <a:t> mester, ügyfél, </a:t>
            </a:r>
            <a:r>
              <a:rPr lang="hu-HU" sz="2000" kern="0" dirty="0" err="1">
                <a:latin typeface="Vodafone Lt" pitchFamily="34" charset="0"/>
              </a:rPr>
              <a:t>felsővezetés</a:t>
            </a:r>
            <a:r>
              <a:rPr lang="hu-HU" sz="2000" kern="0" dirty="0">
                <a:latin typeface="Vodafone Lt" pitchFamily="34" charset="0"/>
              </a:rPr>
              <a:t>,stb.)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A termékgazda elfogadja vagy visszautasítja a termékeket a kész (</a:t>
            </a:r>
            <a:r>
              <a:rPr lang="hu-HU" sz="2300" kern="0" dirty="0" err="1">
                <a:latin typeface="Vodafone Lt" pitchFamily="34" charset="0"/>
              </a:rPr>
              <a:t>done</a:t>
            </a:r>
            <a:r>
              <a:rPr lang="hu-HU" sz="2300" kern="0" dirty="0">
                <a:latin typeface="Vodafone Lt" pitchFamily="34" charset="0"/>
              </a:rPr>
              <a:t>) kritériumok alapján.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</p:txBody>
      </p:sp>
      <p:pic>
        <p:nvPicPr>
          <p:cNvPr id="81926" name="Picture 4" descr="C:\Users\Langer Tamás\AppData\Local\Microsoft\Windows\Temporary Internet Files\Content.IE5\ODD0YI23\MP900402042[1].jpg">
            <a:extLst>
              <a:ext uri="{FF2B5EF4-FFF2-40B4-BE49-F238E27FC236}">
                <a16:creationId xmlns:a16="http://schemas.microsoft.com/office/drawing/2014/main" id="{9EF2D107-5ED1-4258-9DC1-9B4D6C9E6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132" y="86243"/>
            <a:ext cx="2302782" cy="1535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33C2D2-32F3-4C4E-832B-A247F9B3D380}"/>
              </a:ext>
            </a:extLst>
          </p:cNvPr>
          <p:cNvSpPr txBox="1">
            <a:spLocks noChangeArrowheads="1"/>
          </p:cNvSpPr>
          <p:nvPr/>
        </p:nvSpPr>
        <p:spPr>
          <a:xfrm>
            <a:off x="2192338" y="381000"/>
            <a:ext cx="7789862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Tipikus hibák a </a:t>
            </a:r>
          </a:p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bemutatóval kapcsolatban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334FE5-9BB5-4987-BC59-5155B383C2CA}"/>
              </a:ext>
            </a:extLst>
          </p:cNvPr>
          <p:cNvSpPr txBox="1">
            <a:spLocks/>
          </p:cNvSpPr>
          <p:nvPr/>
        </p:nvSpPr>
        <p:spPr>
          <a:xfrm>
            <a:off x="1914525" y="1600200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37142F-9138-4BBC-BD59-4660BE6C97A3}"/>
              </a:ext>
            </a:extLst>
          </p:cNvPr>
          <p:cNvSpPr txBox="1">
            <a:spLocks/>
          </p:cNvSpPr>
          <p:nvPr/>
        </p:nvSpPr>
        <p:spPr>
          <a:xfrm>
            <a:off x="1676400" y="1676400"/>
            <a:ext cx="90678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Nem történik meg a futam lezárásaként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Az ügyfél képviselője nem vesz rajta részt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A csapat valamely tagja nem vesz rajta részt, mert például ő most nem készített bemutatható felhasználó történetet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Nem álltak rendelkezésre kész kritériumok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Olyan felhasználói történetet vesznek át, ami nem teljesíti a kész kritériumokat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Működő program helyett prezentációt tartanak arról, hogy mit kellene a programnak tudnia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A bemutató részként próbálja a csapat összeállítani a működéshez szükséges környezetet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Olyan felhasználói történetet próbál a csapat bemutatni, és így elfogadtatni, amelyről maga is tudja, hogy nem teljesíti a kész kritériumokat (hátha átmegy…)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kern="0" dirty="0"/>
              <a:t>A bemutató során felmerülő hibák elemzésével töltik az időt</a:t>
            </a:r>
          </a:p>
        </p:txBody>
      </p:sp>
      <p:pic>
        <p:nvPicPr>
          <p:cNvPr id="82950" name="Picture 4" descr="C:\Users\Langer Tamás\AppData\Local\Microsoft\Windows\Temporary Internet Files\Content.IE5\ODD0YI23\MP900402042[1].jpg">
            <a:extLst>
              <a:ext uri="{FF2B5EF4-FFF2-40B4-BE49-F238E27FC236}">
                <a16:creationId xmlns:a16="http://schemas.microsoft.com/office/drawing/2014/main" id="{8BA56627-B0A4-44D8-A6F9-01F825D3A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287" y="228601"/>
            <a:ext cx="2560638" cy="170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8CA8271-DAE6-49E4-B824-8C51A777A9B1}"/>
              </a:ext>
            </a:extLst>
          </p:cNvPr>
          <p:cNvSpPr txBox="1">
            <a:spLocks noChangeArrowheads="1"/>
          </p:cNvSpPr>
          <p:nvPr/>
        </p:nvSpPr>
        <p:spPr>
          <a:xfrm>
            <a:off x="1752600" y="533400"/>
            <a:ext cx="8620760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IV. Sprint </a:t>
            </a:r>
            <a:r>
              <a:rPr lang="hu-HU" sz="3300" b="1" kern="0" dirty="0" err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Retrospective</a:t>
            </a: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- Visszatekintés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AFD668-7600-46AE-912A-4B57C428011D}"/>
              </a:ext>
            </a:extLst>
          </p:cNvPr>
          <p:cNvSpPr txBox="1">
            <a:spLocks/>
          </p:cNvSpPr>
          <p:nvPr/>
        </p:nvSpPr>
        <p:spPr>
          <a:xfrm>
            <a:off x="2066925" y="1371600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Időszakonként visszatekintés, hogy hogy minőség‐ és eredményességnövelő módszereket tervezzünk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Minden futam után tartandó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Résztvevők: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A csapat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A </a:t>
            </a:r>
            <a:r>
              <a:rPr lang="hu-HU" sz="2300" kern="0" dirty="0" err="1">
                <a:latin typeface="Vodafone Lt" pitchFamily="34" charset="0"/>
              </a:rPr>
              <a:t>Scrum</a:t>
            </a:r>
            <a:r>
              <a:rPr lang="hu-HU" sz="2300" kern="0" dirty="0">
                <a:latin typeface="Vodafone Lt" pitchFamily="34" charset="0"/>
              </a:rPr>
              <a:t> mester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A Termékgazda</a:t>
            </a:r>
          </a:p>
          <a:p>
            <a:pPr marL="800100" lvl="1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És mások (leginkább megfigyelőként!)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  <a:cs typeface="Arial" charset="0"/>
              </a:rPr>
              <a:t>A futam alakulásának elemzése pl. az haladási grafikon alapján (a hátralevő munka alakulása a tervezetthez képest)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0000"/>
              <a:defRPr/>
            </a:pPr>
            <a:endParaRPr lang="hu-HU" sz="23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</p:txBody>
      </p:sp>
      <p:pic>
        <p:nvPicPr>
          <p:cNvPr id="83973" name="Picture 10" descr="C:\Users\Langer Tamás\AppData\Local\Microsoft\Windows\Temporary Internet Files\Content.IE5\20NCQCE1\MP900442889[1].jpg">
            <a:extLst>
              <a:ext uri="{FF2B5EF4-FFF2-40B4-BE49-F238E27FC236}">
                <a16:creationId xmlns:a16="http://schemas.microsoft.com/office/drawing/2014/main" id="{EF3225D5-CD66-4520-AAD8-F755E3E0A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09800"/>
            <a:ext cx="2596356" cy="1695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3974" name="Picture 2">
            <a:extLst>
              <a:ext uri="{FF2B5EF4-FFF2-40B4-BE49-F238E27FC236}">
                <a16:creationId xmlns:a16="http://schemas.microsoft.com/office/drawing/2014/main" id="{F868C564-B7ED-49D2-8723-879AB5B18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2586038"/>
            <a:ext cx="533400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132A567-7193-42F2-A16E-8A08F8053BC8}"/>
              </a:ext>
            </a:extLst>
          </p:cNvPr>
          <p:cNvSpPr txBox="1">
            <a:spLocks noChangeArrowheads="1"/>
          </p:cNvSpPr>
          <p:nvPr/>
        </p:nvSpPr>
        <p:spPr>
          <a:xfrm>
            <a:off x="2192338" y="325438"/>
            <a:ext cx="7789862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Tipikus hibák a visszatekintés</a:t>
            </a:r>
          </a:p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során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195970-DF89-4E93-8FA3-1FE6115FE12F}"/>
              </a:ext>
            </a:extLst>
          </p:cNvPr>
          <p:cNvSpPr txBox="1">
            <a:spLocks/>
          </p:cNvSpPr>
          <p:nvPr/>
        </p:nvSpPr>
        <p:spPr>
          <a:xfrm>
            <a:off x="1914525" y="1600200"/>
            <a:ext cx="8534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kern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0FCF9A-D24D-4DC2-A81B-9F398AE004EF}"/>
              </a:ext>
            </a:extLst>
          </p:cNvPr>
          <p:cNvSpPr txBox="1">
            <a:spLocks/>
          </p:cNvSpPr>
          <p:nvPr/>
        </p:nvSpPr>
        <p:spPr>
          <a:xfrm>
            <a:off x="1838326" y="1600200"/>
            <a:ext cx="8829675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Legdurvább hiba, ha nincs visszatekintés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Megelőzi a bemutatót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Formális: tudjuk le minél gyorsabban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Külső partnerek beleszólnak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Személyeskedés, személyeket értékelünk és nem a csapatot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Végig vagy túlnyomóan a Scrum mester beszél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A Scrum mester kinyilatkoztatja a szükséges folyamatjavító lépéseket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A csapat valamely tagja folyamatosan nem nyilvánít véleményt</a:t>
            </a:r>
          </a:p>
        </p:txBody>
      </p:sp>
      <p:pic>
        <p:nvPicPr>
          <p:cNvPr id="86022" name="Picture 10" descr="C:\Users\Langer Tamás\AppData\Local\Microsoft\Windows\Temporary Internet Files\Content.IE5\20NCQCE1\MP900442889[1].jpg">
            <a:extLst>
              <a:ext uri="{FF2B5EF4-FFF2-40B4-BE49-F238E27FC236}">
                <a16:creationId xmlns:a16="http://schemas.microsoft.com/office/drawing/2014/main" id="{B421D97A-ABA1-4B54-84CE-BA6E972EF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737" y="381001"/>
            <a:ext cx="2039938" cy="133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622E23-981F-460B-9041-F08C6EEC6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Visszatekintési technikák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0B7D56-C7B8-4F27-97BB-8027AF97F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5" y="1435608"/>
            <a:ext cx="10966705" cy="4974336"/>
          </a:xfrm>
        </p:spPr>
        <p:txBody>
          <a:bodyPr>
            <a:normAutofit fontScale="85000" lnSpcReduction="10000"/>
          </a:bodyPr>
          <a:lstStyle/>
          <a:p>
            <a:r>
              <a:rPr lang="hu-HU" sz="1800" b="1" dirty="0"/>
              <a:t>Start – Stop- </a:t>
            </a:r>
            <a:r>
              <a:rPr lang="hu-HU" sz="1800" b="1" dirty="0" err="1"/>
              <a:t>Continue</a:t>
            </a:r>
            <a:r>
              <a:rPr lang="hu-HU" sz="1800" dirty="0"/>
              <a:t>: 3 oszlopba rendezve leírni, mit kellene elkezdeni, befejezni, folytatni a következő futamban. Ezeket összegezve a csapat kiválaszt 3 dolgot, amin változtatni akar. Ezekre akcióterveket  hoz létre, ezek megvalósulását pedig felelősség hozzárendeléssel biztosítja. </a:t>
            </a:r>
          </a:p>
          <a:p>
            <a:r>
              <a:rPr lang="hu-HU" sz="1800" b="1" dirty="0" err="1"/>
              <a:t>Daki</a:t>
            </a:r>
            <a:r>
              <a:rPr lang="hu-HU" sz="1800" b="1" dirty="0"/>
              <a:t> (</a:t>
            </a:r>
            <a:r>
              <a:rPr lang="hu-HU" sz="1800" b="1" dirty="0" err="1"/>
              <a:t>drop</a:t>
            </a:r>
            <a:r>
              <a:rPr lang="hu-HU" sz="1800" b="1" dirty="0"/>
              <a:t>, add, </a:t>
            </a:r>
            <a:r>
              <a:rPr lang="hu-HU" sz="1800" b="1" dirty="0" err="1"/>
              <a:t>keep</a:t>
            </a:r>
            <a:r>
              <a:rPr lang="hu-HU" sz="1800" b="1" dirty="0"/>
              <a:t>, </a:t>
            </a:r>
            <a:r>
              <a:rPr lang="hu-HU" sz="1800" b="1" dirty="0" err="1"/>
              <a:t>improve</a:t>
            </a:r>
            <a:r>
              <a:rPr lang="hu-HU" sz="1800" b="1" dirty="0"/>
              <a:t>): </a:t>
            </a:r>
            <a:r>
              <a:rPr lang="hu-HU" sz="1800" dirty="0"/>
              <a:t>Gyűjtsük össze  a javaslatokat. Vannak olyan dolgok, amit többen is írtak? Van olyan, amivel valaki nem ért egyet, ha igen miért? Van olyan, ami valakit meglepett de igaznak gondolja? Milyen gyakorlati lépéseket lehet tenni?</a:t>
            </a:r>
          </a:p>
          <a:p>
            <a:r>
              <a:rPr lang="hu-HU" sz="1800" b="1" dirty="0"/>
              <a:t>Elismerő kérdések: </a:t>
            </a:r>
            <a:r>
              <a:rPr lang="hu-HU" sz="1800" dirty="0"/>
              <a:t>„Mikor érezted leginkább produktívnak magad az elmúlt időben? Mi okozta ezt szerinted?”, „Mi a legértékesebb dolog, amit az elmúlt időben építettél?”, „Mi a leghasznosabb tudás, amit az elmúlt időben szereztél?”, „Mi a leghasznosabb képesség, amivel az elmúlt időben hozzá járultál a csapat sikereihez?”, „Mi a csapat erőssége?”, „Mi a csapat legnagyobb sikere?”</a:t>
            </a:r>
            <a:r>
              <a:rPr lang="en-US" sz="1800" dirty="0"/>
              <a:t>;</a:t>
            </a:r>
          </a:p>
          <a:p>
            <a:r>
              <a:rPr lang="en-US" sz="1800" b="1" dirty="0"/>
              <a:t>H</a:t>
            </a:r>
            <a:r>
              <a:rPr lang="hu-HU" sz="1800" b="1" dirty="0" err="1"/>
              <a:t>árom</a:t>
            </a:r>
            <a:r>
              <a:rPr lang="hu-HU" sz="1800" b="1" dirty="0"/>
              <a:t> kismalac játék: </a:t>
            </a:r>
            <a:r>
              <a:rPr lang="hu-HU" sz="1800" dirty="0"/>
              <a:t>Szalma, Fa és Kőházba csoportosítsátok a követkető címkéket: együttműködés, alkalmazkodás, siker, motiváció, teljesítmény, időbeosztás, stb.</a:t>
            </a:r>
            <a:endParaRPr lang="en-US" sz="1800" b="1" dirty="0"/>
          </a:p>
          <a:p>
            <a:endParaRPr lang="hu-HU" sz="1800" dirty="0"/>
          </a:p>
          <a:p>
            <a:endParaRPr lang="hu-HU" sz="1800" dirty="0"/>
          </a:p>
          <a:p>
            <a:endParaRPr lang="hu-HU" sz="1800" dirty="0"/>
          </a:p>
          <a:p>
            <a:endParaRPr lang="hu-HU" sz="1800" b="1" dirty="0"/>
          </a:p>
          <a:p>
            <a:endParaRPr lang="hu-HU" sz="1800" dirty="0"/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D80AF698-D41E-4AA2-B759-8194CCD2AAED}"/>
              </a:ext>
            </a:extLst>
          </p:cNvPr>
          <p:cNvSpPr txBox="1">
            <a:spLocks/>
          </p:cNvSpPr>
          <p:nvPr/>
        </p:nvSpPr>
        <p:spPr>
          <a:xfrm>
            <a:off x="76840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200" dirty="0"/>
              <a:t>Forrás: Agilis kutatócsoport ELTE gyűjteménye</a:t>
            </a:r>
          </a:p>
        </p:txBody>
      </p:sp>
    </p:spTree>
    <p:extLst>
      <p:ext uri="{BB962C8B-B14F-4D97-AF65-F5344CB8AC3E}">
        <p14:creationId xmlns:p14="http://schemas.microsoft.com/office/powerpoint/2010/main" val="4119307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A572F-4F23-4139-BAB4-868CE01B3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Visszajelzés alapelvek: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DD76C-F9FA-45B9-B807-F52DA45F3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7096" y="2084832"/>
            <a:ext cx="7690790" cy="4023360"/>
          </a:xfrm>
        </p:spPr>
        <p:txBody>
          <a:bodyPr>
            <a:normAutofit/>
          </a:bodyPr>
          <a:lstStyle/>
          <a:p>
            <a:r>
              <a:rPr lang="hu-HU" sz="1800" dirty="0"/>
              <a:t>- a megfigyelést elválasztani az ítélettől</a:t>
            </a:r>
          </a:p>
          <a:p>
            <a:r>
              <a:rPr lang="hu-HU" sz="1800" dirty="0"/>
              <a:t>- kerülni a relatív fogalmakat</a:t>
            </a:r>
          </a:p>
          <a:p>
            <a:r>
              <a:rPr lang="hu-HU" sz="1800" dirty="0"/>
              <a:t>( Pl. kevés, sok, nagyon, kicsit – ebben már ítélet van )</a:t>
            </a:r>
          </a:p>
          <a:p>
            <a:pPr marL="285750" indent="-285750">
              <a:buFontTx/>
              <a:buChar char="-"/>
            </a:pPr>
            <a:r>
              <a:rPr lang="hu-HU" sz="1800" dirty="0"/>
              <a:t>Lehet így kezdeni: Adhatok visszajelzést?</a:t>
            </a:r>
          </a:p>
          <a:p>
            <a:pPr marL="285750" indent="-285750">
              <a:buFontTx/>
              <a:buChar char="-"/>
            </a:pPr>
            <a:r>
              <a:rPr lang="hu-HU" sz="1800" dirty="0"/>
              <a:t>Lehetőleg adj mindig </a:t>
            </a:r>
            <a:r>
              <a:rPr lang="hu-HU" sz="1800" dirty="0" err="1"/>
              <a:t>pozitívat</a:t>
            </a:r>
            <a:r>
              <a:rPr lang="hu-HU" sz="1800" dirty="0"/>
              <a:t> is, a negatív pedig legyen konstruktív!</a:t>
            </a:r>
          </a:p>
        </p:txBody>
      </p:sp>
    </p:spTree>
    <p:extLst>
      <p:ext uri="{BB962C8B-B14F-4D97-AF65-F5344CB8AC3E}">
        <p14:creationId xmlns:p14="http://schemas.microsoft.com/office/powerpoint/2010/main" val="3716632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49A378-D306-4211-82F9-3ACEF727C014}"/>
              </a:ext>
            </a:extLst>
          </p:cNvPr>
          <p:cNvGraphicFramePr>
            <a:graphicFrameLocks noGrp="1"/>
          </p:cNvGraphicFramePr>
          <p:nvPr/>
        </p:nvGraphicFramePr>
        <p:xfrm>
          <a:off x="2209800" y="1219200"/>
          <a:ext cx="8001000" cy="541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807352783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323316693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090213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hu-HU" sz="2000" dirty="0"/>
                        <a:t>Események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Résztvevői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Time-</a:t>
                      </a:r>
                      <a:r>
                        <a:rPr lang="hu-HU" sz="2000" dirty="0" err="1"/>
                        <a:t>box</a:t>
                      </a:r>
                      <a:r>
                        <a:rPr lang="hu-HU" sz="2000" dirty="0"/>
                        <a:t> </a:t>
                      </a:r>
                    </a:p>
                    <a:p>
                      <a:r>
                        <a:rPr lang="hu-HU" sz="2000" dirty="0"/>
                        <a:t>(1 hónapos futam esetén)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733567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hu-HU" sz="2000" dirty="0"/>
                        <a:t>Futam tervevés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Scrum mester, Termékgazda, Fejlesztő csapat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8 óra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09007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hu-HU" sz="2000" dirty="0"/>
                        <a:t>Napi Scrum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Fejlesztő csapat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15 perc (mindig)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8054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hu-HU" sz="2000" dirty="0"/>
                        <a:t>Bemutató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000" dirty="0"/>
                        <a:t>Scrum mester, Termékgazda, Fejlesztő csapat, Érintettek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4 óra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803137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hu-HU" sz="2000" dirty="0"/>
                        <a:t>Visszatekintés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2000" dirty="0"/>
                        <a:t>Scrum mester, Termékgazda, Fejlesztő csapat </a:t>
                      </a:r>
                      <a:endParaRPr lang="en-US" sz="2000" dirty="0"/>
                    </a:p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/>
                        <a:t>3 óra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793219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C7C864A0-260D-45FE-B4CC-5506395DAA47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0" y="353956"/>
            <a:ext cx="7696200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Time-</a:t>
            </a:r>
            <a:r>
              <a:rPr lang="hu-HU" sz="3300" b="1" kern="0" dirty="0" err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box</a:t>
            </a: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 </a:t>
            </a:r>
            <a:r>
              <a:rPr lang="hu-HU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(maximális idő egy esemény kapcsán)</a:t>
            </a:r>
          </a:p>
        </p:txBody>
      </p:sp>
    </p:spTree>
    <p:extLst>
      <p:ext uri="{BB962C8B-B14F-4D97-AF65-F5344CB8AC3E}">
        <p14:creationId xmlns:p14="http://schemas.microsoft.com/office/powerpoint/2010/main" val="957386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D7AB20-F47B-471C-B0E8-BAC7A09E3386}"/>
              </a:ext>
            </a:extLst>
          </p:cNvPr>
          <p:cNvSpPr txBox="1"/>
          <p:nvPr/>
        </p:nvSpPr>
        <p:spPr>
          <a:xfrm>
            <a:off x="3581401" y="2841625"/>
            <a:ext cx="4900613" cy="132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hu-HU" sz="8000" b="1" dirty="0">
                <a:solidFill>
                  <a:schemeClr val="accent1">
                    <a:lumMod val="50000"/>
                  </a:schemeClr>
                </a:solidFill>
                <a:latin typeface="Arial" charset="0"/>
                <a:cs typeface="Arial" charset="0"/>
              </a:rPr>
              <a:t>Termékek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B0546D-2FCE-475F-934C-EDE06B568515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0" y="533400"/>
            <a:ext cx="8458200" cy="838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 err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Product</a:t>
            </a: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backlog - termék kívánságlista </a:t>
            </a:r>
            <a:endParaRPr lang="en-US" sz="3300" b="1" kern="0" dirty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A2E2D2-C258-47ED-8D37-8CFD4D636085}"/>
              </a:ext>
            </a:extLst>
          </p:cNvPr>
          <p:cNvSpPr txBox="1">
            <a:spLocks/>
          </p:cNvSpPr>
          <p:nvPr/>
        </p:nvSpPr>
        <p:spPr>
          <a:xfrm>
            <a:off x="1524000" y="1447800"/>
            <a:ext cx="91440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A2A780-BC32-45C0-89DD-5F48176F9862}"/>
              </a:ext>
            </a:extLst>
          </p:cNvPr>
          <p:cNvSpPr txBox="1">
            <a:spLocks/>
          </p:cNvSpPr>
          <p:nvPr/>
        </p:nvSpPr>
        <p:spPr>
          <a:xfrm>
            <a:off x="1981200" y="1524000"/>
            <a:ext cx="81534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Követelmények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A projekt elvárt munkáinak listája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Ideális esetben olyan elemek, amelyek az ügyfél számára üzleti értékkel bírnak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A Termékgazda priorizálja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400" kern="0" dirty="0">
                <a:latin typeface="Vodafone Lt" pitchFamily="34" charset="0"/>
              </a:rPr>
              <a:t>Minden egyes futam megkezdése előtt újra </a:t>
            </a:r>
            <a:r>
              <a:rPr lang="hu-HU" sz="2400" kern="0" dirty="0" err="1">
                <a:latin typeface="Vodafone Lt" pitchFamily="34" charset="0"/>
              </a:rPr>
              <a:t>priorizálásra</a:t>
            </a:r>
            <a:r>
              <a:rPr lang="hu-HU" sz="2400" kern="0" dirty="0">
                <a:latin typeface="Vodafone Lt" pitchFamily="34" charset="0"/>
              </a:rPr>
              <a:t> kerül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400" kern="0" dirty="0"/>
          </a:p>
          <a:p>
            <a:pPr algn="l"/>
            <a:r>
              <a:rPr lang="en-US" sz="1800" b="0" i="0" u="none" strike="noStrike" baseline="0" dirty="0" err="1">
                <a:solidFill>
                  <a:srgbClr val="008DB5"/>
                </a:solidFill>
                <a:latin typeface="Calibri" panose="020F0502020204030204" pitchFamily="34" charset="0"/>
              </a:rPr>
              <a:t>Kötelezettségvállalás</a:t>
            </a:r>
            <a:r>
              <a:rPr lang="en-US" sz="1800" b="0" i="0" u="none" strike="noStrike" baseline="0" dirty="0">
                <a:solidFill>
                  <a:srgbClr val="008DB5"/>
                </a:solidFill>
                <a:latin typeface="Calibri" panose="020F0502020204030204" pitchFamily="34" charset="0"/>
              </a:rPr>
              <a:t>: Product Goal</a:t>
            </a:r>
            <a:r>
              <a:rPr lang="hu-HU" dirty="0">
                <a:solidFill>
                  <a:srgbClr val="008DB5"/>
                </a:solidFill>
                <a:latin typeface="Calibri" panose="020F0502020204030204" pitchFamily="34" charset="0"/>
              </a:rPr>
              <a:t>, 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a</a:t>
            </a:r>
            <a:r>
              <a:rPr lang="hu-HU" sz="1800" b="0" i="0" u="none" strike="noStrike" baseline="0" dirty="0">
                <a:latin typeface="Calibri" panose="020F0502020204030204" pitchFamily="34" charset="0"/>
              </a:rPr>
              <a:t>mi a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termék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jövőbeni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állapotát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adja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meg. A Scrum Team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ennek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elérése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érdekében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állítja</a:t>
            </a:r>
            <a:r>
              <a:rPr lang="hu-HU" dirty="0">
                <a:latin typeface="Calibri" panose="020F0502020204030204" pitchFamily="34" charset="0"/>
              </a:rPr>
              <a:t>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össze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 a </a:t>
            </a:r>
            <a:r>
              <a:rPr lang="en-US" sz="1800" b="0" i="0" u="none" strike="noStrike" baseline="0" dirty="0" err="1">
                <a:latin typeface="Calibri" panose="020F0502020204030204" pitchFamily="34" charset="0"/>
              </a:rPr>
              <a:t>terveit</a:t>
            </a:r>
            <a:r>
              <a:rPr lang="en-US" sz="1800" b="0" i="0" u="none" strike="noStrike" baseline="0" dirty="0">
                <a:latin typeface="Calibri" panose="020F0502020204030204" pitchFamily="34" charset="0"/>
              </a:rPr>
              <a:t>.</a:t>
            </a:r>
            <a:endParaRPr lang="hu-HU" sz="24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400" kern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6896F9-7E89-4661-B740-48047333119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0" y="381000"/>
            <a:ext cx="7696200" cy="990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Sprint backlog - futam feladatlista </a:t>
            </a:r>
            <a:endParaRPr lang="en-US" sz="3300" b="1" kern="0" dirty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9D7B31-DA3B-4D53-9F8C-61ACD0E0DEAA}"/>
              </a:ext>
            </a:extLst>
          </p:cNvPr>
          <p:cNvSpPr txBox="1">
            <a:spLocks/>
          </p:cNvSpPr>
          <p:nvPr/>
        </p:nvSpPr>
        <p:spPr>
          <a:xfrm>
            <a:off x="2286000" y="1447800"/>
            <a:ext cx="76962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A csapattagok választanak munkát maguknak a futam feladatlistából (nem kiosztják nekik)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A hátralevő munkát naponta újra </a:t>
            </a:r>
            <a:r>
              <a:rPr lang="hu-HU" sz="2300" kern="0" dirty="0" err="1">
                <a:latin typeface="Vodafone Lt" pitchFamily="34" charset="0"/>
              </a:rPr>
              <a:t>becslik</a:t>
            </a:r>
            <a:endParaRPr lang="hu-HU" sz="2300" kern="0" dirty="0">
              <a:latin typeface="Vodafone Lt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Bármelyik csapattag hozzáadhat a futam feladatlistához, törölhet belőle, változtathat rajta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Ha egy munka nem világos, akkor több időt allokáljunk rá a futam feladatlistában, és bontsuk le később.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Akkor frissítsük a hátralevő munkára vonatkozó információt, amikor többet tudunk róla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  <a:p>
            <a:r>
              <a:rPr lang="hu-HU" sz="2000" dirty="0">
                <a:solidFill>
                  <a:srgbClr val="008DB5"/>
                </a:solidFill>
                <a:latin typeface="Calibri" panose="020F0502020204030204" pitchFamily="34" charset="0"/>
              </a:rPr>
              <a:t>Kötelezettségvállalás: Sprint </a:t>
            </a:r>
            <a:r>
              <a:rPr lang="hu-HU" sz="2000" dirty="0" err="1">
                <a:solidFill>
                  <a:srgbClr val="008DB5"/>
                </a:solidFill>
                <a:latin typeface="Calibri" panose="020F0502020204030204" pitchFamily="34" charset="0"/>
              </a:rPr>
              <a:t>Goal</a:t>
            </a:r>
            <a:r>
              <a:rPr lang="hu-HU" sz="2000" dirty="0">
                <a:solidFill>
                  <a:srgbClr val="008DB5"/>
                </a:solidFill>
                <a:latin typeface="Calibri" panose="020F0502020204030204" pitchFamily="34" charset="0"/>
              </a:rPr>
              <a:t>, </a:t>
            </a:r>
            <a:r>
              <a:rPr lang="hu-HU" dirty="0"/>
              <a:t>a Sprint egyetlen célkitűzése. Elég</a:t>
            </a:r>
          </a:p>
          <a:p>
            <a:r>
              <a:rPr lang="hu-HU" dirty="0"/>
              <a:t>rugalmassággal rendelkezik az eléréséhez szükséges munka tekintetében. A Sprint </a:t>
            </a:r>
            <a:r>
              <a:rPr lang="hu-HU" dirty="0" err="1"/>
              <a:t>Goal</a:t>
            </a:r>
            <a:r>
              <a:rPr lang="hu-HU" dirty="0"/>
              <a:t> koherenciát és fókuszt teremt.</a:t>
            </a:r>
            <a:endParaRPr lang="hu-HU" sz="2300" kern="0" dirty="0"/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en-US" sz="2300" kern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6896F9-7E89-4661-B740-48047333119C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0" y="381000"/>
            <a:ext cx="7696200" cy="990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hu-HU" sz="3300" b="1" kern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Inkrementum</a:t>
            </a:r>
            <a:endParaRPr lang="en-US" sz="3300" b="1" kern="0" dirty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9D7B31-DA3B-4D53-9F8C-61ACD0E0DEAA}"/>
              </a:ext>
            </a:extLst>
          </p:cNvPr>
          <p:cNvSpPr txBox="1">
            <a:spLocks/>
          </p:cNvSpPr>
          <p:nvPr/>
        </p:nvSpPr>
        <p:spPr>
          <a:xfrm>
            <a:off x="2286000" y="1447800"/>
            <a:ext cx="7696200" cy="304800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Egy Inkrementum egy szilárd lépcsőfok a </a:t>
            </a:r>
            <a:r>
              <a:rPr lang="hu-HU" sz="2300" kern="0" dirty="0" err="1">
                <a:latin typeface="Vodafone Lt" pitchFamily="34" charset="0"/>
              </a:rPr>
              <a:t>Product</a:t>
            </a:r>
            <a:r>
              <a:rPr lang="hu-HU" sz="2300" kern="0" dirty="0">
                <a:latin typeface="Vodafone Lt" pitchFamily="34" charset="0"/>
              </a:rPr>
              <a:t> </a:t>
            </a:r>
            <a:r>
              <a:rPr lang="hu-HU" sz="2300" kern="0" dirty="0" err="1">
                <a:latin typeface="Vodafone Lt" pitchFamily="34" charset="0"/>
              </a:rPr>
              <a:t>Goal</a:t>
            </a:r>
            <a:r>
              <a:rPr lang="hu-HU" sz="2300" kern="0" dirty="0">
                <a:latin typeface="Vodafone Lt" pitchFamily="34" charset="0"/>
              </a:rPr>
              <a:t> irányában.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Minden Inkrementum ráépül az összes megelőzőre, valamint.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2300" kern="0" dirty="0">
                <a:latin typeface="Vodafone Lt" pitchFamily="34" charset="0"/>
              </a:rPr>
              <a:t>Részletesen ellenőrzött, </a:t>
            </a:r>
            <a:r>
              <a:rPr lang="hu-HU" sz="2300" kern="0" dirty="0" err="1">
                <a:latin typeface="Vodafone Lt" pitchFamily="34" charset="0"/>
              </a:rPr>
              <a:t>biztosítván</a:t>
            </a:r>
            <a:r>
              <a:rPr lang="hu-HU" sz="2300" kern="0" dirty="0">
                <a:latin typeface="Vodafone Lt" pitchFamily="34" charset="0"/>
              </a:rPr>
              <a:t> az Inkrementumok együttműködését.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endParaRPr lang="hu-HU" sz="2300" kern="0" dirty="0"/>
          </a:p>
          <a:p>
            <a:r>
              <a:rPr lang="en-US" sz="1800" b="0" i="0" u="none" strike="noStrike" baseline="0" dirty="0" err="1">
                <a:solidFill>
                  <a:srgbClr val="008DB5"/>
                </a:solidFill>
                <a:latin typeface="Calibri" panose="020F0502020204030204" pitchFamily="34" charset="0"/>
              </a:rPr>
              <a:t>Kötelezettségvállalás</a:t>
            </a:r>
            <a:r>
              <a:rPr lang="en-US" sz="1800" b="0" i="0" u="none" strike="noStrike" baseline="0" dirty="0">
                <a:solidFill>
                  <a:srgbClr val="008DB5"/>
                </a:solidFill>
                <a:latin typeface="Calibri" panose="020F0502020204030204" pitchFamily="34" charset="0"/>
              </a:rPr>
              <a:t>: A Definition of Done</a:t>
            </a:r>
            <a:r>
              <a:rPr lang="hu-HU" sz="2000" dirty="0">
                <a:solidFill>
                  <a:srgbClr val="008DB5"/>
                </a:solidFill>
                <a:latin typeface="Calibri" panose="020F0502020204030204" pitchFamily="34" charset="0"/>
              </a:rPr>
              <a:t>, </a:t>
            </a:r>
            <a:r>
              <a:rPr lang="hu-HU" dirty="0"/>
              <a:t>az Inkrementum állapotának formális leírása abban az időpillanatban, amikor megfelel a termék számára előírt minőségi kritériumoknak.</a:t>
            </a:r>
            <a:endParaRPr lang="en-US" sz="2300" kern="0" dirty="0"/>
          </a:p>
        </p:txBody>
      </p:sp>
    </p:spTree>
    <p:extLst>
      <p:ext uri="{BB962C8B-B14F-4D97-AF65-F5344CB8AC3E}">
        <p14:creationId xmlns:p14="http://schemas.microsoft.com/office/powerpoint/2010/main" val="2429502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CF1121D-1174-4055-A2AE-88361E07E9A5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0" y="533400"/>
            <a:ext cx="8001000" cy="8382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hu-HU" sz="3300" b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Burn-Down</a:t>
            </a:r>
            <a:r>
              <a:rPr lang="hu-HU" sz="33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sz="3300" b="1" kern="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Chart</a:t>
            </a:r>
            <a:endParaRPr lang="hu-HU" sz="33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6741" name="Picture 2">
            <a:extLst>
              <a:ext uri="{FF2B5EF4-FFF2-40B4-BE49-F238E27FC236}">
                <a16:creationId xmlns:a16="http://schemas.microsoft.com/office/drawing/2014/main" id="{23748BB2-BF9D-4D15-A7B6-38632500C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228600"/>
            <a:ext cx="7747000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610C-AED5-43CB-AF90-D796437EC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7346442" cy="640080"/>
          </a:xfrm>
        </p:spPr>
        <p:txBody>
          <a:bodyPr>
            <a:normAutofit fontScale="90000"/>
          </a:bodyPr>
          <a:lstStyle/>
          <a:p>
            <a:r>
              <a:rPr lang="hu-HU" dirty="0"/>
              <a:t>Szoftverfejlesztés a gyakorlatban tárgy féléves terve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B110263-6439-413E-B681-C3D5308A0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426549"/>
              </p:ext>
            </p:extLst>
          </p:nvPr>
        </p:nvGraphicFramePr>
        <p:xfrm>
          <a:off x="712786" y="1470152"/>
          <a:ext cx="10431463" cy="30337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84868">
                  <a:extLst>
                    <a:ext uri="{9D8B030D-6E8A-4147-A177-3AD203B41FA5}">
                      <a16:colId xmlns:a16="http://schemas.microsoft.com/office/drawing/2014/main" val="3507903706"/>
                    </a:ext>
                  </a:extLst>
                </a:gridCol>
                <a:gridCol w="4796921">
                  <a:extLst>
                    <a:ext uri="{9D8B030D-6E8A-4147-A177-3AD203B41FA5}">
                      <a16:colId xmlns:a16="http://schemas.microsoft.com/office/drawing/2014/main" val="2635287149"/>
                    </a:ext>
                  </a:extLst>
                </a:gridCol>
                <a:gridCol w="5049674">
                  <a:extLst>
                    <a:ext uri="{9D8B030D-6E8A-4147-A177-3AD203B41FA5}">
                      <a16:colId xmlns:a16="http://schemas.microsoft.com/office/drawing/2014/main" val="4263562211"/>
                    </a:ext>
                  </a:extLst>
                </a:gridCol>
              </a:tblGrid>
              <a:tr h="325267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Hét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Gyakorlat (kedd. 17:45-19:15)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Órán kívül</a:t>
                      </a:r>
                      <a:endParaRPr lang="en-US" sz="2000" dirty="0">
                        <a:effectLst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459078125"/>
                  </a:ext>
                </a:extLst>
              </a:tr>
              <a:tr h="48520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Adminisztráció, elméleti felkészítő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Meghallgatja a kereteket, csapathoz kapcsolódik, megkeresik a közös időpontot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4103535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Első tapasztalatok, elméleti felkészítő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Csapaépítés, Tervezés, Heti Scrum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3353697"/>
                  </a:ext>
                </a:extLst>
              </a:tr>
              <a:tr h="323251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hu-HU" sz="2000" noProof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Scrum mester TESZT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Csoportos konzultáció 1. alcsoport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Heti Scrum, felkészülés a Bemutatóra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1972446"/>
                  </a:ext>
                </a:extLst>
              </a:tr>
              <a:tr h="894080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u-HU" sz="2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Csoportos konzultáció 2. alcsoport</a:t>
                      </a:r>
                      <a:endParaRPr lang="hu-HU" sz="2000" noProof="0" dirty="0">
                        <a:effectLst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Részt vesz a Bemutatón, (ezt követően) </a:t>
                      </a:r>
                      <a:r>
                        <a:rPr lang="hu-HU" sz="1800" i="1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Visszatekintést</a:t>
                      </a:r>
                      <a:r>
                        <a:rPr lang="hu-HU" sz="1800" i="1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vezet le, Tervezés elindulását biztosítja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60180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56F9999-4232-45D7-9E62-CD5D2EF5BB9A}"/>
              </a:ext>
            </a:extLst>
          </p:cNvPr>
          <p:cNvSpPr txBox="1"/>
          <p:nvPr/>
        </p:nvSpPr>
        <p:spPr>
          <a:xfrm>
            <a:off x="923979" y="4711545"/>
            <a:ext cx="112680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hu-HU" b="1" dirty="0"/>
              <a:t>alcsoport</a:t>
            </a:r>
            <a:r>
              <a:rPr lang="hu-HU" dirty="0"/>
              <a:t>: </a:t>
            </a:r>
            <a:r>
              <a:rPr lang="hu-HU" b="1" dirty="0"/>
              <a:t>?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hu-HU" b="1" dirty="0"/>
              <a:t>alcsoport: ?</a:t>
            </a:r>
          </a:p>
        </p:txBody>
      </p:sp>
    </p:spTree>
    <p:extLst>
      <p:ext uri="{BB962C8B-B14F-4D97-AF65-F5344CB8AC3E}">
        <p14:creationId xmlns:p14="http://schemas.microsoft.com/office/powerpoint/2010/main" val="1007041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FE34D-8782-40F5-A02B-AA20BDAF0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448056"/>
            <a:ext cx="10908792" cy="640080"/>
          </a:xfrm>
        </p:spPr>
        <p:txBody>
          <a:bodyPr>
            <a:normAutofit/>
          </a:bodyPr>
          <a:lstStyle/>
          <a:p>
            <a:r>
              <a:rPr lang="hu-HU" dirty="0"/>
              <a:t>Elméleti teszt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2530E-17BF-4A86-AC58-81CB9086D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435608"/>
            <a:ext cx="7450618" cy="2309078"/>
          </a:xfrm>
        </p:spPr>
        <p:txBody>
          <a:bodyPr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u-HU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FA8A17-4BC7-48CA-8809-6EF639A755E2}"/>
              </a:ext>
            </a:extLst>
          </p:cNvPr>
          <p:cNvSpPr txBox="1"/>
          <p:nvPr/>
        </p:nvSpPr>
        <p:spPr>
          <a:xfrm>
            <a:off x="626581" y="1905185"/>
            <a:ext cx="6096000" cy="152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 err="1"/>
              <a:t>Canvas</a:t>
            </a:r>
            <a:r>
              <a:rPr lang="hu-HU" sz="1600" kern="0" dirty="0"/>
              <a:t> felület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25 kérdés, 20 perc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Feleletválasztós kérdés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Tananyag: diasor és Scrum </a:t>
            </a:r>
            <a:r>
              <a:rPr lang="hu-HU" sz="1600" kern="0" dirty="0" err="1"/>
              <a:t>guide</a:t>
            </a:r>
            <a:r>
              <a:rPr lang="hu-HU" sz="1600" kern="0" dirty="0"/>
              <a:t> 2020 (magyarul)</a:t>
            </a:r>
          </a:p>
        </p:txBody>
      </p:sp>
    </p:spTree>
    <p:extLst>
      <p:ext uri="{BB962C8B-B14F-4D97-AF65-F5344CB8AC3E}">
        <p14:creationId xmlns:p14="http://schemas.microsoft.com/office/powerpoint/2010/main" val="14307034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271A-CF23-4889-878E-1E076C05A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Hogyan tovább?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108CE0-53BB-41AB-A8A8-C4C19FBF2D12}"/>
              </a:ext>
            </a:extLst>
          </p:cNvPr>
          <p:cNvSpPr txBox="1"/>
          <p:nvPr/>
        </p:nvSpPr>
        <p:spPr>
          <a:xfrm>
            <a:off x="289122" y="1905185"/>
            <a:ext cx="6597453" cy="263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Űrlap kitöltés – hetente! – wiki oldal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Feladat menedzsment  aktualizálás – </a:t>
            </a:r>
            <a:r>
              <a:rPr lang="hu-HU" sz="1600" kern="0" dirty="0" err="1"/>
              <a:t>gitLab</a:t>
            </a:r>
            <a:endParaRPr lang="hu-HU" sz="1600" kern="0" dirty="0"/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Hogyan támogatnád a bemutató - visszatekintő – tervezés eseményeket?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/>
              <a:t>Minimum kétheti tapasztalatcsere (Projektirányítás a gyakorlatban óra, hétfő. 17:45)</a:t>
            </a:r>
          </a:p>
          <a:p>
            <a:pPr marL="342900" indent="-342900">
              <a:lnSpc>
                <a:spcPct val="150000"/>
              </a:lnSpc>
              <a:buClr>
                <a:schemeClr val="bg2"/>
              </a:buClr>
              <a:buSzPct val="70000"/>
              <a:buFont typeface="Wingdings" pitchFamily="2" charset="2"/>
              <a:buChar char="l"/>
              <a:defRPr/>
            </a:pPr>
            <a:r>
              <a:rPr lang="hu-HU" sz="1600" kern="0" dirty="0" err="1"/>
              <a:t>Teams</a:t>
            </a:r>
            <a:r>
              <a:rPr lang="hu-HU" sz="1600" kern="0" dirty="0"/>
              <a:t> csatorna – használt bátran!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67BA3-29BC-E90B-131C-EA47DEBBE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222" y="1781175"/>
            <a:ext cx="4785981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20497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_Win32_new.potx" id="{95F22252-1276-4CE0-B5B2-7173AC23E7C1}" vid="{5251F4FC-9BFF-4FAA-9D53-CA332557379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4432</TotalTime>
  <Words>1553</Words>
  <Application>Microsoft Office PowerPoint</Application>
  <PresentationFormat>Widescreen</PresentationFormat>
  <Paragraphs>225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Segoe UI</vt:lpstr>
      <vt:lpstr>Segoe UI Light</vt:lpstr>
      <vt:lpstr>Vodafone Lt</vt:lpstr>
      <vt:lpstr>Wingdings</vt:lpstr>
      <vt:lpstr>WelcomeDoc</vt:lpstr>
      <vt:lpstr> Projektirányítás a gyakorlatban  2023 tavasz </vt:lpstr>
      <vt:lpstr>Helyzetfelmérés</vt:lpstr>
      <vt:lpstr>Agilis vezetés – elméleti anyag</vt:lpstr>
      <vt:lpstr>Megfelelő vezetői hozzáállás – nem agilis, de segítő modell lehet</vt:lpstr>
      <vt:lpstr>Megfelelő vezetői hozzáállás - nem agilis, de segítő modell lehet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Visszatekintési technikák</vt:lpstr>
      <vt:lpstr>Visszajelzés alapelvek: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Szoftverfejlesztés a gyakorlatban tárgy féléves terve</vt:lpstr>
      <vt:lpstr>Elméleti teszt</vt:lpstr>
      <vt:lpstr>Hogyan tovább?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Programozási technológia 2. / Szoftvertechnológia  2018/2019 tavasz</dc:title>
  <dc:creator>Eniko Ilyes</dc:creator>
  <cp:keywords/>
  <cp:lastModifiedBy>Eniko Ilyes</cp:lastModifiedBy>
  <cp:revision>131</cp:revision>
  <dcterms:created xsi:type="dcterms:W3CDTF">2019-01-30T10:23:56Z</dcterms:created>
  <dcterms:modified xsi:type="dcterms:W3CDTF">2023-03-07T14:14:10Z</dcterms:modified>
  <cp:version/>
</cp:coreProperties>
</file>